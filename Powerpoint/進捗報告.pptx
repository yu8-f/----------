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3"/>
  </p:notesMasterIdLst>
  <p:sldIdLst>
    <p:sldId id="256" r:id="rId2"/>
    <p:sldId id="257" r:id="rId3"/>
    <p:sldId id="258" r:id="rId4"/>
    <p:sldId id="260" r:id="rId5"/>
    <p:sldId id="261" r:id="rId6"/>
    <p:sldId id="262" r:id="rId7"/>
    <p:sldId id="263" r:id="rId8"/>
    <p:sldId id="264" r:id="rId9"/>
    <p:sldId id="265" r:id="rId10"/>
    <p:sldId id="266" r:id="rId11"/>
    <p:sldId id="267" r:id="rId12"/>
    <p:sldId id="276" r:id="rId13"/>
    <p:sldId id="268" r:id="rId14"/>
    <p:sldId id="277" r:id="rId15"/>
    <p:sldId id="259" r:id="rId16"/>
    <p:sldId id="269" r:id="rId17"/>
    <p:sldId id="279" r:id="rId18"/>
    <p:sldId id="280" r:id="rId19"/>
    <p:sldId id="293" r:id="rId20"/>
    <p:sldId id="270" r:id="rId21"/>
    <p:sldId id="282" r:id="rId22"/>
    <p:sldId id="283" r:id="rId23"/>
    <p:sldId id="292" r:id="rId24"/>
    <p:sldId id="284" r:id="rId25"/>
    <p:sldId id="285" r:id="rId26"/>
    <p:sldId id="286" r:id="rId27"/>
    <p:sldId id="287" r:id="rId28"/>
    <p:sldId id="288" r:id="rId29"/>
    <p:sldId id="272" r:id="rId30"/>
    <p:sldId id="289" r:id="rId31"/>
    <p:sldId id="290" r:id="rId32"/>
    <p:sldId id="273" r:id="rId33"/>
    <p:sldId id="291" r:id="rId34"/>
    <p:sldId id="274" r:id="rId35"/>
    <p:sldId id="275" r:id="rId36"/>
    <p:sldId id="294" r:id="rId37"/>
    <p:sldId id="295" r:id="rId38"/>
    <p:sldId id="303" r:id="rId39"/>
    <p:sldId id="296" r:id="rId40"/>
    <p:sldId id="297" r:id="rId41"/>
    <p:sldId id="298" r:id="rId42"/>
    <p:sldId id="299" r:id="rId43"/>
    <p:sldId id="300" r:id="rId44"/>
    <p:sldId id="301" r:id="rId45"/>
    <p:sldId id="302" r:id="rId46"/>
    <p:sldId id="304" r:id="rId47"/>
    <p:sldId id="305" r:id="rId48"/>
    <p:sldId id="306" r:id="rId49"/>
    <p:sldId id="307" r:id="rId50"/>
    <p:sldId id="308" r:id="rId51"/>
    <p:sldId id="309" r:id="rId52"/>
    <p:sldId id="310" r:id="rId53"/>
    <p:sldId id="312" r:id="rId54"/>
    <p:sldId id="313" r:id="rId55"/>
    <p:sldId id="315" r:id="rId56"/>
    <p:sldId id="316" r:id="rId57"/>
    <p:sldId id="317" r:id="rId58"/>
    <p:sldId id="318" r:id="rId59"/>
    <p:sldId id="319" r:id="rId60"/>
    <p:sldId id="320" r:id="rId61"/>
    <p:sldId id="321" r:id="rId62"/>
    <p:sldId id="322" r:id="rId63"/>
    <p:sldId id="323" r:id="rId64"/>
    <p:sldId id="326" r:id="rId65"/>
    <p:sldId id="324" r:id="rId66"/>
    <p:sldId id="327" r:id="rId67"/>
    <p:sldId id="328" r:id="rId68"/>
    <p:sldId id="329" r:id="rId69"/>
    <p:sldId id="330" r:id="rId70"/>
    <p:sldId id="331" r:id="rId71"/>
    <p:sldId id="332" r:id="rId72"/>
    <p:sldId id="333" r:id="rId73"/>
    <p:sldId id="334" r:id="rId74"/>
    <p:sldId id="335" r:id="rId75"/>
    <p:sldId id="336" r:id="rId76"/>
    <p:sldId id="337" r:id="rId77"/>
    <p:sldId id="340" r:id="rId78"/>
    <p:sldId id="341" r:id="rId79"/>
    <p:sldId id="338" r:id="rId80"/>
    <p:sldId id="339" r:id="rId81"/>
    <p:sldId id="342" r:id="rId8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福島　幸弥" userId="a7ca5d81-5472-447d-8917-8cec35c69bf5" providerId="ADAL" clId="{30AA68D2-4443-4082-A04E-9E640A324054}"/>
    <pc:docChg chg="undo redo custSel addSld delSld modSld sldOrd modMainMaster">
      <pc:chgData name="福島　幸弥" userId="a7ca5d81-5472-447d-8917-8cec35c69bf5" providerId="ADAL" clId="{30AA68D2-4443-4082-A04E-9E640A324054}" dt="2026-06-11T04:23:40.685" v="17486" actId="20577"/>
      <pc:docMkLst>
        <pc:docMk/>
      </pc:docMkLst>
      <pc:sldChg chg="addSp delSp modSp new mod modClrScheme chgLayout modNotesTx">
        <pc:chgData name="福島　幸弥" userId="a7ca5d81-5472-447d-8917-8cec35c69bf5" providerId="ADAL" clId="{30AA68D2-4443-4082-A04E-9E640A324054}" dt="2026-05-14T04:18:57.391" v="12584" actId="20577"/>
        <pc:sldMkLst>
          <pc:docMk/>
          <pc:sldMk cId="2515085173" sldId="306"/>
        </pc:sldMkLst>
      </pc:sldChg>
      <pc:sldChg chg="delSp modSp add mod">
        <pc:chgData name="福島　幸弥" userId="a7ca5d81-5472-447d-8917-8cec35c69bf5" providerId="ADAL" clId="{30AA68D2-4443-4082-A04E-9E640A324054}" dt="2026-05-14T00:35:03.817" v="12536" actId="20577"/>
        <pc:sldMkLst>
          <pc:docMk/>
          <pc:sldMk cId="1833443152" sldId="307"/>
        </pc:sldMkLst>
        <pc:spChg chg="mod">
          <ac:chgData name="福島　幸弥" userId="a7ca5d81-5472-447d-8917-8cec35c69bf5" providerId="ADAL" clId="{30AA68D2-4443-4082-A04E-9E640A324054}" dt="2026-05-14T00:35:03.817" v="12536" actId="20577"/>
          <ac:spMkLst>
            <pc:docMk/>
            <pc:sldMk cId="1833443152" sldId="307"/>
            <ac:spMk id="3" creationId="{88BE23C3-3261-4CE6-450F-C9148B77B58C}"/>
          </ac:spMkLst>
        </pc:spChg>
      </pc:sldChg>
      <pc:sldChg chg="addSp modSp new mod">
        <pc:chgData name="福島　幸弥" userId="a7ca5d81-5472-447d-8917-8cec35c69bf5" providerId="ADAL" clId="{30AA68D2-4443-4082-A04E-9E640A324054}" dt="2026-05-14T00:24:15.251" v="12073" actId="6549"/>
        <pc:sldMkLst>
          <pc:docMk/>
          <pc:sldMk cId="1339162511" sldId="318"/>
        </pc:sldMkLst>
        <pc:spChg chg="mod">
          <ac:chgData name="福島　幸弥" userId="a7ca5d81-5472-447d-8917-8cec35c69bf5" providerId="ADAL" clId="{30AA68D2-4443-4082-A04E-9E640A324054}" dt="2026-05-14T00:15:25.783" v="11849"/>
          <ac:spMkLst>
            <pc:docMk/>
            <pc:sldMk cId="1339162511" sldId="318"/>
            <ac:spMk id="2" creationId="{5E440EE6-D94C-7410-FC83-77969B13AB4E}"/>
          </ac:spMkLst>
        </pc:spChg>
        <pc:spChg chg="mod">
          <ac:chgData name="福島　幸弥" userId="a7ca5d81-5472-447d-8917-8cec35c69bf5" providerId="ADAL" clId="{30AA68D2-4443-4082-A04E-9E640A324054}" dt="2026-05-14T00:24:15.251" v="12073" actId="6549"/>
          <ac:spMkLst>
            <pc:docMk/>
            <pc:sldMk cId="1339162511" sldId="318"/>
            <ac:spMk id="3" creationId="{241211B7-8F84-637D-2D6D-0EB7AC42A3C9}"/>
          </ac:spMkLst>
        </pc:spChg>
        <pc:picChg chg="add mod">
          <ac:chgData name="福島　幸弥" userId="a7ca5d81-5472-447d-8917-8cec35c69bf5" providerId="ADAL" clId="{30AA68D2-4443-4082-A04E-9E640A324054}" dt="2026-05-14T00:15:20.441" v="11838" actId="1076"/>
          <ac:picMkLst>
            <pc:docMk/>
            <pc:sldMk cId="1339162511" sldId="318"/>
            <ac:picMk id="6" creationId="{18024EF1-B448-A8C0-2650-882ACF8E6C4E}"/>
          </ac:picMkLst>
        </pc:picChg>
      </pc:sldChg>
      <pc:sldChg chg="modSp add mod">
        <pc:chgData name="福島　幸弥" userId="a7ca5d81-5472-447d-8917-8cec35c69bf5" providerId="ADAL" clId="{30AA68D2-4443-4082-A04E-9E640A324054}" dt="2026-05-14T00:27:19.269" v="12326" actId="20577"/>
        <pc:sldMkLst>
          <pc:docMk/>
          <pc:sldMk cId="565632679" sldId="319"/>
        </pc:sldMkLst>
        <pc:spChg chg="mod">
          <ac:chgData name="福島　幸弥" userId="a7ca5d81-5472-447d-8917-8cec35c69bf5" providerId="ADAL" clId="{30AA68D2-4443-4082-A04E-9E640A324054}" dt="2026-05-14T00:27:19.269" v="12326" actId="20577"/>
          <ac:spMkLst>
            <pc:docMk/>
            <pc:sldMk cId="565632679" sldId="319"/>
            <ac:spMk id="3" creationId="{392B16A7-9268-51AE-DD91-A8D90F8F74D3}"/>
          </ac:spMkLst>
        </pc:spChg>
      </pc:sldChg>
      <pc:sldChg chg="modSp add del mod">
        <pc:chgData name="福島　幸弥" userId="a7ca5d81-5472-447d-8917-8cec35c69bf5" providerId="ADAL" clId="{30AA68D2-4443-4082-A04E-9E640A324054}" dt="2026-05-14T00:34:11.396" v="12533"/>
        <pc:sldMkLst>
          <pc:docMk/>
          <pc:sldMk cId="120024918" sldId="320"/>
        </pc:sldMkLst>
        <pc:spChg chg="mod">
          <ac:chgData name="福島　幸弥" userId="a7ca5d81-5472-447d-8917-8cec35c69bf5" providerId="ADAL" clId="{30AA68D2-4443-4082-A04E-9E640A324054}" dt="2026-05-14T00:34:11.396" v="12533"/>
          <ac:spMkLst>
            <pc:docMk/>
            <pc:sldMk cId="120024918" sldId="320"/>
            <ac:spMk id="3" creationId="{B0F648E4-F50F-0E56-09AC-5F9A4137D12D}"/>
          </ac:spMkLst>
        </pc:spChg>
        <pc:picChg chg="mod">
          <ac:chgData name="福島　幸弥" userId="a7ca5d81-5472-447d-8917-8cec35c69bf5" providerId="ADAL" clId="{30AA68D2-4443-4082-A04E-9E640A324054}" dt="2026-05-14T00:27:31.654" v="12328" actId="14826"/>
          <ac:picMkLst>
            <pc:docMk/>
            <pc:sldMk cId="120024918" sldId="320"/>
            <ac:picMk id="6" creationId="{7719F8CD-FBDB-036A-E446-0F5DF28091F4}"/>
          </ac:picMkLst>
        </pc:picChg>
      </pc:sldChg>
      <pc:sldChg chg="modSp add mod">
        <pc:chgData name="福島　幸弥" userId="a7ca5d81-5472-447d-8917-8cec35c69bf5" providerId="ADAL" clId="{30AA68D2-4443-4082-A04E-9E640A324054}" dt="2026-05-19T21:59:25.458" v="12589" actId="20577"/>
        <pc:sldMkLst>
          <pc:docMk/>
          <pc:sldMk cId="2619694694" sldId="321"/>
        </pc:sldMkLst>
        <pc:spChg chg="mod">
          <ac:chgData name="福島　幸弥" userId="a7ca5d81-5472-447d-8917-8cec35c69bf5" providerId="ADAL" clId="{30AA68D2-4443-4082-A04E-9E640A324054}" dt="2026-05-19T21:59:25.458" v="12589" actId="20577"/>
          <ac:spMkLst>
            <pc:docMk/>
            <pc:sldMk cId="2619694694" sldId="321"/>
            <ac:spMk id="2" creationId="{653FD123-F775-9EE5-8724-AF2102AFBF61}"/>
          </ac:spMkLst>
        </pc:spChg>
      </pc:sldChg>
      <pc:sldChg chg="modSp add mod">
        <pc:chgData name="福島　幸弥" userId="a7ca5d81-5472-447d-8917-8cec35c69bf5" providerId="ADAL" clId="{30AA68D2-4443-4082-A04E-9E640A324054}" dt="2026-05-20T03:02:52.809" v="13151" actId="20577"/>
        <pc:sldMkLst>
          <pc:docMk/>
          <pc:sldMk cId="4059862139" sldId="322"/>
        </pc:sldMkLst>
        <pc:spChg chg="mod">
          <ac:chgData name="福島　幸弥" userId="a7ca5d81-5472-447d-8917-8cec35c69bf5" providerId="ADAL" clId="{30AA68D2-4443-4082-A04E-9E640A324054}" dt="2026-05-20T03:02:49.174" v="13147" actId="20577"/>
          <ac:spMkLst>
            <pc:docMk/>
            <pc:sldMk cId="4059862139" sldId="322"/>
            <ac:spMk id="2" creationId="{CE480B37-F611-721F-A0D3-19549F99C51E}"/>
          </ac:spMkLst>
        </pc:spChg>
        <pc:spChg chg="mod">
          <ac:chgData name="福島　幸弥" userId="a7ca5d81-5472-447d-8917-8cec35c69bf5" providerId="ADAL" clId="{30AA68D2-4443-4082-A04E-9E640A324054}" dt="2026-05-20T03:02:52.809" v="13151" actId="20577"/>
          <ac:spMkLst>
            <pc:docMk/>
            <pc:sldMk cId="4059862139" sldId="322"/>
            <ac:spMk id="3" creationId="{A1996A4B-2932-A0CF-FDAD-7DC75FE13F3A}"/>
          </ac:spMkLst>
        </pc:spChg>
      </pc:sldChg>
      <pc:sldChg chg="addSp modSp add mod">
        <pc:chgData name="福島　幸弥" userId="a7ca5d81-5472-447d-8917-8cec35c69bf5" providerId="ADAL" clId="{30AA68D2-4443-4082-A04E-9E640A324054}" dt="2026-05-20T03:38:07.322" v="13161" actId="20577"/>
        <pc:sldMkLst>
          <pc:docMk/>
          <pc:sldMk cId="1110080248" sldId="323"/>
        </pc:sldMkLst>
        <pc:spChg chg="mod">
          <ac:chgData name="福島　幸弥" userId="a7ca5d81-5472-447d-8917-8cec35c69bf5" providerId="ADAL" clId="{30AA68D2-4443-4082-A04E-9E640A324054}" dt="2026-05-20T03:38:07.322" v="13161" actId="20577"/>
          <ac:spMkLst>
            <pc:docMk/>
            <pc:sldMk cId="1110080248" sldId="323"/>
            <ac:spMk id="2" creationId="{0549006A-7AB2-1B43-7A51-B707CE4C6204}"/>
          </ac:spMkLst>
        </pc:spChg>
        <pc:spChg chg="mod">
          <ac:chgData name="福島　幸弥" userId="a7ca5d81-5472-447d-8917-8cec35c69bf5" providerId="ADAL" clId="{30AA68D2-4443-4082-A04E-9E640A324054}" dt="2026-05-19T22:02:07.311" v="12787"/>
          <ac:spMkLst>
            <pc:docMk/>
            <pc:sldMk cId="1110080248" sldId="323"/>
            <ac:spMk id="3" creationId="{6A1B6159-40AA-2ABD-6BAE-345E448E50F6}"/>
          </ac:spMkLst>
        </pc:spChg>
        <pc:picChg chg="add mod">
          <ac:chgData name="福島　幸弥" userId="a7ca5d81-5472-447d-8917-8cec35c69bf5" providerId="ADAL" clId="{30AA68D2-4443-4082-A04E-9E640A324054}" dt="2026-05-19T22:02:44.023" v="12792" actId="1076"/>
          <ac:picMkLst>
            <pc:docMk/>
            <pc:sldMk cId="1110080248" sldId="323"/>
            <ac:picMk id="6" creationId="{66E09DEF-9365-E196-E72C-A858E47CEC00}"/>
          </ac:picMkLst>
        </pc:picChg>
      </pc:sldChg>
      <pc:sldChg chg="modSp new mod">
        <pc:chgData name="福島　幸弥" userId="a7ca5d81-5472-447d-8917-8cec35c69bf5" providerId="ADAL" clId="{30AA68D2-4443-4082-A04E-9E640A324054}" dt="2026-05-20T02:47:22.765" v="13059" actId="20577"/>
        <pc:sldMkLst>
          <pc:docMk/>
          <pc:sldMk cId="1358261496" sldId="324"/>
        </pc:sldMkLst>
        <pc:spChg chg="mod">
          <ac:chgData name="福島　幸弥" userId="a7ca5d81-5472-447d-8917-8cec35c69bf5" providerId="ADAL" clId="{30AA68D2-4443-4082-A04E-9E640A324054}" dt="2026-05-20T02:46:13.957" v="12971"/>
          <ac:spMkLst>
            <pc:docMk/>
            <pc:sldMk cId="1358261496" sldId="324"/>
            <ac:spMk id="2" creationId="{18B8E783-287E-E429-B192-28C2F182BF35}"/>
          </ac:spMkLst>
        </pc:spChg>
        <pc:spChg chg="mod">
          <ac:chgData name="福島　幸弥" userId="a7ca5d81-5472-447d-8917-8cec35c69bf5" providerId="ADAL" clId="{30AA68D2-4443-4082-A04E-9E640A324054}" dt="2026-05-20T02:47:22.765" v="13059" actId="20577"/>
          <ac:spMkLst>
            <pc:docMk/>
            <pc:sldMk cId="1358261496" sldId="324"/>
            <ac:spMk id="3" creationId="{1C093C64-738A-AC59-8050-89F3A79D66B4}"/>
          </ac:spMkLst>
        </pc:spChg>
      </pc:sldChg>
      <pc:sldChg chg="addSp delSp modSp new mod modClrScheme chgLayout">
        <pc:chgData name="福島　幸弥" userId="a7ca5d81-5472-447d-8917-8cec35c69bf5" providerId="ADAL" clId="{30AA68D2-4443-4082-A04E-9E640A324054}" dt="2026-05-20T03:01:54.195" v="13135" actId="1076"/>
        <pc:sldMkLst>
          <pc:docMk/>
          <pc:sldMk cId="2370180481" sldId="326"/>
        </pc:sldMkLst>
        <pc:spChg chg="mod ord">
          <ac:chgData name="福島　幸弥" userId="a7ca5d81-5472-447d-8917-8cec35c69bf5" providerId="ADAL" clId="{30AA68D2-4443-4082-A04E-9E640A324054}" dt="2026-05-20T03:00:27.768" v="13062" actId="700"/>
          <ac:spMkLst>
            <pc:docMk/>
            <pc:sldMk cId="2370180481" sldId="326"/>
            <ac:spMk id="4" creationId="{07A2E615-11AD-C0E0-F293-F10E69A38AAC}"/>
          </ac:spMkLst>
        </pc:spChg>
        <pc:spChg chg="add mod ord">
          <ac:chgData name="福島　幸弥" userId="a7ca5d81-5472-447d-8917-8cec35c69bf5" providerId="ADAL" clId="{30AA68D2-4443-4082-A04E-9E640A324054}" dt="2026-05-20T03:00:42.341" v="13080"/>
          <ac:spMkLst>
            <pc:docMk/>
            <pc:sldMk cId="2370180481" sldId="326"/>
            <ac:spMk id="5" creationId="{9A2BA56D-B04B-672C-B881-87016F4B8ADC}"/>
          </ac:spMkLst>
        </pc:spChg>
        <pc:spChg chg="add mod ord">
          <ac:chgData name="福島　幸弥" userId="a7ca5d81-5472-447d-8917-8cec35c69bf5" providerId="ADAL" clId="{30AA68D2-4443-4082-A04E-9E640A324054}" dt="2026-05-20T03:00:52.630" v="13100" actId="20577"/>
          <ac:spMkLst>
            <pc:docMk/>
            <pc:sldMk cId="2370180481" sldId="326"/>
            <ac:spMk id="6" creationId="{15A7039F-B105-AC7D-F72B-48CEFBC10B6F}"/>
          </ac:spMkLst>
        </pc:spChg>
        <pc:spChg chg="add mod ord">
          <ac:chgData name="福島　幸弥" userId="a7ca5d81-5472-447d-8917-8cec35c69bf5" providerId="ADAL" clId="{30AA68D2-4443-4082-A04E-9E640A324054}" dt="2026-05-20T03:01:03.173" v="13128"/>
          <ac:spMkLst>
            <pc:docMk/>
            <pc:sldMk cId="2370180481" sldId="326"/>
            <ac:spMk id="8" creationId="{B3D6371A-E1F6-2794-BE51-4E9E035EE26D}"/>
          </ac:spMkLst>
        </pc:spChg>
        <pc:picChg chg="add mod">
          <ac:chgData name="福島　幸弥" userId="a7ca5d81-5472-447d-8917-8cec35c69bf5" providerId="ADAL" clId="{30AA68D2-4443-4082-A04E-9E640A324054}" dt="2026-05-20T03:01:46.206" v="13133" actId="14100"/>
          <ac:picMkLst>
            <pc:docMk/>
            <pc:sldMk cId="2370180481" sldId="326"/>
            <ac:picMk id="10" creationId="{FB7DF95F-ED8C-B86A-A0A6-94DAF48EB741}"/>
          </ac:picMkLst>
        </pc:picChg>
        <pc:picChg chg="add mod ord">
          <ac:chgData name="福島　幸弥" userId="a7ca5d81-5472-447d-8917-8cec35c69bf5" providerId="ADAL" clId="{30AA68D2-4443-4082-A04E-9E640A324054}" dt="2026-05-20T03:01:54.195" v="13135" actId="1076"/>
          <ac:picMkLst>
            <pc:docMk/>
            <pc:sldMk cId="2370180481" sldId="326"/>
            <ac:picMk id="12" creationId="{E4D7F41F-4C0E-84F5-92B3-818601153966}"/>
          </ac:picMkLst>
        </pc:picChg>
      </pc:sldChg>
      <pc:sldChg chg="modSp add mod">
        <pc:chgData name="福島　幸弥" userId="a7ca5d81-5472-447d-8917-8cec35c69bf5" providerId="ADAL" clId="{30AA68D2-4443-4082-A04E-9E640A324054}" dt="2026-05-22T10:59:36.927" v="13164" actId="20577"/>
        <pc:sldMkLst>
          <pc:docMk/>
          <pc:sldMk cId="4038885874" sldId="327"/>
        </pc:sldMkLst>
        <pc:spChg chg="mod">
          <ac:chgData name="福島　幸弥" userId="a7ca5d81-5472-447d-8917-8cec35c69bf5" providerId="ADAL" clId="{30AA68D2-4443-4082-A04E-9E640A324054}" dt="2026-05-22T10:59:36.927" v="13164" actId="20577"/>
          <ac:spMkLst>
            <pc:docMk/>
            <pc:sldMk cId="4038885874" sldId="327"/>
            <ac:spMk id="2" creationId="{C34C15F6-044C-149C-6CF9-8FECE87FA442}"/>
          </ac:spMkLst>
        </pc:spChg>
      </pc:sldChg>
      <pc:sldChg chg="modSp add mod ord">
        <pc:chgData name="福島　幸弥" userId="a7ca5d81-5472-447d-8917-8cec35c69bf5" providerId="ADAL" clId="{30AA68D2-4443-4082-A04E-9E640A324054}" dt="2026-05-26T16:27:38.761" v="17135"/>
        <pc:sldMkLst>
          <pc:docMk/>
          <pc:sldMk cId="1749288831" sldId="328"/>
        </pc:sldMkLst>
        <pc:spChg chg="mod">
          <ac:chgData name="福島　幸弥" userId="a7ca5d81-5472-447d-8917-8cec35c69bf5" providerId="ADAL" clId="{30AA68D2-4443-4082-A04E-9E640A324054}" dt="2026-05-26T16:27:38.761" v="17135"/>
          <ac:spMkLst>
            <pc:docMk/>
            <pc:sldMk cId="1749288831" sldId="328"/>
            <ac:spMk id="3" creationId="{54FF1897-2D24-8BD0-3D73-78A82F7DD947}"/>
          </ac:spMkLst>
        </pc:spChg>
      </pc:sldChg>
      <pc:sldChg chg="modSp add mod">
        <pc:chgData name="福島　幸弥" userId="a7ca5d81-5472-447d-8917-8cec35c69bf5" providerId="ADAL" clId="{30AA68D2-4443-4082-A04E-9E640A324054}" dt="2026-05-25T06:08:25.041" v="13961" actId="20577"/>
        <pc:sldMkLst>
          <pc:docMk/>
          <pc:sldMk cId="3927848294" sldId="329"/>
        </pc:sldMkLst>
        <pc:spChg chg="mod">
          <ac:chgData name="福島　幸弥" userId="a7ca5d81-5472-447d-8917-8cec35c69bf5" providerId="ADAL" clId="{30AA68D2-4443-4082-A04E-9E640A324054}" dt="2026-05-25T06:08:25.041" v="13961" actId="20577"/>
          <ac:spMkLst>
            <pc:docMk/>
            <pc:sldMk cId="3927848294" sldId="329"/>
            <ac:spMk id="2" creationId="{739E16E8-8F65-ABA8-4055-49F6EC3D8601}"/>
          </ac:spMkLst>
        </pc:spChg>
        <pc:spChg chg="mod">
          <ac:chgData name="福島　幸弥" userId="a7ca5d81-5472-447d-8917-8cec35c69bf5" providerId="ADAL" clId="{30AA68D2-4443-4082-A04E-9E640A324054}" dt="2026-05-23T14:55:59.341" v="13605"/>
          <ac:spMkLst>
            <pc:docMk/>
            <pc:sldMk cId="3927848294" sldId="329"/>
            <ac:spMk id="3" creationId="{FC213340-81C9-80B6-DD7C-C8C0AF4F2869}"/>
          </ac:spMkLst>
        </pc:spChg>
      </pc:sldChg>
      <pc:sldChg chg="modSp add mod">
        <pc:chgData name="福島　幸弥" userId="a7ca5d81-5472-447d-8917-8cec35c69bf5" providerId="ADAL" clId="{30AA68D2-4443-4082-A04E-9E640A324054}" dt="2026-05-25T06:08:29.974" v="13966" actId="20577"/>
        <pc:sldMkLst>
          <pc:docMk/>
          <pc:sldMk cId="118696950" sldId="330"/>
        </pc:sldMkLst>
        <pc:spChg chg="mod">
          <ac:chgData name="福島　幸弥" userId="a7ca5d81-5472-447d-8917-8cec35c69bf5" providerId="ADAL" clId="{30AA68D2-4443-4082-A04E-9E640A324054}" dt="2026-05-25T06:08:29.974" v="13966" actId="20577"/>
          <ac:spMkLst>
            <pc:docMk/>
            <pc:sldMk cId="118696950" sldId="330"/>
            <ac:spMk id="2" creationId="{073BBAED-8F61-E18B-1B87-AA821C80AD20}"/>
          </ac:spMkLst>
        </pc:spChg>
        <pc:spChg chg="mod">
          <ac:chgData name="福島　幸弥" userId="a7ca5d81-5472-447d-8917-8cec35c69bf5" providerId="ADAL" clId="{30AA68D2-4443-4082-A04E-9E640A324054}" dt="2026-05-23T14:59:10.414" v="13958"/>
          <ac:spMkLst>
            <pc:docMk/>
            <pc:sldMk cId="118696950" sldId="330"/>
            <ac:spMk id="3" creationId="{7D982C07-CE14-363D-9DD5-ACCDC1A07E33}"/>
          </ac:spMkLst>
        </pc:spChg>
      </pc:sldChg>
      <pc:sldChg chg="modSp new mod">
        <pc:chgData name="福島　幸弥" userId="a7ca5d81-5472-447d-8917-8cec35c69bf5" providerId="ADAL" clId="{30AA68D2-4443-4082-A04E-9E640A324054}" dt="2026-05-25T06:11:53.605" v="14288"/>
        <pc:sldMkLst>
          <pc:docMk/>
          <pc:sldMk cId="192036210" sldId="331"/>
        </pc:sldMkLst>
        <pc:spChg chg="mod">
          <ac:chgData name="福島　幸弥" userId="a7ca5d81-5472-447d-8917-8cec35c69bf5" providerId="ADAL" clId="{30AA68D2-4443-4082-A04E-9E640A324054}" dt="2026-05-25T06:09:19.091" v="14049"/>
          <ac:spMkLst>
            <pc:docMk/>
            <pc:sldMk cId="192036210" sldId="331"/>
            <ac:spMk id="2" creationId="{338041B4-C7C1-81F0-41DF-7025ABD12D40}"/>
          </ac:spMkLst>
        </pc:spChg>
        <pc:spChg chg="mod">
          <ac:chgData name="福島　幸弥" userId="a7ca5d81-5472-447d-8917-8cec35c69bf5" providerId="ADAL" clId="{30AA68D2-4443-4082-A04E-9E640A324054}" dt="2026-05-25T06:11:53.605" v="14288"/>
          <ac:spMkLst>
            <pc:docMk/>
            <pc:sldMk cId="192036210" sldId="331"/>
            <ac:spMk id="3" creationId="{DAC591CB-8A2B-5FF5-32F4-90C20D4F530B}"/>
          </ac:spMkLst>
        </pc:spChg>
      </pc:sldChg>
      <pc:sldChg chg="addSp modSp add mod">
        <pc:chgData name="福島　幸弥" userId="a7ca5d81-5472-447d-8917-8cec35c69bf5" providerId="ADAL" clId="{30AA68D2-4443-4082-A04E-9E640A324054}" dt="2026-05-25T06:28:46.771" v="15430" actId="1076"/>
        <pc:sldMkLst>
          <pc:docMk/>
          <pc:sldMk cId="3673589778" sldId="332"/>
        </pc:sldMkLst>
        <pc:spChg chg="mod">
          <ac:chgData name="福島　幸弥" userId="a7ca5d81-5472-447d-8917-8cec35c69bf5" providerId="ADAL" clId="{30AA68D2-4443-4082-A04E-9E640A324054}" dt="2026-05-25T06:28:40.019" v="15429" actId="20577"/>
          <ac:spMkLst>
            <pc:docMk/>
            <pc:sldMk cId="3673589778" sldId="332"/>
            <ac:spMk id="3" creationId="{1B174C2B-45AF-4EBD-D0FE-0C35EEAB46DD}"/>
          </ac:spMkLst>
        </pc:spChg>
        <pc:picChg chg="add mod">
          <ac:chgData name="福島　幸弥" userId="a7ca5d81-5472-447d-8917-8cec35c69bf5" providerId="ADAL" clId="{30AA68D2-4443-4082-A04E-9E640A324054}" dt="2026-05-25T06:28:46.771" v="15430" actId="1076"/>
          <ac:picMkLst>
            <pc:docMk/>
            <pc:sldMk cId="3673589778" sldId="332"/>
            <ac:picMk id="6" creationId="{0302B291-D70B-A063-BB14-FF6071D499ED}"/>
          </ac:picMkLst>
        </pc:picChg>
      </pc:sldChg>
      <pc:sldChg chg="addSp modSp add mod">
        <pc:chgData name="福島　幸弥" userId="a7ca5d81-5472-447d-8917-8cec35c69bf5" providerId="ADAL" clId="{30AA68D2-4443-4082-A04E-9E640A324054}" dt="2026-05-25T06:31:09.483" v="15486"/>
        <pc:sldMkLst>
          <pc:docMk/>
          <pc:sldMk cId="701215306" sldId="333"/>
        </pc:sldMkLst>
        <pc:spChg chg="mod">
          <ac:chgData name="福島　幸弥" userId="a7ca5d81-5472-447d-8917-8cec35c69bf5" providerId="ADAL" clId="{30AA68D2-4443-4082-A04E-9E640A324054}" dt="2026-05-25T06:31:09.483" v="15486"/>
          <ac:spMkLst>
            <pc:docMk/>
            <pc:sldMk cId="701215306" sldId="333"/>
            <ac:spMk id="3" creationId="{70D8DA91-C442-D60D-CCBE-C0435A30DD0D}"/>
          </ac:spMkLst>
        </pc:spChg>
        <pc:picChg chg="add mod">
          <ac:chgData name="福島　幸弥" userId="a7ca5d81-5472-447d-8917-8cec35c69bf5" providerId="ADAL" clId="{30AA68D2-4443-4082-A04E-9E640A324054}" dt="2026-05-25T06:30:21.240" v="15460" actId="14100"/>
          <ac:picMkLst>
            <pc:docMk/>
            <pc:sldMk cId="701215306" sldId="333"/>
            <ac:picMk id="6" creationId="{1D052A59-D6C2-91A7-4106-4E024D4791E3}"/>
          </ac:picMkLst>
        </pc:picChg>
      </pc:sldChg>
      <pc:sldChg chg="modSp add mod">
        <pc:chgData name="福島　幸弥" userId="a7ca5d81-5472-447d-8917-8cec35c69bf5" providerId="ADAL" clId="{30AA68D2-4443-4082-A04E-9E640A324054}" dt="2026-05-25T06:23:57.322" v="15406"/>
        <pc:sldMkLst>
          <pc:docMk/>
          <pc:sldMk cId="4039496283" sldId="334"/>
        </pc:sldMkLst>
        <pc:spChg chg="mod">
          <ac:chgData name="福島　幸弥" userId="a7ca5d81-5472-447d-8917-8cec35c69bf5" providerId="ADAL" clId="{30AA68D2-4443-4082-A04E-9E640A324054}" dt="2026-05-25T06:23:57.322" v="15406"/>
          <ac:spMkLst>
            <pc:docMk/>
            <pc:sldMk cId="4039496283" sldId="334"/>
            <ac:spMk id="3" creationId="{251CF0D4-841F-10B7-7A12-215B319EC648}"/>
          </ac:spMkLst>
        </pc:spChg>
      </pc:sldChg>
      <pc:sldChg chg="addSp modSp new mod">
        <pc:chgData name="福島　幸弥" userId="a7ca5d81-5472-447d-8917-8cec35c69bf5" providerId="ADAL" clId="{30AA68D2-4443-4082-A04E-9E640A324054}" dt="2026-05-26T07:08:36.160" v="15743" actId="20577"/>
        <pc:sldMkLst>
          <pc:docMk/>
          <pc:sldMk cId="3906470681" sldId="335"/>
        </pc:sldMkLst>
        <pc:spChg chg="mod">
          <ac:chgData name="福島　幸弥" userId="a7ca5d81-5472-447d-8917-8cec35c69bf5" providerId="ADAL" clId="{30AA68D2-4443-4082-A04E-9E640A324054}" dt="2026-05-25T06:31:38.062" v="15498"/>
          <ac:spMkLst>
            <pc:docMk/>
            <pc:sldMk cId="3906470681" sldId="335"/>
            <ac:spMk id="2" creationId="{EB97D14D-A800-249D-F095-DE9CB4CA336A}"/>
          </ac:spMkLst>
        </pc:spChg>
        <pc:spChg chg="mod">
          <ac:chgData name="福島　幸弥" userId="a7ca5d81-5472-447d-8917-8cec35c69bf5" providerId="ADAL" clId="{30AA68D2-4443-4082-A04E-9E640A324054}" dt="2026-05-26T07:08:36.160" v="15743" actId="20577"/>
          <ac:spMkLst>
            <pc:docMk/>
            <pc:sldMk cId="3906470681" sldId="335"/>
            <ac:spMk id="3" creationId="{3BB55413-5253-5DB7-0430-7C91376624AC}"/>
          </ac:spMkLst>
        </pc:spChg>
        <pc:picChg chg="add mod">
          <ac:chgData name="福島　幸弥" userId="a7ca5d81-5472-447d-8917-8cec35c69bf5" providerId="ADAL" clId="{30AA68D2-4443-4082-A04E-9E640A324054}" dt="2026-05-25T06:32:33.889" v="15535" actId="1076"/>
          <ac:picMkLst>
            <pc:docMk/>
            <pc:sldMk cId="3906470681" sldId="335"/>
            <ac:picMk id="6" creationId="{1072B61D-4C32-F96F-718B-5C7419433CE4}"/>
          </ac:picMkLst>
        </pc:picChg>
      </pc:sldChg>
      <pc:sldChg chg="addSp modSp new mod">
        <pc:chgData name="福島　幸弥" userId="a7ca5d81-5472-447d-8917-8cec35c69bf5" providerId="ADAL" clId="{30AA68D2-4443-4082-A04E-9E640A324054}" dt="2026-05-26T14:03:09.731" v="15855" actId="1076"/>
        <pc:sldMkLst>
          <pc:docMk/>
          <pc:sldMk cId="4217506653" sldId="336"/>
        </pc:sldMkLst>
        <pc:spChg chg="mod">
          <ac:chgData name="福島　幸弥" userId="a7ca5d81-5472-447d-8917-8cec35c69bf5" providerId="ADAL" clId="{30AA68D2-4443-4082-A04E-9E640A324054}" dt="2026-05-26T03:25:42.092" v="15730"/>
          <ac:spMkLst>
            <pc:docMk/>
            <pc:sldMk cId="4217506653" sldId="336"/>
            <ac:spMk id="2" creationId="{4207E8BB-4202-5E57-89B0-9971AE4CB27E}"/>
          </ac:spMkLst>
        </pc:spChg>
        <pc:spChg chg="mod">
          <ac:chgData name="福島　幸弥" userId="a7ca5d81-5472-447d-8917-8cec35c69bf5" providerId="ADAL" clId="{30AA68D2-4443-4082-A04E-9E640A324054}" dt="2026-05-26T14:02:53.600" v="15851"/>
          <ac:spMkLst>
            <pc:docMk/>
            <pc:sldMk cId="4217506653" sldId="336"/>
            <ac:spMk id="3" creationId="{B3EB1FC0-95A8-3CA6-B8A8-E7EA42A85EBF}"/>
          </ac:spMkLst>
        </pc:spChg>
        <pc:picChg chg="add mod">
          <ac:chgData name="福島　幸弥" userId="a7ca5d81-5472-447d-8917-8cec35c69bf5" providerId="ADAL" clId="{30AA68D2-4443-4082-A04E-9E640A324054}" dt="2026-05-26T14:03:09.731" v="15855" actId="1076"/>
          <ac:picMkLst>
            <pc:docMk/>
            <pc:sldMk cId="4217506653" sldId="336"/>
            <ac:picMk id="6" creationId="{1FFB03E9-89D8-8C28-8CCD-E18BCAA54FA7}"/>
          </ac:picMkLst>
        </pc:picChg>
      </pc:sldChg>
      <pc:sldChg chg="modSp new mod">
        <pc:chgData name="福島　幸弥" userId="a7ca5d81-5472-447d-8917-8cec35c69bf5" providerId="ADAL" clId="{30AA68D2-4443-4082-A04E-9E640A324054}" dt="2026-05-27T05:46:51.536" v="17174"/>
        <pc:sldMkLst>
          <pc:docMk/>
          <pc:sldMk cId="404500916" sldId="337"/>
        </pc:sldMkLst>
        <pc:spChg chg="mod">
          <ac:chgData name="福島　幸弥" userId="a7ca5d81-5472-447d-8917-8cec35c69bf5" providerId="ADAL" clId="{30AA68D2-4443-4082-A04E-9E640A324054}" dt="2026-05-26T14:04:52.735" v="15864"/>
          <ac:spMkLst>
            <pc:docMk/>
            <pc:sldMk cId="404500916" sldId="337"/>
            <ac:spMk id="2" creationId="{61845315-C5F5-D907-5977-5A8E9E5ECF6E}"/>
          </ac:spMkLst>
        </pc:spChg>
        <pc:spChg chg="mod">
          <ac:chgData name="福島　幸弥" userId="a7ca5d81-5472-447d-8917-8cec35c69bf5" providerId="ADAL" clId="{30AA68D2-4443-4082-A04E-9E640A324054}" dt="2026-05-27T05:46:51.536" v="17174"/>
          <ac:spMkLst>
            <pc:docMk/>
            <pc:sldMk cId="404500916" sldId="337"/>
            <ac:spMk id="3" creationId="{A814B49A-6E3A-30FC-4B83-15B92BEC294C}"/>
          </ac:spMkLst>
        </pc:spChg>
      </pc:sldChg>
      <pc:sldChg chg="addSp modSp add mod">
        <pc:chgData name="福島　幸弥" userId="a7ca5d81-5472-447d-8917-8cec35c69bf5" providerId="ADAL" clId="{30AA68D2-4443-4082-A04E-9E640A324054}" dt="2026-05-26T14:21:31.060" v="16236" actId="1076"/>
        <pc:sldMkLst>
          <pc:docMk/>
          <pc:sldMk cId="744108454" sldId="338"/>
        </pc:sldMkLst>
        <pc:spChg chg="mod">
          <ac:chgData name="福島　幸弥" userId="a7ca5d81-5472-447d-8917-8cec35c69bf5" providerId="ADAL" clId="{30AA68D2-4443-4082-A04E-9E640A324054}" dt="2026-05-26T14:20:12.501" v="16223"/>
          <ac:spMkLst>
            <pc:docMk/>
            <pc:sldMk cId="744108454" sldId="338"/>
            <ac:spMk id="3" creationId="{9E0F9EE8-5D5C-D3BC-1516-507741C6FE24}"/>
          </ac:spMkLst>
        </pc:spChg>
        <pc:picChg chg="add mod">
          <ac:chgData name="福島　幸弥" userId="a7ca5d81-5472-447d-8917-8cec35c69bf5" providerId="ADAL" clId="{30AA68D2-4443-4082-A04E-9E640A324054}" dt="2026-05-26T14:21:31.060" v="16236" actId="1076"/>
          <ac:picMkLst>
            <pc:docMk/>
            <pc:sldMk cId="744108454" sldId="338"/>
            <ac:picMk id="6" creationId="{1FFE7729-C0B4-6D02-326D-A1C027151E39}"/>
          </ac:picMkLst>
        </pc:picChg>
      </pc:sldChg>
      <pc:sldChg chg="addSp modSp new mod">
        <pc:chgData name="福島　幸弥" userId="a7ca5d81-5472-447d-8917-8cec35c69bf5" providerId="ADAL" clId="{30AA68D2-4443-4082-A04E-9E640A324054}" dt="2026-05-26T14:46:53.178" v="16405" actId="1076"/>
        <pc:sldMkLst>
          <pc:docMk/>
          <pc:sldMk cId="4066711634" sldId="339"/>
        </pc:sldMkLst>
        <pc:spChg chg="mod">
          <ac:chgData name="福島　幸弥" userId="a7ca5d81-5472-447d-8917-8cec35c69bf5" providerId="ADAL" clId="{30AA68D2-4443-4082-A04E-9E640A324054}" dt="2026-05-26T14:21:05.480" v="16234"/>
          <ac:spMkLst>
            <pc:docMk/>
            <pc:sldMk cId="4066711634" sldId="339"/>
            <ac:spMk id="2" creationId="{25152643-B62B-4944-D8C4-8C5401D36D85}"/>
          </ac:spMkLst>
        </pc:spChg>
        <pc:spChg chg="mod">
          <ac:chgData name="福島　幸弥" userId="a7ca5d81-5472-447d-8917-8cec35c69bf5" providerId="ADAL" clId="{30AA68D2-4443-4082-A04E-9E640A324054}" dt="2026-05-26T14:46:46.186" v="16402"/>
          <ac:spMkLst>
            <pc:docMk/>
            <pc:sldMk cId="4066711634" sldId="339"/>
            <ac:spMk id="3" creationId="{16E8326E-392C-B20C-F49D-8F19E762E5E5}"/>
          </ac:spMkLst>
        </pc:spChg>
        <pc:picChg chg="add mod">
          <ac:chgData name="福島　幸弥" userId="a7ca5d81-5472-447d-8917-8cec35c69bf5" providerId="ADAL" clId="{30AA68D2-4443-4082-A04E-9E640A324054}" dt="2026-05-26T14:45:21.024" v="16241" actId="1076"/>
          <ac:picMkLst>
            <pc:docMk/>
            <pc:sldMk cId="4066711634" sldId="339"/>
            <ac:picMk id="6" creationId="{C59538B8-1573-D42C-D600-B386DB00D85D}"/>
          </ac:picMkLst>
        </pc:picChg>
        <pc:picChg chg="add mod">
          <ac:chgData name="福島　幸弥" userId="a7ca5d81-5472-447d-8917-8cec35c69bf5" providerId="ADAL" clId="{30AA68D2-4443-4082-A04E-9E640A324054}" dt="2026-05-26T14:46:53.178" v="16405" actId="1076"/>
          <ac:picMkLst>
            <pc:docMk/>
            <pc:sldMk cId="4066711634" sldId="339"/>
            <ac:picMk id="8" creationId="{C95D6D7B-0802-BEA5-57DE-125899A57548}"/>
          </ac:picMkLst>
        </pc:picChg>
      </pc:sldChg>
      <pc:sldChg chg="addSp modSp new mod">
        <pc:chgData name="福島　幸弥" userId="a7ca5d81-5472-447d-8917-8cec35c69bf5" providerId="ADAL" clId="{30AA68D2-4443-4082-A04E-9E640A324054}" dt="2026-05-26T16:13:49.144" v="16720" actId="1076"/>
        <pc:sldMkLst>
          <pc:docMk/>
          <pc:sldMk cId="898494828" sldId="340"/>
        </pc:sldMkLst>
        <pc:spChg chg="mod">
          <ac:chgData name="福島　幸弥" userId="a7ca5d81-5472-447d-8917-8cec35c69bf5" providerId="ADAL" clId="{30AA68D2-4443-4082-A04E-9E640A324054}" dt="2026-05-26T16:07:23.627" v="16415"/>
          <ac:spMkLst>
            <pc:docMk/>
            <pc:sldMk cId="898494828" sldId="340"/>
            <ac:spMk id="2" creationId="{047EDB12-B685-DF54-FC8C-A4C1BCA52C18}"/>
          </ac:spMkLst>
        </pc:spChg>
        <pc:spChg chg="mod">
          <ac:chgData name="福島　幸弥" userId="a7ca5d81-5472-447d-8917-8cec35c69bf5" providerId="ADAL" clId="{30AA68D2-4443-4082-A04E-9E640A324054}" dt="2026-05-26T16:13:35.313" v="16717"/>
          <ac:spMkLst>
            <pc:docMk/>
            <pc:sldMk cId="898494828" sldId="340"/>
            <ac:spMk id="3" creationId="{FFBB261B-7ABE-6E5C-1D89-5C72C60D41D4}"/>
          </ac:spMkLst>
        </pc:spChg>
        <pc:picChg chg="add mod">
          <ac:chgData name="福島　幸弥" userId="a7ca5d81-5472-447d-8917-8cec35c69bf5" providerId="ADAL" clId="{30AA68D2-4443-4082-A04E-9E640A324054}" dt="2026-05-26T16:13:49.144" v="16720" actId="1076"/>
          <ac:picMkLst>
            <pc:docMk/>
            <pc:sldMk cId="898494828" sldId="340"/>
            <ac:picMk id="6" creationId="{4F0CA3FD-842E-F005-4792-4048AD6F8A4C}"/>
          </ac:picMkLst>
        </pc:picChg>
      </pc:sldChg>
      <pc:sldChg chg="addSp modSp new mod modNotesTx">
        <pc:chgData name="福島　幸弥" userId="a7ca5d81-5472-447d-8917-8cec35c69bf5" providerId="ADAL" clId="{30AA68D2-4443-4082-A04E-9E640A324054}" dt="2026-06-11T04:23:40.685" v="17486" actId="20577"/>
        <pc:sldMkLst>
          <pc:docMk/>
          <pc:sldMk cId="3219722041" sldId="341"/>
        </pc:sldMkLst>
        <pc:spChg chg="mod">
          <ac:chgData name="福島　幸弥" userId="a7ca5d81-5472-447d-8917-8cec35c69bf5" providerId="ADAL" clId="{30AA68D2-4443-4082-A04E-9E640A324054}" dt="2026-05-26T16:14:48.354" v="16730"/>
          <ac:spMkLst>
            <pc:docMk/>
            <pc:sldMk cId="3219722041" sldId="341"/>
            <ac:spMk id="2" creationId="{5B056098-6E27-3021-F496-BF782879C8A9}"/>
          </ac:spMkLst>
        </pc:spChg>
        <pc:spChg chg="mod">
          <ac:chgData name="福島　幸弥" userId="a7ca5d81-5472-447d-8917-8cec35c69bf5" providerId="ADAL" clId="{30AA68D2-4443-4082-A04E-9E640A324054}" dt="2026-05-26T16:26:57.876" v="17085" actId="20577"/>
          <ac:spMkLst>
            <pc:docMk/>
            <pc:sldMk cId="3219722041" sldId="341"/>
            <ac:spMk id="3" creationId="{8B7E193B-6299-8D15-8CA3-2E9D5EE8BD3B}"/>
          </ac:spMkLst>
        </pc:spChg>
        <pc:picChg chg="add mod">
          <ac:chgData name="福島　幸弥" userId="a7ca5d81-5472-447d-8917-8cec35c69bf5" providerId="ADAL" clId="{30AA68D2-4443-4082-A04E-9E640A324054}" dt="2026-05-26T16:15:12.267" v="16751" actId="1076"/>
          <ac:picMkLst>
            <pc:docMk/>
            <pc:sldMk cId="3219722041" sldId="341"/>
            <ac:picMk id="6" creationId="{0B17E529-77F1-2E26-0AB6-9FB47871FC10}"/>
          </ac:picMkLst>
        </pc:picChg>
      </pc:sldChg>
      <pc:sldChg chg="modSp new mod">
        <pc:chgData name="福島　幸弥" userId="a7ca5d81-5472-447d-8917-8cec35c69bf5" providerId="ADAL" clId="{30AA68D2-4443-4082-A04E-9E640A324054}" dt="2026-05-27T11:44:02.091" v="17440"/>
        <pc:sldMkLst>
          <pc:docMk/>
          <pc:sldMk cId="3435408025" sldId="342"/>
        </pc:sldMkLst>
        <pc:spChg chg="mod">
          <ac:chgData name="福島　幸弥" userId="a7ca5d81-5472-447d-8917-8cec35c69bf5" providerId="ADAL" clId="{30AA68D2-4443-4082-A04E-9E640A324054}" dt="2026-05-27T11:42:21.035" v="17189"/>
          <ac:spMkLst>
            <pc:docMk/>
            <pc:sldMk cId="3435408025" sldId="342"/>
            <ac:spMk id="2" creationId="{0E11BC22-A3EA-0DAD-DDEB-CA824D1D1862}"/>
          </ac:spMkLst>
        </pc:spChg>
        <pc:spChg chg="mod">
          <ac:chgData name="福島　幸弥" userId="a7ca5d81-5472-447d-8917-8cec35c69bf5" providerId="ADAL" clId="{30AA68D2-4443-4082-A04E-9E640A324054}" dt="2026-05-27T11:44:02.091" v="17440"/>
          <ac:spMkLst>
            <pc:docMk/>
            <pc:sldMk cId="3435408025" sldId="342"/>
            <ac:spMk id="3" creationId="{13B4EEC6-4C15-7745-0998-4B45D72B99E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96DA1E-B5B6-4C44-A10B-30E3720AB601}" type="datetimeFigureOut">
              <a:rPr kumimoji="1" lang="ja-JP" altLang="en-US" smtClean="0"/>
              <a:t>2026/9/11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7A46E7-1704-40D9-A156-0C00714C1D63}" type="slidenum">
              <a:rPr kumimoji="1" lang="ja-JP" altLang="en-US" smtClean="0"/>
              <a:t>‹#›</a:t>
            </a:fld>
            <a:endParaRPr kumimoji="1" lang="ja-JP" altLang="en-US"/>
          </a:p>
        </p:txBody>
      </p:sp>
    </p:spTree>
    <p:extLst>
      <p:ext uri="{BB962C8B-B14F-4D97-AF65-F5344CB8AC3E}">
        <p14:creationId xmlns:p14="http://schemas.microsoft.com/office/powerpoint/2010/main" val="353553564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低減ではなくいろいろな周波数に分散させるが正しい</a:t>
            </a:r>
          </a:p>
        </p:txBody>
      </p:sp>
      <p:sp>
        <p:nvSpPr>
          <p:cNvPr id="4" name="スライド番号プレースホルダー 3"/>
          <p:cNvSpPr>
            <a:spLocks noGrp="1"/>
          </p:cNvSpPr>
          <p:nvPr>
            <p:ph type="sldNum" sz="quarter" idx="5"/>
          </p:nvPr>
        </p:nvSpPr>
        <p:spPr/>
        <p:txBody>
          <a:bodyPr/>
          <a:lstStyle/>
          <a:p>
            <a:fld id="{947A46E7-1704-40D9-A156-0C00714C1D63}" type="slidenum">
              <a:rPr kumimoji="1" lang="ja-JP" altLang="en-US" smtClean="0"/>
              <a:t>21</a:t>
            </a:fld>
            <a:endParaRPr kumimoji="1" lang="ja-JP" altLang="en-US"/>
          </a:p>
        </p:txBody>
      </p:sp>
    </p:spTree>
    <p:extLst>
      <p:ext uri="{BB962C8B-B14F-4D97-AF65-F5344CB8AC3E}">
        <p14:creationId xmlns:p14="http://schemas.microsoft.com/office/powerpoint/2010/main" val="15027724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「分周を減算で行う」→周波数変換</a:t>
            </a:r>
            <a:r>
              <a:rPr kumimoji="1" lang="en-US" altLang="ja-JP" dirty="0"/>
              <a:t>(down conversion)</a:t>
            </a:r>
            <a:endParaRPr kumimoji="1" lang="ja-JP" altLang="en-US" dirty="0"/>
          </a:p>
        </p:txBody>
      </p:sp>
      <p:sp>
        <p:nvSpPr>
          <p:cNvPr id="4" name="スライド番号プレースホルダー 3"/>
          <p:cNvSpPr>
            <a:spLocks noGrp="1"/>
          </p:cNvSpPr>
          <p:nvPr>
            <p:ph type="sldNum" sz="quarter" idx="5"/>
          </p:nvPr>
        </p:nvSpPr>
        <p:spPr/>
        <p:txBody>
          <a:bodyPr/>
          <a:lstStyle/>
          <a:p>
            <a:fld id="{947A46E7-1704-40D9-A156-0C00714C1D63}" type="slidenum">
              <a:rPr kumimoji="1" lang="ja-JP" altLang="en-US" smtClean="0"/>
              <a:t>29</a:t>
            </a:fld>
            <a:endParaRPr kumimoji="1" lang="ja-JP" altLang="en-US"/>
          </a:p>
        </p:txBody>
      </p:sp>
    </p:spTree>
    <p:extLst>
      <p:ext uri="{BB962C8B-B14F-4D97-AF65-F5344CB8AC3E}">
        <p14:creationId xmlns:p14="http://schemas.microsoft.com/office/powerpoint/2010/main" val="2979818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VCO</a:t>
            </a:r>
            <a:r>
              <a:rPr kumimoji="1" lang="ja-JP" altLang="en-US" dirty="0"/>
              <a:t>の発進できる範囲はまあまあ狭い</a:t>
            </a:r>
            <a:r>
              <a:rPr kumimoji="1" lang="en-US" altLang="ja-JP" dirty="0"/>
              <a:t>(+-10~20%</a:t>
            </a:r>
            <a:r>
              <a:rPr kumimoji="1" lang="ja-JP" altLang="en-US" dirty="0"/>
              <a:t>程度</a:t>
            </a:r>
            <a:r>
              <a:rPr kumimoji="1" lang="en-US" altLang="ja-JP" dirty="0"/>
              <a:t>)</a:t>
            </a:r>
            <a:r>
              <a:rPr kumimoji="1" lang="ja-JP" altLang="en-US" dirty="0"/>
              <a:t>．その範囲を超えていれば</a:t>
            </a:r>
            <a:r>
              <a:rPr kumimoji="1" lang="en-US" altLang="ja-JP" dirty="0"/>
              <a:t>pulling</a:t>
            </a:r>
            <a:r>
              <a:rPr kumimoji="1" lang="ja-JP" altLang="en-US" dirty="0"/>
              <a:t>されない．最小公倍数が大きいならばあまり引き込まれない</a:t>
            </a:r>
          </a:p>
        </p:txBody>
      </p:sp>
      <p:sp>
        <p:nvSpPr>
          <p:cNvPr id="4" name="スライド番号プレースホルダー 3"/>
          <p:cNvSpPr>
            <a:spLocks noGrp="1"/>
          </p:cNvSpPr>
          <p:nvPr>
            <p:ph type="sldNum" sz="quarter" idx="5"/>
          </p:nvPr>
        </p:nvSpPr>
        <p:spPr/>
        <p:txBody>
          <a:bodyPr/>
          <a:lstStyle/>
          <a:p>
            <a:fld id="{947A46E7-1704-40D9-A156-0C00714C1D63}" type="slidenum">
              <a:rPr kumimoji="1" lang="ja-JP" altLang="en-US" smtClean="0"/>
              <a:t>31</a:t>
            </a:fld>
            <a:endParaRPr kumimoji="1" lang="ja-JP" altLang="en-US"/>
          </a:p>
        </p:txBody>
      </p:sp>
    </p:spTree>
    <p:extLst>
      <p:ext uri="{BB962C8B-B14F-4D97-AF65-F5344CB8AC3E}">
        <p14:creationId xmlns:p14="http://schemas.microsoft.com/office/powerpoint/2010/main" val="41601317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DTC</a:t>
            </a:r>
            <a:r>
              <a:rPr kumimoji="1" lang="ja-JP" altLang="en-US" dirty="0"/>
              <a:t>型と</a:t>
            </a:r>
            <a:r>
              <a:rPr kumimoji="1" lang="en-US" altLang="ja-JP" dirty="0"/>
              <a:t>Integer</a:t>
            </a:r>
            <a:r>
              <a:rPr kumimoji="1" lang="ja-JP" altLang="en-US"/>
              <a:t>型しか入ってないっぽい？</a:t>
            </a:r>
          </a:p>
        </p:txBody>
      </p:sp>
      <p:sp>
        <p:nvSpPr>
          <p:cNvPr id="4" name="スライド番号プレースホルダー 3"/>
          <p:cNvSpPr>
            <a:spLocks noGrp="1"/>
          </p:cNvSpPr>
          <p:nvPr>
            <p:ph type="sldNum" sz="quarter" idx="5"/>
          </p:nvPr>
        </p:nvSpPr>
        <p:spPr/>
        <p:txBody>
          <a:bodyPr/>
          <a:lstStyle/>
          <a:p>
            <a:fld id="{947A46E7-1704-40D9-A156-0C00714C1D63}" type="slidenum">
              <a:rPr kumimoji="1" lang="ja-JP" altLang="en-US" smtClean="0"/>
              <a:t>48</a:t>
            </a:fld>
            <a:endParaRPr kumimoji="1" lang="ja-JP" altLang="en-US"/>
          </a:p>
        </p:txBody>
      </p:sp>
    </p:spTree>
    <p:extLst>
      <p:ext uri="{BB962C8B-B14F-4D97-AF65-F5344CB8AC3E}">
        <p14:creationId xmlns:p14="http://schemas.microsoft.com/office/powerpoint/2010/main" val="4135440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947A46E7-1704-40D9-A156-0C00714C1D63}" type="slidenum">
              <a:rPr kumimoji="1" lang="ja-JP" altLang="en-US" smtClean="0"/>
              <a:t>77</a:t>
            </a:fld>
            <a:endParaRPr kumimoji="1" lang="ja-JP" altLang="en-US"/>
          </a:p>
        </p:txBody>
      </p:sp>
    </p:spTree>
    <p:extLst>
      <p:ext uri="{BB962C8B-B14F-4D97-AF65-F5344CB8AC3E}">
        <p14:creationId xmlns:p14="http://schemas.microsoft.com/office/powerpoint/2010/main" val="29278123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この</a:t>
            </a:r>
            <a:r>
              <a:rPr kumimoji="1" lang="en-US" altLang="ja-JP" dirty="0"/>
              <a:t>H_SF</a:t>
            </a:r>
            <a:r>
              <a:rPr kumimoji="1" lang="ja-JP" altLang="en-US" dirty="0"/>
              <a:t>を書き下してコードに追加する</a:t>
            </a:r>
          </a:p>
        </p:txBody>
      </p:sp>
      <p:sp>
        <p:nvSpPr>
          <p:cNvPr id="4" name="スライド番号プレースホルダー 3"/>
          <p:cNvSpPr>
            <a:spLocks noGrp="1"/>
          </p:cNvSpPr>
          <p:nvPr>
            <p:ph type="sldNum" sz="quarter" idx="5"/>
          </p:nvPr>
        </p:nvSpPr>
        <p:spPr/>
        <p:txBody>
          <a:bodyPr/>
          <a:lstStyle/>
          <a:p>
            <a:fld id="{947A46E7-1704-40D9-A156-0C00714C1D63}" type="slidenum">
              <a:rPr kumimoji="1" lang="ja-JP" altLang="en-US" smtClean="0"/>
              <a:t>78</a:t>
            </a:fld>
            <a:endParaRPr kumimoji="1" lang="ja-JP" altLang="en-US"/>
          </a:p>
        </p:txBody>
      </p:sp>
    </p:spTree>
    <p:extLst>
      <p:ext uri="{BB962C8B-B14F-4D97-AF65-F5344CB8AC3E}">
        <p14:creationId xmlns:p14="http://schemas.microsoft.com/office/powerpoint/2010/main" val="4044830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74A26E-B0EC-FFFE-32BD-E33E73845742}"/>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A21B7A9F-3E82-F716-4847-D5244A3907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6A3A3E24-A9BF-D6BE-7105-83BAEF62C1BC}"/>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28C220E-6C33-45FC-8C3D-A6A949584217}" type="datetime1">
              <a:rPr kumimoji="1" lang="ja-JP" altLang="en-US" sz="12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l" defTabSz="914400" rtl="0" eaLnBrk="1" fontAlgn="auto" latinLnBrk="0" hangingPunct="1">
                <a:lnSpc>
                  <a:spcPct val="100000"/>
                </a:lnSpc>
                <a:spcBef>
                  <a:spcPts val="0"/>
                </a:spcBef>
                <a:spcAft>
                  <a:spcPts val="0"/>
                </a:spcAft>
                <a:buClrTx/>
                <a:buSzTx/>
                <a:buFontTx/>
                <a:buNone/>
                <a:tabLst/>
                <a:defRPr/>
              </a:pPr>
              <a:t>2026/9/11</a:t>
            </a:fld>
            <a:endParaRPr kumimoji="1" lang="ja-JP" altLang="en-US" sz="12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
        <p:nvSpPr>
          <p:cNvPr id="5" name="フッター プレースホルダー 4">
            <a:extLst>
              <a:ext uri="{FF2B5EF4-FFF2-40B4-BE49-F238E27FC236}">
                <a16:creationId xmlns:a16="http://schemas.microsoft.com/office/drawing/2014/main" id="{FF6140A0-FDF0-5866-8188-F3D1A0EBF2D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
        <p:nvSpPr>
          <p:cNvPr id="6" name="スライド番号プレースホルダー 5">
            <a:extLst>
              <a:ext uri="{FF2B5EF4-FFF2-40B4-BE49-F238E27FC236}">
                <a16:creationId xmlns:a16="http://schemas.microsoft.com/office/drawing/2014/main" id="{C975FB19-3A5A-56FC-D190-97BE83DD1E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1075320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CCBABC-F19E-3817-5585-F08DEDFCDDFA}"/>
              </a:ext>
            </a:extLst>
          </p:cNvPr>
          <p:cNvSpPr>
            <a:spLocks noGrp="1"/>
          </p:cNvSpPr>
          <p:nvPr>
            <p:ph type="title"/>
          </p:nvPr>
        </p:nvSpPr>
        <p:spPr>
          <a:xfrm>
            <a:off x="838200" y="762907"/>
            <a:ext cx="10515600" cy="701731"/>
          </a:xfrm>
          <a:solidFill>
            <a:schemeClr val="bg1"/>
          </a:solidFill>
          <a:effectLst>
            <a:outerShdw dist="76200" dir="10800000" algn="r" rotWithShape="0">
              <a:schemeClr val="accent1"/>
            </a:outerShdw>
          </a:effectLst>
        </p:spPr>
        <p:txBody>
          <a:bodyPr wrap="square" lIns="180000">
            <a:spAutoFit/>
          </a:bodyPr>
          <a:lstStyle>
            <a:lvl1pPr>
              <a:defRPr>
                <a:solidFill>
                  <a:schemeClr val="accent1"/>
                </a:solidFill>
              </a:defRPr>
            </a:lvl1pPr>
          </a:lstStyle>
          <a:p>
            <a:r>
              <a:rPr kumimoji="1" lang="ja-JP" altLang="en-US" dirty="0"/>
              <a:t>マスター タイトルの書式設定</a:t>
            </a:r>
          </a:p>
        </p:txBody>
      </p:sp>
      <p:sp>
        <p:nvSpPr>
          <p:cNvPr id="3" name="コンテンツ プレースホルダー 2">
            <a:extLst>
              <a:ext uri="{FF2B5EF4-FFF2-40B4-BE49-F238E27FC236}">
                <a16:creationId xmlns:a16="http://schemas.microsoft.com/office/drawing/2014/main" id="{F5D30968-56E1-32DA-A985-53243C49E57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B4A6C97-0A68-00A8-48B2-657F647E628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5D5DD8F-91D8-400F-8795-A4F0A9D26375}" type="datetime1">
              <a:rPr kumimoji="1" lang="ja-JP" altLang="en-US" sz="12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l" defTabSz="914400" rtl="0" eaLnBrk="1" fontAlgn="auto" latinLnBrk="0" hangingPunct="1">
                <a:lnSpc>
                  <a:spcPct val="100000"/>
                </a:lnSpc>
                <a:spcBef>
                  <a:spcPts val="0"/>
                </a:spcBef>
                <a:spcAft>
                  <a:spcPts val="0"/>
                </a:spcAft>
                <a:buClrTx/>
                <a:buSzTx/>
                <a:buFontTx/>
                <a:buNone/>
                <a:tabLst/>
                <a:defRPr/>
              </a:pPr>
              <a:t>2026/9/11</a:t>
            </a:fld>
            <a:endParaRPr kumimoji="1" lang="ja-JP" altLang="en-US" sz="12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
        <p:nvSpPr>
          <p:cNvPr id="5" name="フッター プレースホルダー 4">
            <a:extLst>
              <a:ext uri="{FF2B5EF4-FFF2-40B4-BE49-F238E27FC236}">
                <a16:creationId xmlns:a16="http://schemas.microsoft.com/office/drawing/2014/main" id="{93575163-AE10-83B6-714C-C070A642B45F}"/>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
        <p:nvSpPr>
          <p:cNvPr id="6" name="スライド番号プレースホルダー 5">
            <a:extLst>
              <a:ext uri="{FF2B5EF4-FFF2-40B4-BE49-F238E27FC236}">
                <a16:creationId xmlns:a16="http://schemas.microsoft.com/office/drawing/2014/main" id="{8DFA8563-4201-62F2-6E42-E0E9DF5BC4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4251903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571493-D666-B7DA-97CF-2EBDAEF5C91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64E96A7-BE3A-7DAC-D16B-93A9B5EC41B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BD1CF270-C71B-2794-D2C9-3DB955FD318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ACB09AD-B315-4F73-9EB3-C8B22E95BD39}" type="datetime1">
              <a:rPr kumimoji="1" lang="ja-JP" altLang="en-US" sz="12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l" defTabSz="914400" rtl="0" eaLnBrk="1" fontAlgn="auto" latinLnBrk="0" hangingPunct="1">
                <a:lnSpc>
                  <a:spcPct val="100000"/>
                </a:lnSpc>
                <a:spcBef>
                  <a:spcPts val="0"/>
                </a:spcBef>
                <a:spcAft>
                  <a:spcPts val="0"/>
                </a:spcAft>
                <a:buClrTx/>
                <a:buSzTx/>
                <a:buFontTx/>
                <a:buNone/>
                <a:tabLst/>
                <a:defRPr/>
              </a:pPr>
              <a:t>2026/9/11</a:t>
            </a:fld>
            <a:endParaRPr kumimoji="1" lang="ja-JP" altLang="en-US" sz="12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
        <p:nvSpPr>
          <p:cNvPr id="5" name="フッター プレースホルダー 4">
            <a:extLst>
              <a:ext uri="{FF2B5EF4-FFF2-40B4-BE49-F238E27FC236}">
                <a16:creationId xmlns:a16="http://schemas.microsoft.com/office/drawing/2014/main" id="{D4E0A108-8685-32B8-039B-7F03537F93F5}"/>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
        <p:nvSpPr>
          <p:cNvPr id="6" name="スライド番号プレースホルダー 5">
            <a:extLst>
              <a:ext uri="{FF2B5EF4-FFF2-40B4-BE49-F238E27FC236}">
                <a16:creationId xmlns:a16="http://schemas.microsoft.com/office/drawing/2014/main" id="{6343F999-9564-F70B-770D-5B58FF67C62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20034224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7A7E3C-30F2-9954-433E-03977ABE6C19}"/>
              </a:ext>
            </a:extLst>
          </p:cNvPr>
          <p:cNvSpPr>
            <a:spLocks noGrp="1"/>
          </p:cNvSpPr>
          <p:nvPr>
            <p:ph type="title"/>
          </p:nvPr>
        </p:nvSpPr>
        <p:spPr>
          <a:solidFill>
            <a:schemeClr val="bg1"/>
          </a:solidFill>
          <a:effectLst>
            <a:outerShdw dist="76200" dir="10800000" algn="r" rotWithShape="0">
              <a:schemeClr val="accent1"/>
            </a:outerShdw>
          </a:effectLst>
        </p:spPr>
        <p:txBody>
          <a:bodyPr/>
          <a:lstStyle/>
          <a:p>
            <a:r>
              <a:rPr kumimoji="1" lang="ja-JP" altLang="en-US" dirty="0"/>
              <a:t>マスター タイトルの書式設定</a:t>
            </a:r>
          </a:p>
        </p:txBody>
      </p:sp>
      <p:sp>
        <p:nvSpPr>
          <p:cNvPr id="3" name="コンテンツ プレースホルダー 2">
            <a:extLst>
              <a:ext uri="{FF2B5EF4-FFF2-40B4-BE49-F238E27FC236}">
                <a16:creationId xmlns:a16="http://schemas.microsoft.com/office/drawing/2014/main" id="{0DDC3458-C105-F68F-85DD-185EBAD48DCB}"/>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8E296BE-A419-5773-9303-9B59F31F2A21}"/>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04F49E43-1F92-7F21-48F3-4F71A06C0F6E}"/>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16363C-9D78-41F3-8207-AD6A119E1CBF}" type="datetime1">
              <a:rPr kumimoji="1" lang="ja-JP" altLang="en-US" sz="12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l" defTabSz="914400" rtl="0" eaLnBrk="1" fontAlgn="auto" latinLnBrk="0" hangingPunct="1">
                <a:lnSpc>
                  <a:spcPct val="100000"/>
                </a:lnSpc>
                <a:spcBef>
                  <a:spcPts val="0"/>
                </a:spcBef>
                <a:spcAft>
                  <a:spcPts val="0"/>
                </a:spcAft>
                <a:buClrTx/>
                <a:buSzTx/>
                <a:buFontTx/>
                <a:buNone/>
                <a:tabLst/>
                <a:defRPr/>
              </a:pPr>
              <a:t>2026/9/11</a:t>
            </a:fld>
            <a:endParaRPr kumimoji="1" lang="ja-JP" altLang="en-US" sz="12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
        <p:nvSpPr>
          <p:cNvPr id="6" name="フッター プレースホルダー 5">
            <a:extLst>
              <a:ext uri="{FF2B5EF4-FFF2-40B4-BE49-F238E27FC236}">
                <a16:creationId xmlns:a16="http://schemas.microsoft.com/office/drawing/2014/main" id="{C2D44571-733F-8FCC-DF94-E911AF45FD21}"/>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
        <p:nvSpPr>
          <p:cNvPr id="7" name="スライド番号プレースホルダー 6">
            <a:extLst>
              <a:ext uri="{FF2B5EF4-FFF2-40B4-BE49-F238E27FC236}">
                <a16:creationId xmlns:a16="http://schemas.microsoft.com/office/drawing/2014/main" id="{811BA512-F104-3710-4A00-AC409CAEFD9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21938423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A3656F-DCE2-BEFD-1F62-8115E5664517}"/>
              </a:ext>
            </a:extLst>
          </p:cNvPr>
          <p:cNvSpPr>
            <a:spLocks noGrp="1"/>
          </p:cNvSpPr>
          <p:nvPr>
            <p:ph type="title"/>
          </p:nvPr>
        </p:nvSpPr>
        <p:spPr>
          <a:xfrm>
            <a:off x="839788" y="365125"/>
            <a:ext cx="10515600" cy="1325563"/>
          </a:xfrm>
          <a:solidFill>
            <a:schemeClr val="bg1"/>
          </a:solidFill>
          <a:effectLst>
            <a:outerShdw dist="76200" dir="10800000" algn="r" rotWithShape="0">
              <a:schemeClr val="accent1"/>
            </a:outerShdw>
          </a:effectLst>
        </p:spPr>
        <p:txBody>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77C73BF8-1F3E-BC34-A93C-DC647E41C1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6B312F13-385A-CBFC-9384-87A6DC1EA307}"/>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17EAB5F-CB07-BC0C-DAC0-D3716BB5D1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619144B9-15AE-16B1-75F1-25C6F46C279C}"/>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AEC6B774-AD23-1A64-D6C2-583BFCF19876}"/>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119CDEB-4946-4D81-8FE2-87FAF953C881}" type="datetime1">
              <a:rPr kumimoji="1" lang="ja-JP" altLang="en-US" sz="12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l" defTabSz="914400" rtl="0" eaLnBrk="1" fontAlgn="auto" latinLnBrk="0" hangingPunct="1">
                <a:lnSpc>
                  <a:spcPct val="100000"/>
                </a:lnSpc>
                <a:spcBef>
                  <a:spcPts val="0"/>
                </a:spcBef>
                <a:spcAft>
                  <a:spcPts val="0"/>
                </a:spcAft>
                <a:buClrTx/>
                <a:buSzTx/>
                <a:buFontTx/>
                <a:buNone/>
                <a:tabLst/>
                <a:defRPr/>
              </a:pPr>
              <a:t>2026/9/11</a:t>
            </a:fld>
            <a:endParaRPr kumimoji="1" lang="ja-JP" altLang="en-US" sz="12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
        <p:nvSpPr>
          <p:cNvPr id="8" name="フッター プレースホルダー 7">
            <a:extLst>
              <a:ext uri="{FF2B5EF4-FFF2-40B4-BE49-F238E27FC236}">
                <a16:creationId xmlns:a16="http://schemas.microsoft.com/office/drawing/2014/main" id="{6F91683C-E655-3625-82F7-CFE0594E50DF}"/>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
        <p:nvSpPr>
          <p:cNvPr id="9" name="スライド番号プレースホルダー 8">
            <a:extLst>
              <a:ext uri="{FF2B5EF4-FFF2-40B4-BE49-F238E27FC236}">
                <a16:creationId xmlns:a16="http://schemas.microsoft.com/office/drawing/2014/main" id="{CC9F53C4-3D22-4C2B-AB83-FF465678853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18544634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804E3E-8108-29AF-C93E-71DC95CE2C69}"/>
              </a:ext>
            </a:extLst>
          </p:cNvPr>
          <p:cNvSpPr>
            <a:spLocks noGrp="1"/>
          </p:cNvSpPr>
          <p:nvPr>
            <p:ph type="title"/>
          </p:nvPr>
        </p:nvSpPr>
        <p:spPr>
          <a:solidFill>
            <a:schemeClr val="bg1"/>
          </a:solidFill>
          <a:effectLst>
            <a:outerShdw dist="76200" dir="10800000" algn="r" rotWithShape="0">
              <a:schemeClr val="accent1"/>
            </a:outerShdw>
          </a:effectLst>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CC138C6-0940-44F8-C3B4-DFD2A43C641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786EFA9-3E9F-49C1-8073-A67B761261BF}" type="datetime1">
              <a:rPr kumimoji="1" lang="ja-JP" altLang="en-US" sz="12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l" defTabSz="914400" rtl="0" eaLnBrk="1" fontAlgn="auto" latinLnBrk="0" hangingPunct="1">
                <a:lnSpc>
                  <a:spcPct val="100000"/>
                </a:lnSpc>
                <a:spcBef>
                  <a:spcPts val="0"/>
                </a:spcBef>
                <a:spcAft>
                  <a:spcPts val="0"/>
                </a:spcAft>
                <a:buClrTx/>
                <a:buSzTx/>
                <a:buFontTx/>
                <a:buNone/>
                <a:tabLst/>
                <a:defRPr/>
              </a:pPr>
              <a:t>2026/9/11</a:t>
            </a:fld>
            <a:endParaRPr kumimoji="1" lang="ja-JP" altLang="en-US" sz="12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
        <p:nvSpPr>
          <p:cNvPr id="4" name="フッター プレースホルダー 3">
            <a:extLst>
              <a:ext uri="{FF2B5EF4-FFF2-40B4-BE49-F238E27FC236}">
                <a16:creationId xmlns:a16="http://schemas.microsoft.com/office/drawing/2014/main" id="{55EB7E74-4BD6-7101-6E21-696315389018}"/>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
        <p:nvSpPr>
          <p:cNvPr id="5" name="スライド番号プレースホルダー 4">
            <a:extLst>
              <a:ext uri="{FF2B5EF4-FFF2-40B4-BE49-F238E27FC236}">
                <a16:creationId xmlns:a16="http://schemas.microsoft.com/office/drawing/2014/main" id="{B3BC7490-F8AF-3E07-6996-BDB873D0DE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2233791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08C04E9-4F9F-DF38-96BB-9E3FE1B2715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D4B7DCA-7BB8-4080-8123-369C584B0782}" type="datetime1">
              <a:rPr kumimoji="1" lang="ja-JP" altLang="en-US" sz="12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l" defTabSz="914400" rtl="0" eaLnBrk="1" fontAlgn="auto" latinLnBrk="0" hangingPunct="1">
                <a:lnSpc>
                  <a:spcPct val="100000"/>
                </a:lnSpc>
                <a:spcBef>
                  <a:spcPts val="0"/>
                </a:spcBef>
                <a:spcAft>
                  <a:spcPts val="0"/>
                </a:spcAft>
                <a:buClrTx/>
                <a:buSzTx/>
                <a:buFontTx/>
                <a:buNone/>
                <a:tabLst/>
                <a:defRPr/>
              </a:pPr>
              <a:t>2026/9/11</a:t>
            </a:fld>
            <a:endParaRPr kumimoji="1" lang="ja-JP" altLang="en-US" sz="12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
        <p:nvSpPr>
          <p:cNvPr id="3" name="フッター プレースホルダー 2">
            <a:extLst>
              <a:ext uri="{FF2B5EF4-FFF2-40B4-BE49-F238E27FC236}">
                <a16:creationId xmlns:a16="http://schemas.microsoft.com/office/drawing/2014/main" id="{D67FF7DB-7DFA-A010-E560-25D826B59E1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
        <p:nvSpPr>
          <p:cNvPr id="4" name="スライド番号プレースホルダー 3">
            <a:extLst>
              <a:ext uri="{FF2B5EF4-FFF2-40B4-BE49-F238E27FC236}">
                <a16:creationId xmlns:a16="http://schemas.microsoft.com/office/drawing/2014/main" id="{4094895B-78B8-DE2F-BD40-653D0B49661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21469071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499C39-7D1F-51AC-04AA-D859E22305DD}"/>
              </a:ext>
            </a:extLst>
          </p:cNvPr>
          <p:cNvSpPr>
            <a:spLocks noGrp="1"/>
          </p:cNvSpPr>
          <p:nvPr>
            <p:ph type="title"/>
          </p:nvPr>
        </p:nvSpPr>
        <p:spPr>
          <a:xfrm>
            <a:off x="839788" y="457200"/>
            <a:ext cx="3932237" cy="1600200"/>
          </a:xfrm>
          <a:solidFill>
            <a:schemeClr val="bg1"/>
          </a:solidFill>
          <a:effectLst>
            <a:outerShdw dist="76200" dir="10800000" algn="r" rotWithShape="0">
              <a:schemeClr val="accent1"/>
            </a:outerShdw>
          </a:effectLst>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004969F-C10A-4B14-C3B8-577C6A8A7A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F16C86AA-53E5-1ED5-80A2-3A270AF61C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A63F29B-0BF2-6E52-F5F7-CFE148410B33}"/>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B9C3A30-0D6C-4B7D-9127-B2D8A1363410}" type="datetime1">
              <a:rPr kumimoji="1" lang="ja-JP" altLang="en-US" sz="12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l" defTabSz="914400" rtl="0" eaLnBrk="1" fontAlgn="auto" latinLnBrk="0" hangingPunct="1">
                <a:lnSpc>
                  <a:spcPct val="100000"/>
                </a:lnSpc>
                <a:spcBef>
                  <a:spcPts val="0"/>
                </a:spcBef>
                <a:spcAft>
                  <a:spcPts val="0"/>
                </a:spcAft>
                <a:buClrTx/>
                <a:buSzTx/>
                <a:buFontTx/>
                <a:buNone/>
                <a:tabLst/>
                <a:defRPr/>
              </a:pPr>
              <a:t>2026/9/11</a:t>
            </a:fld>
            <a:endParaRPr kumimoji="1" lang="ja-JP" altLang="en-US" sz="12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
        <p:nvSpPr>
          <p:cNvPr id="6" name="フッター プレースホルダー 5">
            <a:extLst>
              <a:ext uri="{FF2B5EF4-FFF2-40B4-BE49-F238E27FC236}">
                <a16:creationId xmlns:a16="http://schemas.microsoft.com/office/drawing/2014/main" id="{BFDBE8DF-6D60-A07F-8D6D-01B2284CE171}"/>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
        <p:nvSpPr>
          <p:cNvPr id="7" name="スライド番号プレースホルダー 6">
            <a:extLst>
              <a:ext uri="{FF2B5EF4-FFF2-40B4-BE49-F238E27FC236}">
                <a16:creationId xmlns:a16="http://schemas.microsoft.com/office/drawing/2014/main" id="{0E9EEE9D-FC76-FE25-51E7-F7A53AE4B8F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10473724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348E24-01F0-4D07-03C1-8984923D722A}"/>
              </a:ext>
            </a:extLst>
          </p:cNvPr>
          <p:cNvSpPr>
            <a:spLocks noGrp="1"/>
          </p:cNvSpPr>
          <p:nvPr>
            <p:ph type="title"/>
          </p:nvPr>
        </p:nvSpPr>
        <p:spPr>
          <a:xfrm>
            <a:off x="839788" y="457200"/>
            <a:ext cx="3932237" cy="1600200"/>
          </a:xfrm>
          <a:solidFill>
            <a:schemeClr val="bg1"/>
          </a:solidFill>
          <a:effectLst>
            <a:outerShdw dist="76200" dir="10800000" algn="r" rotWithShape="0">
              <a:schemeClr val="accent1"/>
            </a:outerShdw>
          </a:effectLst>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2C680FEE-490A-2C02-157B-4EED4D221F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673F53A3-C89E-4E3A-17DD-A66D1814DF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07B1C43-7750-E73D-0490-A1EFAC2157AC}"/>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0A6260-AB75-4A71-8DA0-1FDDB8E63624}" type="datetime1">
              <a:rPr kumimoji="1" lang="ja-JP" altLang="en-US" sz="12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l" defTabSz="914400" rtl="0" eaLnBrk="1" fontAlgn="auto" latinLnBrk="0" hangingPunct="1">
                <a:lnSpc>
                  <a:spcPct val="100000"/>
                </a:lnSpc>
                <a:spcBef>
                  <a:spcPts val="0"/>
                </a:spcBef>
                <a:spcAft>
                  <a:spcPts val="0"/>
                </a:spcAft>
                <a:buClrTx/>
                <a:buSzTx/>
                <a:buFontTx/>
                <a:buNone/>
                <a:tabLst/>
                <a:defRPr/>
              </a:pPr>
              <a:t>2026/9/11</a:t>
            </a:fld>
            <a:endParaRPr kumimoji="1" lang="ja-JP" altLang="en-US" sz="12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
        <p:nvSpPr>
          <p:cNvPr id="6" name="フッター プレースホルダー 5">
            <a:extLst>
              <a:ext uri="{FF2B5EF4-FFF2-40B4-BE49-F238E27FC236}">
                <a16:creationId xmlns:a16="http://schemas.microsoft.com/office/drawing/2014/main" id="{161E4960-DF52-D53E-BB35-1F9B218B8CF9}"/>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
        <p:nvSpPr>
          <p:cNvPr id="7" name="スライド番号プレースホルダー 6">
            <a:extLst>
              <a:ext uri="{FF2B5EF4-FFF2-40B4-BE49-F238E27FC236}">
                <a16:creationId xmlns:a16="http://schemas.microsoft.com/office/drawing/2014/main" id="{6AA1D55B-7666-C388-D7E9-152D9D81B42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3334481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0DF33C-14FD-B6DF-6C6C-C3414F5A9069}"/>
              </a:ext>
            </a:extLst>
          </p:cNvPr>
          <p:cNvSpPr>
            <a:spLocks noGrp="1"/>
          </p:cNvSpPr>
          <p:nvPr>
            <p:ph type="title"/>
          </p:nvPr>
        </p:nvSpPr>
        <p:spPr>
          <a:solidFill>
            <a:schemeClr val="bg1"/>
          </a:solidFill>
          <a:effectLst>
            <a:outerShdw dist="76200" dir="10800000" algn="r" rotWithShape="0">
              <a:schemeClr val="accent1"/>
            </a:outerShdw>
          </a:effectLst>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61456D5-9B36-CAB5-D76D-A218D7B82134}"/>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1D1E3A4-6AC9-F969-7919-C379F091DCE5}"/>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454480B-EAAA-4E1E-9202-5D9A41CC3C6D}" type="datetime1">
              <a:rPr kumimoji="1" lang="ja-JP" altLang="en-US" sz="12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l" defTabSz="914400" rtl="0" eaLnBrk="1" fontAlgn="auto" latinLnBrk="0" hangingPunct="1">
                <a:lnSpc>
                  <a:spcPct val="100000"/>
                </a:lnSpc>
                <a:spcBef>
                  <a:spcPts val="0"/>
                </a:spcBef>
                <a:spcAft>
                  <a:spcPts val="0"/>
                </a:spcAft>
                <a:buClrTx/>
                <a:buSzTx/>
                <a:buFontTx/>
                <a:buNone/>
                <a:tabLst/>
                <a:defRPr/>
              </a:pPr>
              <a:t>2026/9/11</a:t>
            </a:fld>
            <a:endParaRPr kumimoji="1" lang="ja-JP" altLang="en-US" sz="12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
        <p:nvSpPr>
          <p:cNvPr id="5" name="フッター プレースホルダー 4">
            <a:extLst>
              <a:ext uri="{FF2B5EF4-FFF2-40B4-BE49-F238E27FC236}">
                <a16:creationId xmlns:a16="http://schemas.microsoft.com/office/drawing/2014/main" id="{40B98C9D-00E9-8FA6-9C26-6A8DDF84E98C}"/>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
        <p:nvSpPr>
          <p:cNvPr id="6" name="スライド番号プレースホルダー 5">
            <a:extLst>
              <a:ext uri="{FF2B5EF4-FFF2-40B4-BE49-F238E27FC236}">
                <a16:creationId xmlns:a16="http://schemas.microsoft.com/office/drawing/2014/main" id="{C87E8188-C49A-6AD6-D6BF-A80B644BB25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4160534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76C62227-8325-B8BF-BA2A-0EE43DDA65E2}"/>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4A91C17-06AB-24EB-9889-AA87CB89C2E9}"/>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1CB3F40-FD77-C815-947E-24C0795B535D}"/>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34B5F83-F286-43C2-98D7-C5C3EAD21C93}" type="datetime1">
              <a:rPr kumimoji="1" lang="ja-JP" altLang="en-US" sz="12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l" defTabSz="914400" rtl="0" eaLnBrk="1" fontAlgn="auto" latinLnBrk="0" hangingPunct="1">
                <a:lnSpc>
                  <a:spcPct val="100000"/>
                </a:lnSpc>
                <a:spcBef>
                  <a:spcPts val="0"/>
                </a:spcBef>
                <a:spcAft>
                  <a:spcPts val="0"/>
                </a:spcAft>
                <a:buClrTx/>
                <a:buSzTx/>
                <a:buFontTx/>
                <a:buNone/>
                <a:tabLst/>
                <a:defRPr/>
              </a:pPr>
              <a:t>2026/9/11</a:t>
            </a:fld>
            <a:endParaRPr kumimoji="1" lang="ja-JP" altLang="en-US" sz="12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
        <p:nvSpPr>
          <p:cNvPr id="5" name="フッター プレースホルダー 4">
            <a:extLst>
              <a:ext uri="{FF2B5EF4-FFF2-40B4-BE49-F238E27FC236}">
                <a16:creationId xmlns:a16="http://schemas.microsoft.com/office/drawing/2014/main" id="{F739DECB-E395-AB25-5CCA-F18B1AC8BD8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
        <p:nvSpPr>
          <p:cNvPr id="6" name="スライド番号プレースホルダー 5">
            <a:extLst>
              <a:ext uri="{FF2B5EF4-FFF2-40B4-BE49-F238E27FC236}">
                <a16:creationId xmlns:a16="http://schemas.microsoft.com/office/drawing/2014/main" id="{BD509ED8-8D51-20FF-3377-93C353A62E0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1462487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7E5C3E9-83AF-8F05-2001-1FDFC62ECA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8F83B08B-4E81-72F9-D7D4-8B004E418C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DAA2597-33F2-4054-DF05-2FD7E7EB437C}"/>
              </a:ext>
            </a:extLst>
          </p:cNvPr>
          <p:cNvSpPr>
            <a:spLocks noGrp="1"/>
          </p:cNvSpPr>
          <p:nvPr>
            <p:ph type="dt" sz="half" idx="2"/>
          </p:nvPr>
        </p:nvSpPr>
        <p:spPr>
          <a:xfrm>
            <a:off x="0" y="6351657"/>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175FABA-575F-4B57-ACD6-1D731505B5C3}" type="datetime1">
              <a:rPr kumimoji="1" lang="ja-JP" altLang="en-US" sz="12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l" defTabSz="914400" rtl="0" eaLnBrk="1" fontAlgn="auto" latinLnBrk="0" hangingPunct="1">
                <a:lnSpc>
                  <a:spcPct val="100000"/>
                </a:lnSpc>
                <a:spcBef>
                  <a:spcPts val="0"/>
                </a:spcBef>
                <a:spcAft>
                  <a:spcPts val="0"/>
                </a:spcAft>
                <a:buClrTx/>
                <a:buSzTx/>
                <a:buFontTx/>
                <a:buNone/>
                <a:tabLst/>
                <a:defRPr/>
              </a:pPr>
              <a:t>2026/9/11</a:t>
            </a:fld>
            <a:endParaRPr kumimoji="1" lang="ja-JP" altLang="en-US" sz="12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
        <p:nvSpPr>
          <p:cNvPr id="5" name="フッター プレースホルダー 4">
            <a:extLst>
              <a:ext uri="{FF2B5EF4-FFF2-40B4-BE49-F238E27FC236}">
                <a16:creationId xmlns:a16="http://schemas.microsoft.com/office/drawing/2014/main" id="{3492D8D3-667C-6102-DFC3-53933DC7D6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
        <p:nvSpPr>
          <p:cNvPr id="6" name="スライド番号プレースホルダー 5">
            <a:extLst>
              <a:ext uri="{FF2B5EF4-FFF2-40B4-BE49-F238E27FC236}">
                <a16:creationId xmlns:a16="http://schemas.microsoft.com/office/drawing/2014/main" id="{99F47507-29B2-1BB9-2FED-D5FC6BC59DF7}"/>
              </a:ext>
            </a:extLst>
          </p:cNvPr>
          <p:cNvSpPr>
            <a:spLocks noGrp="1"/>
          </p:cNvSpPr>
          <p:nvPr>
            <p:ph type="sldNum" sz="quarter" idx="4"/>
          </p:nvPr>
        </p:nvSpPr>
        <p:spPr>
          <a:xfrm>
            <a:off x="9448800" y="6356350"/>
            <a:ext cx="2743200" cy="365125"/>
          </a:xfrm>
          <a:prstGeom prst="rect">
            <a:avLst/>
          </a:prstGeom>
        </p:spPr>
        <p:txBody>
          <a:bodyPr vert="horz" lIns="91440" tIns="45720" rIns="91440" bIns="45720" rtlCol="0" anchor="ctr"/>
          <a:lstStyle>
            <a:lvl1pPr algn="r">
              <a:defRPr sz="2000">
                <a:solidFill>
                  <a:schemeClr val="tx1">
                    <a:tint val="82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19877668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kumimoji="1" sz="44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7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7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E2766D7-F63A-E795-666B-E8C65D5569F5}"/>
              </a:ext>
            </a:extLst>
          </p:cNvPr>
          <p:cNvSpPr>
            <a:spLocks noGrp="1"/>
          </p:cNvSpPr>
          <p:nvPr>
            <p:ph type="ctrTitle"/>
          </p:nvPr>
        </p:nvSpPr>
        <p:spPr/>
        <p:txBody>
          <a:bodyPr/>
          <a:lstStyle/>
          <a:p>
            <a:r>
              <a:rPr lang="ja-JP" altLang="en-US" dirty="0">
                <a:solidFill>
                  <a:schemeClr val="tx1"/>
                </a:solidFill>
              </a:rPr>
              <a:t>進捗報告 </a:t>
            </a:r>
            <a:r>
              <a:rPr lang="en-US" altLang="ja-JP" dirty="0">
                <a:solidFill>
                  <a:schemeClr val="tx1"/>
                </a:solidFill>
              </a:rPr>
              <a:t>04/09</a:t>
            </a:r>
            <a:endParaRPr kumimoji="1" lang="ja-JP" altLang="en-US" dirty="0">
              <a:solidFill>
                <a:schemeClr val="tx1"/>
              </a:solidFill>
            </a:endParaRPr>
          </a:p>
        </p:txBody>
      </p:sp>
      <p:sp>
        <p:nvSpPr>
          <p:cNvPr id="3" name="字幕 2">
            <a:extLst>
              <a:ext uri="{FF2B5EF4-FFF2-40B4-BE49-F238E27FC236}">
                <a16:creationId xmlns:a16="http://schemas.microsoft.com/office/drawing/2014/main" id="{657E447C-C9F5-BF87-9165-CFECF7B5C5C9}"/>
              </a:ext>
            </a:extLst>
          </p:cNvPr>
          <p:cNvSpPr>
            <a:spLocks noGrp="1"/>
          </p:cNvSpPr>
          <p:nvPr>
            <p:ph type="subTitle" idx="1"/>
          </p:nvPr>
        </p:nvSpPr>
        <p:spPr/>
        <p:txBody>
          <a:bodyPr/>
          <a:lstStyle/>
          <a:p>
            <a:r>
              <a:rPr lang="en-US" altLang="ja-JP" dirty="0"/>
              <a:t>B4</a:t>
            </a:r>
            <a:r>
              <a:rPr lang="ja-JP" altLang="en-US" dirty="0"/>
              <a:t>　福島幸弥</a:t>
            </a:r>
            <a:endParaRPr kumimoji="1" lang="ja-JP" altLang="en-US" dirty="0"/>
          </a:p>
        </p:txBody>
      </p:sp>
    </p:spTree>
    <p:extLst>
      <p:ext uri="{BB962C8B-B14F-4D97-AF65-F5344CB8AC3E}">
        <p14:creationId xmlns:p14="http://schemas.microsoft.com/office/powerpoint/2010/main" val="213120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6C83C49-D01A-C780-9C28-8853ECB20F68}"/>
              </a:ext>
            </a:extLst>
          </p:cNvPr>
          <p:cNvSpPr>
            <a:spLocks noGrp="1"/>
          </p:cNvSpPr>
          <p:nvPr>
            <p:ph type="title"/>
          </p:nvPr>
        </p:nvSpPr>
        <p:spPr/>
        <p:txBody>
          <a:bodyPr/>
          <a:lstStyle/>
          <a:p>
            <a:r>
              <a:rPr kumimoji="1" lang="ja-JP" altLang="en-US" dirty="0"/>
              <a:t>やったこと</a:t>
            </a:r>
          </a:p>
        </p:txBody>
      </p:sp>
      <p:sp>
        <p:nvSpPr>
          <p:cNvPr id="3" name="コンテンツ プレースホルダー 2">
            <a:extLst>
              <a:ext uri="{FF2B5EF4-FFF2-40B4-BE49-F238E27FC236}">
                <a16:creationId xmlns:a16="http://schemas.microsoft.com/office/drawing/2014/main" id="{28DB1EC5-B28D-D053-08C8-34689FF486A8}"/>
              </a:ext>
            </a:extLst>
          </p:cNvPr>
          <p:cNvSpPr>
            <a:spLocks noGrp="1"/>
          </p:cNvSpPr>
          <p:nvPr>
            <p:ph idx="1"/>
          </p:nvPr>
        </p:nvSpPr>
        <p:spPr/>
        <p:txBody>
          <a:bodyPr>
            <a:normAutofit/>
          </a:bodyPr>
          <a:lstStyle/>
          <a:p>
            <a:r>
              <a:rPr kumimoji="1" lang="en-US" altLang="ja-JP" sz="3600" dirty="0" err="1"/>
              <a:t>Matlab</a:t>
            </a:r>
            <a:r>
              <a:rPr kumimoji="1" lang="ja-JP" altLang="en-US" sz="3600" dirty="0"/>
              <a:t>コードの読み取り</a:t>
            </a:r>
            <a:endParaRPr kumimoji="1" lang="en-US" altLang="ja-JP" sz="3600" dirty="0"/>
          </a:p>
          <a:p>
            <a:endParaRPr lang="en-US" altLang="ja-JP" sz="3600" dirty="0"/>
          </a:p>
          <a:p>
            <a:r>
              <a:rPr lang="ja-JP" altLang="en-US" sz="3600" dirty="0"/>
              <a:t>一般的な</a:t>
            </a:r>
            <a:r>
              <a:rPr kumimoji="1" lang="en-US" altLang="ja-JP" sz="3600" dirty="0"/>
              <a:t>PLL</a:t>
            </a:r>
            <a:r>
              <a:rPr kumimoji="1" lang="ja-JP" altLang="en-US" sz="3600" dirty="0"/>
              <a:t>と</a:t>
            </a:r>
            <a:r>
              <a:rPr kumimoji="1" lang="en-US" altLang="ja-JP" sz="3600" dirty="0"/>
              <a:t>Dual-Feedback</a:t>
            </a:r>
            <a:r>
              <a:rPr kumimoji="1" lang="ja-JP" altLang="en-US" sz="3600" dirty="0"/>
              <a:t>型</a:t>
            </a:r>
            <a:r>
              <a:rPr kumimoji="1" lang="en-US" altLang="ja-JP" sz="3600" dirty="0"/>
              <a:t>PLL</a:t>
            </a:r>
            <a:r>
              <a:rPr kumimoji="1" lang="ja-JP" altLang="en-US" sz="3600" dirty="0"/>
              <a:t>における</a:t>
            </a:r>
            <a:br>
              <a:rPr kumimoji="1" lang="en-US" altLang="ja-JP" sz="3600" dirty="0"/>
            </a:br>
            <a:r>
              <a:rPr kumimoji="1" lang="ja-JP" altLang="en-US" sz="3600" dirty="0"/>
              <a:t>ノイズ発生の違い</a:t>
            </a:r>
          </a:p>
        </p:txBody>
      </p:sp>
      <p:sp>
        <p:nvSpPr>
          <p:cNvPr id="4" name="スライド番号プレースホルダー 3">
            <a:extLst>
              <a:ext uri="{FF2B5EF4-FFF2-40B4-BE49-F238E27FC236}">
                <a16:creationId xmlns:a16="http://schemas.microsoft.com/office/drawing/2014/main" id="{8B7B0D8A-B380-0366-E796-4B2B5E69D31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654010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225BD59-528E-A0FA-4E46-0EEEDEE9C252}"/>
              </a:ext>
            </a:extLst>
          </p:cNvPr>
          <p:cNvSpPr>
            <a:spLocks noGrp="1"/>
          </p:cNvSpPr>
          <p:nvPr>
            <p:ph type="title"/>
          </p:nvPr>
        </p:nvSpPr>
        <p:spPr/>
        <p:txBody>
          <a:bodyPr/>
          <a:lstStyle/>
          <a:p>
            <a:r>
              <a:rPr kumimoji="1" lang="ja-JP" altLang="en-US" dirty="0"/>
              <a:t>従来型</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A07F755B-C778-7240-B012-E674E13D52D9}"/>
                  </a:ext>
                </a:extLst>
              </p:cNvPr>
              <p:cNvSpPr>
                <a:spLocks noGrp="1"/>
              </p:cNvSpPr>
              <p:nvPr>
                <p:ph idx="1"/>
              </p:nvPr>
            </p:nvSpPr>
            <p:spPr/>
            <p:txBody>
              <a:bodyPr/>
              <a:lstStyle/>
              <a:p>
                <a:r>
                  <a:rPr lang="ja-JP" altLang="en-US" dirty="0"/>
                  <a:t>低周波ノイズは一定程度に</a:t>
                </a:r>
                <a:br>
                  <a:rPr lang="en-US" altLang="ja-JP" dirty="0"/>
                </a:br>
                <a:r>
                  <a:rPr lang="ja-JP" altLang="en-US" dirty="0"/>
                  <a:t>抑えられている</a:t>
                </a:r>
                <a:endParaRPr lang="en-US" altLang="ja-JP" dirty="0"/>
              </a:p>
              <a:p>
                <a:endParaRPr lang="en-US" altLang="ja-JP" dirty="0"/>
              </a:p>
              <a:p>
                <a:r>
                  <a:rPr lang="ja-JP" altLang="en-US" dirty="0"/>
                  <a:t>高周波では量子化ノイズの</a:t>
                </a:r>
                <a:br>
                  <a:rPr lang="en-US" altLang="ja-JP" dirty="0"/>
                </a:br>
                <a:r>
                  <a:rPr lang="ja-JP" altLang="en-US" dirty="0"/>
                  <a:t>影響が大きい</a:t>
                </a:r>
                <a:endParaRPr lang="en-US" altLang="ja-JP" dirty="0"/>
              </a:p>
              <a:p>
                <a:endParaRPr lang="en-US" altLang="ja-JP" dirty="0"/>
              </a:p>
              <a:p>
                <a14:m>
                  <m:oMath xmlns:m="http://schemas.openxmlformats.org/officeDocument/2006/math">
                    <m:sSub>
                      <m:sSubPr>
                        <m:ctrlPr>
                          <a:rPr lang="ja-JP" altLang="en-US" i="1" smtClean="0">
                            <a:latin typeface="Cambria Math" panose="02040503050406030204" pitchFamily="18" charset="0"/>
                          </a:rPr>
                        </m:ctrlPr>
                      </m:sSubPr>
                      <m:e>
                        <m:r>
                          <a:rPr lang="ja-JP" altLang="en-US" i="1" smtClean="0">
                            <a:latin typeface="Cambria Math" panose="02040503050406030204" pitchFamily="18" charset="0"/>
                          </a:rPr>
                          <m:t>𝜔</m:t>
                        </m:r>
                      </m:e>
                      <m:sub>
                        <m:r>
                          <a:rPr lang="en-US" altLang="ja-JP" b="0" i="1" smtClean="0">
                            <a:latin typeface="Cambria Math" panose="02040503050406030204" pitchFamily="18" charset="0"/>
                          </a:rPr>
                          <m:t>𝑐</m:t>
                        </m:r>
                      </m:sub>
                    </m:sSub>
                  </m:oMath>
                </a14:m>
                <a:r>
                  <a:rPr lang="ja-JP" altLang="en-US" dirty="0"/>
                  <a:t>を下げると</a:t>
                </a:r>
                <a:r>
                  <a:rPr lang="en-US" altLang="ja-JP" dirty="0"/>
                  <a:t>VCO</a:t>
                </a:r>
                <a:r>
                  <a:rPr lang="ja-JP" altLang="en-US" dirty="0"/>
                  <a:t>ノイズが</a:t>
                </a:r>
                <a:br>
                  <a:rPr lang="en-US" altLang="ja-JP" dirty="0"/>
                </a:br>
                <a:r>
                  <a:rPr lang="ja-JP" altLang="en-US" dirty="0"/>
                  <a:t>増幅するため、トレードオフ</a:t>
                </a:r>
                <a:br>
                  <a:rPr lang="en-US" altLang="ja-JP" dirty="0"/>
                </a:br>
                <a:endParaRPr kumimoji="1" lang="ja-JP" altLang="en-US" dirty="0"/>
              </a:p>
            </p:txBody>
          </p:sp>
        </mc:Choice>
        <mc:Fallback xmlns="">
          <p:sp>
            <p:nvSpPr>
              <p:cNvPr id="3" name="コンテンツ プレースホルダー 2">
                <a:extLst>
                  <a:ext uri="{FF2B5EF4-FFF2-40B4-BE49-F238E27FC236}">
                    <a16:creationId xmlns:a16="http://schemas.microsoft.com/office/drawing/2014/main" id="{A07F755B-C778-7240-B012-E674E13D52D9}"/>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AF87B73E-43D0-C0CA-F7D4-AE233B78566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pic>
        <p:nvPicPr>
          <p:cNvPr id="8" name="図 7">
            <a:extLst>
              <a:ext uri="{FF2B5EF4-FFF2-40B4-BE49-F238E27FC236}">
                <a16:creationId xmlns:a16="http://schemas.microsoft.com/office/drawing/2014/main" id="{0235CAA3-DF69-63B4-8978-56C644962B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85328" y="1378772"/>
            <a:ext cx="6206672" cy="4655004"/>
          </a:xfrm>
          <a:prstGeom prst="rect">
            <a:avLst/>
          </a:prstGeom>
        </p:spPr>
      </p:pic>
    </p:spTree>
    <p:extLst>
      <p:ext uri="{BB962C8B-B14F-4D97-AF65-F5344CB8AC3E}">
        <p14:creationId xmlns:p14="http://schemas.microsoft.com/office/powerpoint/2010/main" val="1429878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A676C-7810-824F-3A18-7ACD12DDA65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7C0AE2A-B254-BB87-B3E9-FA1A7136C2CA}"/>
              </a:ext>
            </a:extLst>
          </p:cNvPr>
          <p:cNvSpPr>
            <a:spLocks noGrp="1"/>
          </p:cNvSpPr>
          <p:nvPr>
            <p:ph type="title"/>
          </p:nvPr>
        </p:nvSpPr>
        <p:spPr/>
        <p:txBody>
          <a:bodyPr/>
          <a:lstStyle/>
          <a:p>
            <a:r>
              <a:rPr lang="en-US" altLang="ja-JP" dirty="0"/>
              <a:t>Dual-Feedback</a:t>
            </a:r>
            <a:r>
              <a:rPr kumimoji="1" lang="ja-JP" altLang="en-US" dirty="0"/>
              <a:t>型①</a:t>
            </a:r>
          </a:p>
        </p:txBody>
      </p:sp>
      <p:sp>
        <p:nvSpPr>
          <p:cNvPr id="3" name="コンテンツ プレースホルダー 2">
            <a:extLst>
              <a:ext uri="{FF2B5EF4-FFF2-40B4-BE49-F238E27FC236}">
                <a16:creationId xmlns:a16="http://schemas.microsoft.com/office/drawing/2014/main" id="{4730DC1C-E969-F5AA-EC1D-791C7AB41105}"/>
              </a:ext>
            </a:extLst>
          </p:cNvPr>
          <p:cNvSpPr>
            <a:spLocks noGrp="1"/>
          </p:cNvSpPr>
          <p:nvPr>
            <p:ph idx="1"/>
          </p:nvPr>
        </p:nvSpPr>
        <p:spPr/>
        <p:txBody>
          <a:bodyPr/>
          <a:lstStyle/>
          <a:p>
            <a:r>
              <a:rPr lang="en-US" altLang="ja-JP" dirty="0"/>
              <a:t>Integer</a:t>
            </a:r>
            <a:r>
              <a:rPr lang="ja-JP" altLang="en-US" dirty="0"/>
              <a:t>ループと</a:t>
            </a:r>
            <a:r>
              <a:rPr lang="en-US" altLang="ja-JP" dirty="0"/>
              <a:t>Main</a:t>
            </a:r>
            <a:r>
              <a:rPr lang="ja-JP" altLang="en-US" dirty="0"/>
              <a:t>ループ</a:t>
            </a:r>
            <a:br>
              <a:rPr lang="en-US" altLang="ja-JP" dirty="0"/>
            </a:br>
            <a:r>
              <a:rPr lang="ja-JP" altLang="en-US" dirty="0"/>
              <a:t>各々のフィルタ特性</a:t>
            </a:r>
            <a:endParaRPr lang="en-US" altLang="ja-JP" dirty="0"/>
          </a:p>
          <a:p>
            <a:endParaRPr lang="en-US" altLang="ja-JP" dirty="0"/>
          </a:p>
          <a:p>
            <a:r>
              <a:rPr lang="en-US" altLang="ja-JP" dirty="0"/>
              <a:t>Integer</a:t>
            </a:r>
            <a:r>
              <a:rPr lang="ja-JP" altLang="en-US" dirty="0"/>
              <a:t>は広い</a:t>
            </a:r>
            <a:r>
              <a:rPr lang="en-US" altLang="ja-JP" dirty="0"/>
              <a:t>LPF</a:t>
            </a:r>
            <a:r>
              <a:rPr lang="ja-JP" altLang="en-US" dirty="0"/>
              <a:t>特性、</a:t>
            </a:r>
            <a:br>
              <a:rPr lang="en-US" altLang="ja-JP" dirty="0"/>
            </a:br>
            <a:r>
              <a:rPr lang="en-US" altLang="ja-JP" dirty="0"/>
              <a:t>Main</a:t>
            </a:r>
            <a:r>
              <a:rPr lang="ja-JP" altLang="en-US" dirty="0"/>
              <a:t>は急峻な</a:t>
            </a:r>
            <a:r>
              <a:rPr lang="en-US" altLang="ja-JP" dirty="0"/>
              <a:t>LPF</a:t>
            </a:r>
            <a:r>
              <a:rPr lang="ja-JP" altLang="en-US" dirty="0"/>
              <a:t>特性</a:t>
            </a:r>
            <a:endParaRPr lang="en-US" altLang="ja-JP" dirty="0"/>
          </a:p>
          <a:p>
            <a:endParaRPr lang="en-US" altLang="ja-JP" dirty="0"/>
          </a:p>
          <a:p>
            <a:r>
              <a:rPr lang="ja-JP" altLang="en-US" dirty="0"/>
              <a:t>高周波の</a:t>
            </a:r>
            <a:r>
              <a:rPr lang="en-US" altLang="ja-JP" dirty="0"/>
              <a:t>DSM</a:t>
            </a:r>
            <a:r>
              <a:rPr lang="ja-JP" altLang="en-US" dirty="0"/>
              <a:t>ノイズを</a:t>
            </a:r>
            <a:br>
              <a:rPr lang="en-US" altLang="ja-JP" dirty="0"/>
            </a:br>
            <a:r>
              <a:rPr lang="en-US" altLang="ja-JP" dirty="0"/>
              <a:t>Main</a:t>
            </a:r>
            <a:r>
              <a:rPr lang="ja-JP" altLang="en-US" dirty="0"/>
              <a:t>のフィルタでカット可能</a:t>
            </a:r>
            <a:br>
              <a:rPr lang="en-US" altLang="ja-JP" dirty="0"/>
            </a:br>
            <a:endParaRPr kumimoji="1" lang="ja-JP" altLang="en-US" dirty="0"/>
          </a:p>
        </p:txBody>
      </p:sp>
      <p:sp>
        <p:nvSpPr>
          <p:cNvPr id="4" name="スライド番号プレースホルダー 3">
            <a:extLst>
              <a:ext uri="{FF2B5EF4-FFF2-40B4-BE49-F238E27FC236}">
                <a16:creationId xmlns:a16="http://schemas.microsoft.com/office/drawing/2014/main" id="{7710CBA4-3599-19B8-D356-D8825F9A942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pic>
        <p:nvPicPr>
          <p:cNvPr id="8" name="図 7">
            <a:extLst>
              <a:ext uri="{FF2B5EF4-FFF2-40B4-BE49-F238E27FC236}">
                <a16:creationId xmlns:a16="http://schemas.microsoft.com/office/drawing/2014/main" id="{DFDDB8AA-ACC3-165A-1F33-949A52324CE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985328" y="1378772"/>
            <a:ext cx="6206672" cy="4655004"/>
          </a:xfrm>
          <a:prstGeom prst="rect">
            <a:avLst/>
          </a:prstGeom>
        </p:spPr>
      </p:pic>
    </p:spTree>
    <p:extLst>
      <p:ext uri="{BB962C8B-B14F-4D97-AF65-F5344CB8AC3E}">
        <p14:creationId xmlns:p14="http://schemas.microsoft.com/office/powerpoint/2010/main" val="2186242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5807E-8392-563B-0DDD-3A874442600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838F58D-1AD7-6ADF-A591-F30885B940E6}"/>
              </a:ext>
            </a:extLst>
          </p:cNvPr>
          <p:cNvSpPr>
            <a:spLocks noGrp="1"/>
          </p:cNvSpPr>
          <p:nvPr>
            <p:ph type="title"/>
          </p:nvPr>
        </p:nvSpPr>
        <p:spPr/>
        <p:txBody>
          <a:bodyPr/>
          <a:lstStyle/>
          <a:p>
            <a:r>
              <a:rPr lang="en-US" altLang="ja-JP" dirty="0"/>
              <a:t>Dual-Feedback</a:t>
            </a:r>
            <a:r>
              <a:rPr kumimoji="1" lang="ja-JP" altLang="en-US" dirty="0"/>
              <a:t>型②</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AF220EF8-6842-1009-1874-7013CCC3BE78}"/>
                  </a:ext>
                </a:extLst>
              </p:cNvPr>
              <p:cNvSpPr>
                <a:spLocks noGrp="1"/>
              </p:cNvSpPr>
              <p:nvPr>
                <p:ph idx="1"/>
              </p:nvPr>
            </p:nvSpPr>
            <p:spPr/>
            <p:txBody>
              <a:bodyPr/>
              <a:lstStyle/>
              <a:p>
                <a:r>
                  <a:rPr lang="en-US" altLang="ja-JP" dirty="0"/>
                  <a:t>Integer</a:t>
                </a:r>
                <a:r>
                  <a:rPr lang="ja-JP" altLang="en-US" dirty="0"/>
                  <a:t>ループのフィルタ特性</a:t>
                </a:r>
                <a:endParaRPr lang="en-US" altLang="ja-JP" dirty="0"/>
              </a:p>
              <a:p>
                <a:endParaRPr lang="en-US" altLang="ja-JP" dirty="0"/>
              </a:p>
              <a:p>
                <a:r>
                  <a:rPr lang="en-US" altLang="ja-JP" dirty="0"/>
                  <a:t>High pass</a:t>
                </a:r>
                <a:r>
                  <a:rPr lang="ja-JP" altLang="en-US" dirty="0"/>
                  <a:t>と</a:t>
                </a:r>
                <a:r>
                  <a:rPr lang="en-US" altLang="ja-JP" dirty="0"/>
                  <a:t>Low pass</a:t>
                </a:r>
                <a:r>
                  <a:rPr lang="ja-JP" altLang="en-US" dirty="0"/>
                  <a:t>が</a:t>
                </a:r>
                <a:br>
                  <a:rPr lang="en-US" altLang="ja-JP" dirty="0"/>
                </a:br>
                <a:r>
                  <a:rPr lang="ja-JP" altLang="en-US" dirty="0"/>
                  <a:t>交差するような形</a:t>
                </a:r>
                <a:endParaRPr lang="en-US" altLang="ja-JP" dirty="0"/>
              </a:p>
              <a:p>
                <a:endParaRPr lang="en-US" altLang="ja-JP" dirty="0"/>
              </a:p>
              <a:p>
                <a:r>
                  <a:rPr lang="ja-JP" altLang="en-US" dirty="0"/>
                  <a:t>この段では</a:t>
                </a:r>
                <a:r>
                  <a:rPr lang="en-US" altLang="ja-JP" dirty="0"/>
                  <a:t>DSM</a:t>
                </a:r>
                <a:r>
                  <a:rPr lang="ja-JP" altLang="en-US" dirty="0"/>
                  <a:t>が存在しない</a:t>
                </a:r>
                <a:br>
                  <a:rPr lang="en-US" altLang="ja-JP" dirty="0"/>
                </a:br>
                <a:r>
                  <a:rPr lang="ja-JP" altLang="en-US" dirty="0"/>
                  <a:t>→</a:t>
                </a:r>
                <a14:m>
                  <m:oMath xmlns:m="http://schemas.openxmlformats.org/officeDocument/2006/math">
                    <m:sSub>
                      <m:sSubPr>
                        <m:ctrlPr>
                          <a:rPr lang="ja-JP" altLang="en-US" i="1">
                            <a:latin typeface="Cambria Math" panose="02040503050406030204" pitchFamily="18" charset="0"/>
                          </a:rPr>
                        </m:ctrlPr>
                      </m:sSubPr>
                      <m:e>
                        <m:r>
                          <a:rPr lang="ja-JP" altLang="en-US" i="1">
                            <a:latin typeface="Cambria Math" panose="02040503050406030204" pitchFamily="18" charset="0"/>
                          </a:rPr>
                          <m:t>𝜔</m:t>
                        </m:r>
                      </m:e>
                      <m:sub>
                        <m:r>
                          <a:rPr lang="en-US" altLang="ja-JP" i="1">
                            <a:latin typeface="Cambria Math" panose="02040503050406030204" pitchFamily="18" charset="0"/>
                          </a:rPr>
                          <m:t>𝑐</m:t>
                        </m:r>
                      </m:sub>
                    </m:sSub>
                  </m:oMath>
                </a14:m>
                <a:r>
                  <a:rPr lang="ja-JP" altLang="en-US" dirty="0"/>
                  <a:t>を高く設定できる</a:t>
                </a:r>
                <a:br>
                  <a:rPr lang="en-US" altLang="ja-JP" dirty="0"/>
                </a:br>
                <a:endParaRPr kumimoji="1" lang="ja-JP" altLang="en-US" dirty="0"/>
              </a:p>
            </p:txBody>
          </p:sp>
        </mc:Choice>
        <mc:Fallback xmlns="">
          <p:sp>
            <p:nvSpPr>
              <p:cNvPr id="3" name="コンテンツ プレースホルダー 2">
                <a:extLst>
                  <a:ext uri="{FF2B5EF4-FFF2-40B4-BE49-F238E27FC236}">
                    <a16:creationId xmlns:a16="http://schemas.microsoft.com/office/drawing/2014/main" id="{AF220EF8-6842-1009-1874-7013CCC3BE78}"/>
                  </a:ext>
                </a:extLst>
              </p:cNvPr>
              <p:cNvSpPr>
                <a:spLocks noGrp="1" noRot="1" noChangeAspect="1" noMove="1" noResize="1" noEditPoints="1" noAdjustHandles="1" noChangeArrowheads="1" noChangeShapeType="1" noTextEdit="1"/>
              </p:cNvSpPr>
              <p:nvPr>
                <p:ph idx="1"/>
              </p:nvPr>
            </p:nvSpPr>
            <p:spPr>
              <a:blipFill>
                <a:blip r:embed="rId2"/>
                <a:stretch>
                  <a:fillRect l="-1043" t="-2521"/>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2093EF73-EF32-4D4C-0ABD-A5DBF970469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pic>
        <p:nvPicPr>
          <p:cNvPr id="8" name="図 7">
            <a:extLst>
              <a:ext uri="{FF2B5EF4-FFF2-40B4-BE49-F238E27FC236}">
                <a16:creationId xmlns:a16="http://schemas.microsoft.com/office/drawing/2014/main" id="{EB2F9BC5-8611-636B-F43F-027DAB56DE8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985328" y="1378772"/>
            <a:ext cx="6206672" cy="4655004"/>
          </a:xfrm>
          <a:prstGeom prst="rect">
            <a:avLst/>
          </a:prstGeom>
        </p:spPr>
      </p:pic>
    </p:spTree>
    <p:extLst>
      <p:ext uri="{BB962C8B-B14F-4D97-AF65-F5344CB8AC3E}">
        <p14:creationId xmlns:p14="http://schemas.microsoft.com/office/powerpoint/2010/main" val="115108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76243-B73F-17AA-EDA1-AA020CAE8BF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A09FF2C-AE16-054E-284C-A19476C31FC7}"/>
              </a:ext>
            </a:extLst>
          </p:cNvPr>
          <p:cNvSpPr>
            <a:spLocks noGrp="1"/>
          </p:cNvSpPr>
          <p:nvPr>
            <p:ph type="title"/>
          </p:nvPr>
        </p:nvSpPr>
        <p:spPr/>
        <p:txBody>
          <a:bodyPr/>
          <a:lstStyle/>
          <a:p>
            <a:r>
              <a:rPr lang="en-US" altLang="ja-JP" dirty="0"/>
              <a:t>Dual-Feedback</a:t>
            </a:r>
            <a:r>
              <a:rPr kumimoji="1" lang="ja-JP" altLang="en-US" dirty="0"/>
              <a:t>型③</a:t>
            </a:r>
          </a:p>
        </p:txBody>
      </p:sp>
      <p:sp>
        <p:nvSpPr>
          <p:cNvPr id="3" name="コンテンツ プレースホルダー 2">
            <a:extLst>
              <a:ext uri="{FF2B5EF4-FFF2-40B4-BE49-F238E27FC236}">
                <a16:creationId xmlns:a16="http://schemas.microsoft.com/office/drawing/2014/main" id="{BE671C7A-B258-C8E3-1695-DF0619BA1FE1}"/>
              </a:ext>
            </a:extLst>
          </p:cNvPr>
          <p:cNvSpPr>
            <a:spLocks noGrp="1"/>
          </p:cNvSpPr>
          <p:nvPr>
            <p:ph idx="1"/>
          </p:nvPr>
        </p:nvSpPr>
        <p:spPr/>
        <p:txBody>
          <a:bodyPr>
            <a:normAutofit/>
          </a:bodyPr>
          <a:lstStyle/>
          <a:p>
            <a:r>
              <a:rPr lang="en-US" altLang="ja-JP" dirty="0"/>
              <a:t>Main</a:t>
            </a:r>
            <a:r>
              <a:rPr lang="ja-JP" altLang="en-US" dirty="0"/>
              <a:t>ループのフィルタ特性</a:t>
            </a:r>
            <a:endParaRPr lang="en-US" altLang="ja-JP" dirty="0"/>
          </a:p>
          <a:p>
            <a:endParaRPr lang="en-US" altLang="ja-JP" dirty="0"/>
          </a:p>
          <a:p>
            <a:r>
              <a:rPr lang="en-US" altLang="ja-JP" dirty="0"/>
              <a:t>LPF</a:t>
            </a:r>
            <a:r>
              <a:rPr lang="ja-JP" altLang="en-US" dirty="0"/>
              <a:t>と</a:t>
            </a:r>
            <a:r>
              <a:rPr lang="en-US" altLang="ja-JP" dirty="0"/>
              <a:t>HPF</a:t>
            </a:r>
            <a:r>
              <a:rPr lang="ja-JP" altLang="en-US" dirty="0"/>
              <a:t>の交点等は同様</a:t>
            </a:r>
            <a:endParaRPr lang="en-US" altLang="ja-JP" dirty="0"/>
          </a:p>
          <a:p>
            <a:endParaRPr lang="en-US" altLang="ja-JP" dirty="0"/>
          </a:p>
          <a:p>
            <a:r>
              <a:rPr lang="en-US" altLang="ja-JP" dirty="0"/>
              <a:t>BPF</a:t>
            </a:r>
            <a:r>
              <a:rPr lang="ja-JP" altLang="en-US" dirty="0"/>
              <a:t>が存在する理由、</a:t>
            </a:r>
            <a:br>
              <a:rPr lang="en-US" altLang="ja-JP" dirty="0"/>
            </a:br>
            <a:r>
              <a:rPr lang="en-US" altLang="ja-JP" dirty="0"/>
              <a:t>LPF</a:t>
            </a:r>
            <a:r>
              <a:rPr lang="ja-JP" altLang="en-US" dirty="0"/>
              <a:t>に</a:t>
            </a:r>
            <a:r>
              <a:rPr lang="en-US" altLang="ja-JP" dirty="0" err="1"/>
              <a:t>Sampling&amp;Hold</a:t>
            </a:r>
            <a:r>
              <a:rPr lang="ja-JP" altLang="en-US" dirty="0"/>
              <a:t>を</a:t>
            </a:r>
            <a:br>
              <a:rPr lang="en-US" altLang="ja-JP" dirty="0"/>
            </a:br>
            <a:r>
              <a:rPr lang="ja-JP" altLang="en-US" dirty="0"/>
              <a:t>用いていない理由は</a:t>
            </a:r>
            <a:br>
              <a:rPr lang="en-US" altLang="ja-JP" dirty="0"/>
            </a:br>
            <a:r>
              <a:rPr lang="ja-JP" altLang="en-US" dirty="0"/>
              <a:t>よくわからなかった</a:t>
            </a:r>
            <a:br>
              <a:rPr lang="en-US" altLang="ja-JP" dirty="0"/>
            </a:br>
            <a:endParaRPr kumimoji="1" lang="ja-JP" altLang="en-US" dirty="0"/>
          </a:p>
        </p:txBody>
      </p:sp>
      <p:sp>
        <p:nvSpPr>
          <p:cNvPr id="4" name="スライド番号プレースホルダー 3">
            <a:extLst>
              <a:ext uri="{FF2B5EF4-FFF2-40B4-BE49-F238E27FC236}">
                <a16:creationId xmlns:a16="http://schemas.microsoft.com/office/drawing/2014/main" id="{EC9BC4E1-C7E2-6A3F-3DA7-8A118432964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pic>
        <p:nvPicPr>
          <p:cNvPr id="8" name="図 7">
            <a:extLst>
              <a:ext uri="{FF2B5EF4-FFF2-40B4-BE49-F238E27FC236}">
                <a16:creationId xmlns:a16="http://schemas.microsoft.com/office/drawing/2014/main" id="{18C3F68A-B66E-7C5E-E3C3-A4BCB310B1A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985328" y="1378772"/>
            <a:ext cx="6206672" cy="4655004"/>
          </a:xfrm>
          <a:prstGeom prst="rect">
            <a:avLst/>
          </a:prstGeom>
        </p:spPr>
      </p:pic>
    </p:spTree>
    <p:extLst>
      <p:ext uri="{BB962C8B-B14F-4D97-AF65-F5344CB8AC3E}">
        <p14:creationId xmlns:p14="http://schemas.microsoft.com/office/powerpoint/2010/main" val="348658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6ADDB-75FE-43A9-4C27-188561040BB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440B884-EF02-1E1E-E9E3-043DC058B378}"/>
              </a:ext>
            </a:extLst>
          </p:cNvPr>
          <p:cNvSpPr>
            <a:spLocks noGrp="1"/>
          </p:cNvSpPr>
          <p:nvPr>
            <p:ph type="title"/>
          </p:nvPr>
        </p:nvSpPr>
        <p:spPr/>
        <p:txBody>
          <a:bodyPr/>
          <a:lstStyle/>
          <a:p>
            <a:r>
              <a:rPr lang="en-US" altLang="ja-JP" dirty="0"/>
              <a:t>Dual-Feedback</a:t>
            </a:r>
            <a:r>
              <a:rPr kumimoji="1" lang="ja-JP" altLang="en-US" dirty="0"/>
              <a:t>型④</a:t>
            </a:r>
          </a:p>
        </p:txBody>
      </p:sp>
      <p:sp>
        <p:nvSpPr>
          <p:cNvPr id="3" name="コンテンツ プレースホルダー 2">
            <a:extLst>
              <a:ext uri="{FF2B5EF4-FFF2-40B4-BE49-F238E27FC236}">
                <a16:creationId xmlns:a16="http://schemas.microsoft.com/office/drawing/2014/main" id="{65FAB7EB-6D7D-9FB5-EE64-A023AE469928}"/>
              </a:ext>
            </a:extLst>
          </p:cNvPr>
          <p:cNvSpPr>
            <a:spLocks noGrp="1"/>
          </p:cNvSpPr>
          <p:nvPr>
            <p:ph idx="1"/>
          </p:nvPr>
        </p:nvSpPr>
        <p:spPr/>
        <p:txBody>
          <a:bodyPr>
            <a:normAutofit/>
          </a:bodyPr>
          <a:lstStyle/>
          <a:p>
            <a:r>
              <a:rPr lang="en-US" altLang="ja-JP" dirty="0"/>
              <a:t>Integer</a:t>
            </a:r>
            <a:r>
              <a:rPr lang="ja-JP" altLang="en-US" dirty="0"/>
              <a:t>ループのノイズ</a:t>
            </a:r>
            <a:endParaRPr lang="en-US" altLang="ja-JP" dirty="0"/>
          </a:p>
          <a:p>
            <a:endParaRPr lang="en-US" altLang="ja-JP" dirty="0"/>
          </a:p>
          <a:p>
            <a:r>
              <a:rPr lang="en-US" altLang="ja-JP" dirty="0"/>
              <a:t>VCO</a:t>
            </a:r>
            <a:r>
              <a:rPr lang="ja-JP" altLang="en-US" dirty="0"/>
              <a:t>ノイズが抑えられている</a:t>
            </a:r>
            <a:br>
              <a:rPr lang="en-US" altLang="ja-JP" dirty="0"/>
            </a:br>
            <a:r>
              <a:rPr lang="ja-JP" altLang="en-US" dirty="0"/>
              <a:t>ことが読み取れる</a:t>
            </a:r>
            <a:br>
              <a:rPr lang="en-US" altLang="ja-JP" dirty="0"/>
            </a:br>
            <a:endParaRPr kumimoji="1" lang="ja-JP" altLang="en-US" dirty="0"/>
          </a:p>
        </p:txBody>
      </p:sp>
      <p:sp>
        <p:nvSpPr>
          <p:cNvPr id="4" name="スライド番号プレースホルダー 3">
            <a:extLst>
              <a:ext uri="{FF2B5EF4-FFF2-40B4-BE49-F238E27FC236}">
                <a16:creationId xmlns:a16="http://schemas.microsoft.com/office/drawing/2014/main" id="{F75F59C9-DCC1-7A6D-7F94-46BC8C17AA2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pic>
        <p:nvPicPr>
          <p:cNvPr id="8" name="図 7">
            <a:extLst>
              <a:ext uri="{FF2B5EF4-FFF2-40B4-BE49-F238E27FC236}">
                <a16:creationId xmlns:a16="http://schemas.microsoft.com/office/drawing/2014/main" id="{B9F537B4-A071-3A45-9784-88C56903191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985328" y="1378772"/>
            <a:ext cx="6206672" cy="4655004"/>
          </a:xfrm>
          <a:prstGeom prst="rect">
            <a:avLst/>
          </a:prstGeom>
        </p:spPr>
      </p:pic>
    </p:spTree>
    <p:extLst>
      <p:ext uri="{BB962C8B-B14F-4D97-AF65-F5344CB8AC3E}">
        <p14:creationId xmlns:p14="http://schemas.microsoft.com/office/powerpoint/2010/main" val="1251212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19F9A-73EA-E67B-20C0-AE8D75FB759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D100D11-678F-4E51-57A7-B0BF7C3A3BA1}"/>
              </a:ext>
            </a:extLst>
          </p:cNvPr>
          <p:cNvSpPr>
            <a:spLocks noGrp="1"/>
          </p:cNvSpPr>
          <p:nvPr>
            <p:ph type="title"/>
          </p:nvPr>
        </p:nvSpPr>
        <p:spPr/>
        <p:txBody>
          <a:bodyPr/>
          <a:lstStyle/>
          <a:p>
            <a:r>
              <a:rPr lang="en-US" altLang="ja-JP" dirty="0"/>
              <a:t>Dual-Feedback</a:t>
            </a:r>
            <a:r>
              <a:rPr kumimoji="1" lang="ja-JP" altLang="en-US" dirty="0"/>
              <a:t>型⑤</a:t>
            </a:r>
          </a:p>
        </p:txBody>
      </p:sp>
      <p:sp>
        <p:nvSpPr>
          <p:cNvPr id="3" name="コンテンツ プレースホルダー 2">
            <a:extLst>
              <a:ext uri="{FF2B5EF4-FFF2-40B4-BE49-F238E27FC236}">
                <a16:creationId xmlns:a16="http://schemas.microsoft.com/office/drawing/2014/main" id="{B4A0C99A-DCAC-1447-1BD3-15863BE29D9E}"/>
              </a:ext>
            </a:extLst>
          </p:cNvPr>
          <p:cNvSpPr>
            <a:spLocks noGrp="1"/>
          </p:cNvSpPr>
          <p:nvPr>
            <p:ph idx="1"/>
          </p:nvPr>
        </p:nvSpPr>
        <p:spPr/>
        <p:txBody>
          <a:bodyPr>
            <a:normAutofit/>
          </a:bodyPr>
          <a:lstStyle/>
          <a:p>
            <a:r>
              <a:rPr lang="en-US" altLang="ja-JP" dirty="0"/>
              <a:t>Main</a:t>
            </a:r>
            <a:r>
              <a:rPr lang="ja-JP" altLang="en-US" dirty="0"/>
              <a:t>ループのノイズ</a:t>
            </a:r>
            <a:endParaRPr lang="en-US" altLang="ja-JP" dirty="0"/>
          </a:p>
          <a:p>
            <a:endParaRPr lang="en-US" altLang="ja-JP" dirty="0"/>
          </a:p>
          <a:p>
            <a:r>
              <a:rPr lang="en-US" altLang="ja-JP" dirty="0"/>
              <a:t>DSM</a:t>
            </a:r>
            <a:r>
              <a:rPr lang="ja-JP" altLang="en-US" dirty="0"/>
              <a:t>ノイズが強力に抑制</a:t>
            </a:r>
            <a:br>
              <a:rPr lang="en-US" altLang="ja-JP" dirty="0"/>
            </a:br>
            <a:r>
              <a:rPr lang="ja-JP" altLang="en-US" dirty="0"/>
              <a:t>されている</a:t>
            </a:r>
            <a:r>
              <a:rPr lang="en-US" altLang="ja-JP" dirty="0"/>
              <a:t>(</a:t>
            </a:r>
            <a:r>
              <a:rPr lang="ja-JP" altLang="en-US" dirty="0"/>
              <a:t>紫</a:t>
            </a:r>
            <a:r>
              <a:rPr lang="en-US" altLang="ja-JP" dirty="0"/>
              <a:t>vs</a:t>
            </a:r>
            <a:r>
              <a:rPr lang="ja-JP" altLang="en-US" dirty="0"/>
              <a:t>黄</a:t>
            </a:r>
            <a:r>
              <a:rPr lang="en-US" altLang="ja-JP" dirty="0"/>
              <a:t>)</a:t>
            </a:r>
          </a:p>
          <a:p>
            <a:endParaRPr lang="en-US" altLang="ja-JP" dirty="0"/>
          </a:p>
          <a:p>
            <a:r>
              <a:rPr lang="ja-JP" altLang="en-US" dirty="0"/>
              <a:t>高周波帯のノイズを従来型</a:t>
            </a:r>
            <a:br>
              <a:rPr lang="en-US" altLang="ja-JP" dirty="0"/>
            </a:br>
            <a:r>
              <a:rPr lang="ja-JP" altLang="en-US" dirty="0"/>
              <a:t>より減らせ、低周波帯には</a:t>
            </a:r>
            <a:br>
              <a:rPr lang="en-US" altLang="ja-JP" dirty="0"/>
            </a:br>
            <a:r>
              <a:rPr lang="ja-JP" altLang="en-US" dirty="0"/>
              <a:t>影響が及んでいない</a:t>
            </a:r>
            <a:endParaRPr lang="en-US" altLang="ja-JP" dirty="0"/>
          </a:p>
          <a:p>
            <a:endParaRPr lang="en-US" altLang="ja-JP" dirty="0"/>
          </a:p>
          <a:p>
            <a:endParaRPr lang="en-US" altLang="ja-JP" dirty="0"/>
          </a:p>
          <a:p>
            <a:endParaRPr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A02AA707-4D86-3D9C-6DA3-6A64223A37B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pic>
        <p:nvPicPr>
          <p:cNvPr id="8" name="図 7">
            <a:extLst>
              <a:ext uri="{FF2B5EF4-FFF2-40B4-BE49-F238E27FC236}">
                <a16:creationId xmlns:a16="http://schemas.microsoft.com/office/drawing/2014/main" id="{9B5D1B24-9115-AB20-53AC-C6B2093FC8B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985328" y="1378772"/>
            <a:ext cx="6206672" cy="4655004"/>
          </a:xfrm>
          <a:prstGeom prst="rect">
            <a:avLst/>
          </a:prstGeom>
        </p:spPr>
      </p:pic>
    </p:spTree>
    <p:extLst>
      <p:ext uri="{BB962C8B-B14F-4D97-AF65-F5344CB8AC3E}">
        <p14:creationId xmlns:p14="http://schemas.microsoft.com/office/powerpoint/2010/main" val="28310442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77E303E2-71C8-B55E-BC06-4F87B9A55F31}"/>
              </a:ext>
            </a:extLst>
          </p:cNvPr>
          <p:cNvSpPr>
            <a:spLocks noGrp="1"/>
          </p:cNvSpPr>
          <p:nvPr>
            <p:ph type="title"/>
          </p:nvPr>
        </p:nvSpPr>
        <p:spPr/>
        <p:txBody>
          <a:bodyPr/>
          <a:lstStyle/>
          <a:p>
            <a:r>
              <a:rPr lang="ja-JP" altLang="en-US" dirty="0"/>
              <a:t>比較</a:t>
            </a:r>
          </a:p>
        </p:txBody>
      </p:sp>
      <p:pic>
        <p:nvPicPr>
          <p:cNvPr id="9" name="コンテンツ プレースホルダー 8">
            <a:extLst>
              <a:ext uri="{FF2B5EF4-FFF2-40B4-BE49-F238E27FC236}">
                <a16:creationId xmlns:a16="http://schemas.microsoft.com/office/drawing/2014/main" id="{9FA17C6D-283B-C8C3-5C37-709272CB6B4A}"/>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2058194"/>
            <a:ext cx="5181600" cy="3886200"/>
          </a:xfrm>
          <a:prstGeom prst="rect">
            <a:avLst/>
          </a:prstGeom>
        </p:spPr>
      </p:pic>
      <p:pic>
        <p:nvPicPr>
          <p:cNvPr id="11" name="コンテンツ プレースホルダー 10">
            <a:extLst>
              <a:ext uri="{FF2B5EF4-FFF2-40B4-BE49-F238E27FC236}">
                <a16:creationId xmlns:a16="http://schemas.microsoft.com/office/drawing/2014/main" id="{B812AFEB-CA2D-CE6A-3F58-910412DBD562}"/>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058194"/>
            <a:ext cx="5181600" cy="3886200"/>
          </a:xfrm>
          <a:prstGeom prst="rect">
            <a:avLst/>
          </a:prstGeom>
        </p:spPr>
      </p:pic>
      <p:sp>
        <p:nvSpPr>
          <p:cNvPr id="4" name="スライド番号プレースホルダー 3">
            <a:extLst>
              <a:ext uri="{FF2B5EF4-FFF2-40B4-BE49-F238E27FC236}">
                <a16:creationId xmlns:a16="http://schemas.microsoft.com/office/drawing/2014/main" id="{F4BC4934-BB0E-DF42-A82E-F242E38F628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
        <p:nvSpPr>
          <p:cNvPr id="12" name="テキスト ボックス 11">
            <a:extLst>
              <a:ext uri="{FF2B5EF4-FFF2-40B4-BE49-F238E27FC236}">
                <a16:creationId xmlns:a16="http://schemas.microsoft.com/office/drawing/2014/main" id="{D4146CA2-6655-FEAF-DF5B-539F2224280E}"/>
              </a:ext>
            </a:extLst>
          </p:cNvPr>
          <p:cNvSpPr txBox="1"/>
          <p:nvPr/>
        </p:nvSpPr>
        <p:spPr>
          <a:xfrm>
            <a:off x="2155371" y="6124993"/>
            <a:ext cx="7728857" cy="461665"/>
          </a:xfrm>
          <a:prstGeom prst="rect">
            <a:avLst/>
          </a:prstGeom>
          <a:noFill/>
        </p:spPr>
        <p:txBody>
          <a:bodyPr wrap="square" rtlCol="0">
            <a:spAutoFit/>
          </a:bodyPr>
          <a:lstStyle/>
          <a:p>
            <a:pPr algn="ctr"/>
            <a:r>
              <a:rPr kumimoji="1" lang="ja-JP" altLang="en-US" sz="2400" dirty="0"/>
              <a:t>左グラフは紫、右グラフは青の線がノイズの総和</a:t>
            </a:r>
          </a:p>
        </p:txBody>
      </p:sp>
    </p:spTree>
    <p:extLst>
      <p:ext uri="{BB962C8B-B14F-4D97-AF65-F5344CB8AC3E}">
        <p14:creationId xmlns:p14="http://schemas.microsoft.com/office/powerpoint/2010/main" val="80769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E2766D7-F63A-E795-666B-E8C65D5569F5}"/>
              </a:ext>
            </a:extLst>
          </p:cNvPr>
          <p:cNvSpPr>
            <a:spLocks noGrp="1"/>
          </p:cNvSpPr>
          <p:nvPr>
            <p:ph type="ctrTitle"/>
          </p:nvPr>
        </p:nvSpPr>
        <p:spPr/>
        <p:txBody>
          <a:bodyPr/>
          <a:lstStyle/>
          <a:p>
            <a:r>
              <a:rPr lang="ja-JP" altLang="en-US" dirty="0">
                <a:solidFill>
                  <a:schemeClr val="tx1"/>
                </a:solidFill>
              </a:rPr>
              <a:t>進捗報告 </a:t>
            </a:r>
            <a:r>
              <a:rPr lang="en-US" altLang="ja-JP" dirty="0">
                <a:solidFill>
                  <a:schemeClr val="tx1"/>
                </a:solidFill>
              </a:rPr>
              <a:t>04/16</a:t>
            </a:r>
            <a:endParaRPr kumimoji="1" lang="ja-JP" altLang="en-US" dirty="0">
              <a:solidFill>
                <a:schemeClr val="tx1"/>
              </a:solidFill>
            </a:endParaRPr>
          </a:p>
        </p:txBody>
      </p:sp>
      <p:sp>
        <p:nvSpPr>
          <p:cNvPr id="3" name="字幕 2">
            <a:extLst>
              <a:ext uri="{FF2B5EF4-FFF2-40B4-BE49-F238E27FC236}">
                <a16:creationId xmlns:a16="http://schemas.microsoft.com/office/drawing/2014/main" id="{657E447C-C9F5-BF87-9165-CFECF7B5C5C9}"/>
              </a:ext>
            </a:extLst>
          </p:cNvPr>
          <p:cNvSpPr>
            <a:spLocks noGrp="1"/>
          </p:cNvSpPr>
          <p:nvPr>
            <p:ph type="subTitle" idx="1"/>
          </p:nvPr>
        </p:nvSpPr>
        <p:spPr/>
        <p:txBody>
          <a:bodyPr/>
          <a:lstStyle/>
          <a:p>
            <a:r>
              <a:rPr lang="en-US" altLang="ja-JP" dirty="0"/>
              <a:t>B4</a:t>
            </a:r>
            <a:r>
              <a:rPr lang="ja-JP" altLang="en-US" dirty="0"/>
              <a:t>　福島幸弥</a:t>
            </a:r>
            <a:endParaRPr kumimoji="1" lang="ja-JP" altLang="en-US" dirty="0"/>
          </a:p>
        </p:txBody>
      </p:sp>
    </p:spTree>
    <p:extLst>
      <p:ext uri="{BB962C8B-B14F-4D97-AF65-F5344CB8AC3E}">
        <p14:creationId xmlns:p14="http://schemas.microsoft.com/office/powerpoint/2010/main" val="17208448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4C2347-590D-C25E-EAB2-A760560D9D1F}"/>
              </a:ext>
            </a:extLst>
          </p:cNvPr>
          <p:cNvSpPr>
            <a:spLocks noGrp="1"/>
          </p:cNvSpPr>
          <p:nvPr>
            <p:ph type="title"/>
          </p:nvPr>
        </p:nvSpPr>
        <p:spPr/>
        <p:txBody>
          <a:bodyPr/>
          <a:lstStyle/>
          <a:p>
            <a:r>
              <a:rPr lang="ja-JP" altLang="en-US" dirty="0"/>
              <a:t>やったこと</a:t>
            </a:r>
            <a:endParaRPr kumimoji="1" lang="ja-JP" altLang="en-US" dirty="0"/>
          </a:p>
        </p:txBody>
      </p:sp>
      <p:sp>
        <p:nvSpPr>
          <p:cNvPr id="3" name="コンテンツ プレースホルダー 2">
            <a:extLst>
              <a:ext uri="{FF2B5EF4-FFF2-40B4-BE49-F238E27FC236}">
                <a16:creationId xmlns:a16="http://schemas.microsoft.com/office/drawing/2014/main" id="{4B0792F6-1956-7CBC-DED9-600A478CAE39}"/>
              </a:ext>
            </a:extLst>
          </p:cNvPr>
          <p:cNvSpPr>
            <a:spLocks noGrp="1"/>
          </p:cNvSpPr>
          <p:nvPr>
            <p:ph idx="1"/>
          </p:nvPr>
        </p:nvSpPr>
        <p:spPr/>
        <p:txBody>
          <a:bodyPr/>
          <a:lstStyle/>
          <a:p>
            <a:r>
              <a:rPr kumimoji="1" lang="ja-JP" altLang="en-US" dirty="0"/>
              <a:t>長田さんの論文のまとめ</a:t>
            </a:r>
            <a:br>
              <a:rPr kumimoji="1" lang="en-US" altLang="ja-JP" dirty="0"/>
            </a:br>
            <a:r>
              <a:rPr kumimoji="1" lang="en-US" altLang="ja-JP" dirty="0"/>
              <a:t>(Masaru Osada, “Low-Phase-Noise and Low-Spur Fractional-N Phase Locked Loops Employing Harmonic-Mixer-Based Feedback”, The University of Tokyo, 2023, Ph.D. thesis.)</a:t>
            </a:r>
          </a:p>
          <a:p>
            <a:endParaRPr kumimoji="1" lang="en-US" altLang="ja-JP" dirty="0"/>
          </a:p>
          <a:p>
            <a:r>
              <a:rPr lang="ja-JP" altLang="en-US" dirty="0"/>
              <a:t>論文中の図を引用した場合は</a:t>
            </a:r>
            <a:r>
              <a:rPr lang="en-US" altLang="ja-JP" dirty="0"/>
              <a:t>(</a:t>
            </a:r>
            <a:r>
              <a:rPr lang="ja-JP" altLang="en-US" dirty="0"/>
              <a:t>論文</a:t>
            </a:r>
            <a:r>
              <a:rPr lang="en-US" altLang="ja-JP" dirty="0"/>
              <a:t>Figure X.Y)</a:t>
            </a:r>
            <a:r>
              <a:rPr lang="ja-JP" altLang="en-US" dirty="0"/>
              <a:t>と表記</a:t>
            </a:r>
            <a:endParaRPr lang="en-US" altLang="ja-JP" dirty="0"/>
          </a:p>
        </p:txBody>
      </p:sp>
      <p:sp>
        <p:nvSpPr>
          <p:cNvPr id="4" name="スライド番号プレースホルダー 3">
            <a:extLst>
              <a:ext uri="{FF2B5EF4-FFF2-40B4-BE49-F238E27FC236}">
                <a16:creationId xmlns:a16="http://schemas.microsoft.com/office/drawing/2014/main" id="{44DBF3C6-A7E6-E1BE-197D-2C733661F22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17428081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BE44F-1078-8543-A55C-3B8757A5C15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242F025-DFAC-91B2-A788-F22B9DDB07C6}"/>
              </a:ext>
            </a:extLst>
          </p:cNvPr>
          <p:cNvSpPr>
            <a:spLocks noGrp="1"/>
          </p:cNvSpPr>
          <p:nvPr>
            <p:ph type="title"/>
          </p:nvPr>
        </p:nvSpPr>
        <p:spPr/>
        <p:txBody>
          <a:bodyPr/>
          <a:lstStyle/>
          <a:p>
            <a:r>
              <a:rPr kumimoji="1" lang="en-US" altLang="ja-JP" dirty="0"/>
              <a:t>PLL(</a:t>
            </a:r>
            <a:r>
              <a:rPr kumimoji="1" lang="ja-JP" altLang="en-US" dirty="0"/>
              <a:t>位相同期回路</a:t>
            </a:r>
            <a:r>
              <a:rPr kumimoji="1" lang="en-US" altLang="ja-JP" dirty="0"/>
              <a:t>)</a:t>
            </a:r>
            <a:r>
              <a:rPr lang="ja-JP" altLang="en-US" dirty="0"/>
              <a:t>の役割</a:t>
            </a:r>
            <a:endParaRPr kumimoji="1" lang="ja-JP" altLang="en-US" dirty="0"/>
          </a:p>
        </p:txBody>
      </p:sp>
      <p:sp>
        <p:nvSpPr>
          <p:cNvPr id="3" name="コンテンツ プレースホルダー 2">
            <a:extLst>
              <a:ext uri="{FF2B5EF4-FFF2-40B4-BE49-F238E27FC236}">
                <a16:creationId xmlns:a16="http://schemas.microsoft.com/office/drawing/2014/main" id="{0CFF53AB-2F02-5286-7B7A-6870C314D6A3}"/>
              </a:ext>
            </a:extLst>
          </p:cNvPr>
          <p:cNvSpPr>
            <a:spLocks noGrp="1"/>
          </p:cNvSpPr>
          <p:nvPr>
            <p:ph idx="1"/>
          </p:nvPr>
        </p:nvSpPr>
        <p:spPr/>
        <p:txBody>
          <a:bodyPr/>
          <a:lstStyle/>
          <a:p>
            <a:r>
              <a:rPr lang="ja-JP" altLang="en-US" dirty="0"/>
              <a:t>ある基準信号と同じ周波数，位相を持った信号を</a:t>
            </a:r>
            <a:br>
              <a:rPr lang="en-US" altLang="ja-JP" dirty="0"/>
            </a:br>
            <a:r>
              <a:rPr lang="ja-JP" altLang="en-US" dirty="0"/>
              <a:t>生成する回路</a:t>
            </a:r>
            <a:endParaRPr lang="en-US" altLang="ja-JP" dirty="0"/>
          </a:p>
          <a:p>
            <a:endParaRPr lang="en-US" altLang="ja-JP" dirty="0"/>
          </a:p>
          <a:p>
            <a:r>
              <a:rPr lang="ja-JP" altLang="en-US" dirty="0"/>
              <a:t>実際には，</a:t>
            </a:r>
            <a:r>
              <a:rPr lang="en-US" altLang="ja-JP" dirty="0"/>
              <a:t>VCO(</a:t>
            </a:r>
            <a:r>
              <a:rPr lang="ja-JP" altLang="en-US" dirty="0"/>
              <a:t>電圧制御発振器</a:t>
            </a:r>
            <a:r>
              <a:rPr lang="en-US" altLang="ja-JP" dirty="0"/>
              <a:t>)</a:t>
            </a:r>
            <a:r>
              <a:rPr lang="ja-JP" altLang="en-US" dirty="0"/>
              <a:t>と分周器を組み合わせ，</a:t>
            </a:r>
            <a:br>
              <a:rPr lang="en-US" altLang="ja-JP" dirty="0"/>
            </a:br>
            <a:r>
              <a:rPr lang="ja-JP" altLang="en-US" dirty="0"/>
              <a:t>基準信号の周波数を増幅した信号を出力する回路として</a:t>
            </a:r>
            <a:br>
              <a:rPr lang="en-US" altLang="ja-JP" dirty="0"/>
            </a:br>
            <a:r>
              <a:rPr lang="ja-JP" altLang="en-US" dirty="0"/>
              <a:t>用いられることが多い</a:t>
            </a:r>
            <a:endParaRPr lang="en-US" altLang="ja-JP" dirty="0"/>
          </a:p>
          <a:p>
            <a:endParaRPr lang="en-US" altLang="ja-JP" dirty="0"/>
          </a:p>
          <a:p>
            <a:r>
              <a:rPr lang="ja-JP" altLang="en-US" dirty="0"/>
              <a:t>基準信号</a:t>
            </a:r>
            <a:r>
              <a:rPr lang="en-US" altLang="ja-JP" dirty="0"/>
              <a:t>(</a:t>
            </a:r>
            <a:r>
              <a:rPr lang="ja-JP" altLang="en-US" dirty="0"/>
              <a:t>水晶発振器</a:t>
            </a:r>
            <a:r>
              <a:rPr lang="en-US" altLang="ja-JP" dirty="0"/>
              <a:t>)</a:t>
            </a:r>
            <a:r>
              <a:rPr lang="ja-JP" altLang="en-US" dirty="0"/>
              <a:t>は数</a:t>
            </a:r>
            <a:r>
              <a:rPr lang="en-US" altLang="ja-JP" dirty="0"/>
              <a:t>M~</a:t>
            </a:r>
            <a:r>
              <a:rPr lang="ja-JP" altLang="en-US" dirty="0"/>
              <a:t>数十</a:t>
            </a:r>
            <a:r>
              <a:rPr lang="en-US" altLang="ja-JP" dirty="0"/>
              <a:t>MHz</a:t>
            </a:r>
            <a:r>
              <a:rPr lang="ja-JP" altLang="en-US" dirty="0"/>
              <a:t>にとどまるため，</a:t>
            </a:r>
            <a:br>
              <a:rPr lang="en-US" altLang="ja-JP" dirty="0"/>
            </a:br>
            <a:r>
              <a:rPr lang="ja-JP" altLang="en-US" dirty="0"/>
              <a:t>数</a:t>
            </a:r>
            <a:r>
              <a:rPr lang="en-US" altLang="ja-JP" dirty="0"/>
              <a:t>GHz</a:t>
            </a:r>
            <a:r>
              <a:rPr lang="ja-JP" altLang="en-US" dirty="0"/>
              <a:t>の高周波を作るのに必要不可欠</a:t>
            </a:r>
            <a:endParaRPr lang="en-US" altLang="ja-JP" dirty="0"/>
          </a:p>
        </p:txBody>
      </p:sp>
      <p:sp>
        <p:nvSpPr>
          <p:cNvPr id="4" name="スライド番号プレースホルダー 3">
            <a:extLst>
              <a:ext uri="{FF2B5EF4-FFF2-40B4-BE49-F238E27FC236}">
                <a16:creationId xmlns:a16="http://schemas.microsoft.com/office/drawing/2014/main" id="{A7ED620D-4B8A-766E-E6EA-049837BE789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10464628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2E1658-0A5F-1F7D-F3B7-177BBF4A636D}"/>
              </a:ext>
            </a:extLst>
          </p:cNvPr>
          <p:cNvSpPr>
            <a:spLocks noGrp="1"/>
          </p:cNvSpPr>
          <p:nvPr>
            <p:ph type="title"/>
          </p:nvPr>
        </p:nvSpPr>
        <p:spPr/>
        <p:txBody>
          <a:bodyPr/>
          <a:lstStyle/>
          <a:p>
            <a:r>
              <a:rPr lang="en-US" altLang="ja-JP" dirty="0"/>
              <a:t>2.1 PLL</a:t>
            </a:r>
            <a:r>
              <a:rPr lang="ja-JP" altLang="en-US" dirty="0"/>
              <a:t>の基本構成</a:t>
            </a:r>
            <a:endParaRPr kumimoji="1" lang="ja-JP" altLang="en-US" dirty="0"/>
          </a:p>
        </p:txBody>
      </p:sp>
      <p:sp>
        <p:nvSpPr>
          <p:cNvPr id="3" name="コンテンツ プレースホルダー 2">
            <a:extLst>
              <a:ext uri="{FF2B5EF4-FFF2-40B4-BE49-F238E27FC236}">
                <a16:creationId xmlns:a16="http://schemas.microsoft.com/office/drawing/2014/main" id="{B73305AD-B227-CC24-D9E2-337E64F28202}"/>
              </a:ext>
            </a:extLst>
          </p:cNvPr>
          <p:cNvSpPr>
            <a:spLocks noGrp="1"/>
          </p:cNvSpPr>
          <p:nvPr>
            <p:ph idx="1"/>
          </p:nvPr>
        </p:nvSpPr>
        <p:spPr/>
        <p:txBody>
          <a:bodyPr/>
          <a:lstStyle/>
          <a:p>
            <a:r>
              <a:rPr kumimoji="1" lang="ja-JP" altLang="en-US" dirty="0"/>
              <a:t>位相比較器</a:t>
            </a:r>
            <a:r>
              <a:rPr kumimoji="1" lang="en-US" altLang="ja-JP" dirty="0"/>
              <a:t>(Phase Detector)</a:t>
            </a:r>
            <a:r>
              <a:rPr lang="ja-JP" altLang="en-US" dirty="0"/>
              <a:t>，</a:t>
            </a:r>
            <a:r>
              <a:rPr lang="en-US" altLang="ja-JP" dirty="0"/>
              <a:t>Charge Pomp</a:t>
            </a:r>
            <a:r>
              <a:rPr lang="ja-JP" altLang="en-US" dirty="0"/>
              <a:t>，</a:t>
            </a:r>
            <a:r>
              <a:rPr lang="en-US" altLang="ja-JP" dirty="0"/>
              <a:t>Loop Filter</a:t>
            </a:r>
            <a:r>
              <a:rPr lang="ja-JP" altLang="en-US" dirty="0"/>
              <a:t>，</a:t>
            </a:r>
            <a:br>
              <a:rPr lang="en-US" altLang="ja-JP" dirty="0"/>
            </a:br>
            <a:r>
              <a:rPr lang="en-US" altLang="ja-JP" dirty="0"/>
              <a:t>Voltage-Controlled Oscillator</a:t>
            </a:r>
            <a:r>
              <a:rPr lang="ja-JP" altLang="en-US" dirty="0"/>
              <a:t>，分周器からなる</a:t>
            </a:r>
            <a:endParaRPr kumimoji="1" lang="ja-JP" altLang="en-US" dirty="0"/>
          </a:p>
        </p:txBody>
      </p:sp>
      <p:sp>
        <p:nvSpPr>
          <p:cNvPr id="4" name="スライド番号プレースホルダー 3">
            <a:extLst>
              <a:ext uri="{FF2B5EF4-FFF2-40B4-BE49-F238E27FC236}">
                <a16:creationId xmlns:a16="http://schemas.microsoft.com/office/drawing/2014/main" id="{6C00A3A6-8772-2702-3A1E-0327C65BA01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pic>
        <p:nvPicPr>
          <p:cNvPr id="6" name="図 5">
            <a:extLst>
              <a:ext uri="{FF2B5EF4-FFF2-40B4-BE49-F238E27FC236}">
                <a16:creationId xmlns:a16="http://schemas.microsoft.com/office/drawing/2014/main" id="{4FD3B1FD-37DE-5668-00D1-78D8AEF18EB7}"/>
              </a:ext>
            </a:extLst>
          </p:cNvPr>
          <p:cNvPicPr>
            <a:picLocks noChangeAspect="1"/>
          </p:cNvPicPr>
          <p:nvPr/>
        </p:nvPicPr>
        <p:blipFill>
          <a:blip r:embed="rId2"/>
          <a:stretch>
            <a:fillRect/>
          </a:stretch>
        </p:blipFill>
        <p:spPr>
          <a:xfrm>
            <a:off x="813650" y="3189653"/>
            <a:ext cx="10564699" cy="3077004"/>
          </a:xfrm>
          <a:prstGeom prst="rect">
            <a:avLst/>
          </a:prstGeom>
        </p:spPr>
      </p:pic>
      <p:sp>
        <p:nvSpPr>
          <p:cNvPr id="5" name="テキスト ボックス 4">
            <a:extLst>
              <a:ext uri="{FF2B5EF4-FFF2-40B4-BE49-F238E27FC236}">
                <a16:creationId xmlns:a16="http://schemas.microsoft.com/office/drawing/2014/main" id="{6BE5ABF5-D6EE-6329-6F7B-0982987A6C0F}"/>
              </a:ext>
            </a:extLst>
          </p:cNvPr>
          <p:cNvSpPr txBox="1"/>
          <p:nvPr/>
        </p:nvSpPr>
        <p:spPr>
          <a:xfrm>
            <a:off x="2846613" y="6266657"/>
            <a:ext cx="6498771" cy="461665"/>
          </a:xfrm>
          <a:prstGeom prst="rect">
            <a:avLst/>
          </a:prstGeom>
          <a:noFill/>
        </p:spPr>
        <p:txBody>
          <a:bodyPr wrap="square" rtlCol="0">
            <a:spAutoFit/>
          </a:bodyPr>
          <a:lstStyle/>
          <a:p>
            <a:pPr algn="ctr"/>
            <a:r>
              <a:rPr kumimoji="1" lang="ja-JP" altLang="en-US" sz="2400" dirty="0"/>
              <a:t>論文</a:t>
            </a:r>
            <a:r>
              <a:rPr kumimoji="1" lang="en-US" altLang="ja-JP" sz="2400" dirty="0"/>
              <a:t>Figure 2.1</a:t>
            </a:r>
            <a:endParaRPr kumimoji="1" lang="ja-JP" altLang="en-US" sz="2400" dirty="0"/>
          </a:p>
        </p:txBody>
      </p:sp>
    </p:spTree>
    <p:extLst>
      <p:ext uri="{BB962C8B-B14F-4D97-AF65-F5344CB8AC3E}">
        <p14:creationId xmlns:p14="http://schemas.microsoft.com/office/powerpoint/2010/main" val="17701276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C1237-D407-2329-C041-8CFD0E763B3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66D24A8-9EC8-8735-040F-1D775E53CF5D}"/>
              </a:ext>
            </a:extLst>
          </p:cNvPr>
          <p:cNvSpPr>
            <a:spLocks noGrp="1"/>
          </p:cNvSpPr>
          <p:nvPr>
            <p:ph type="title"/>
          </p:nvPr>
        </p:nvSpPr>
        <p:spPr/>
        <p:txBody>
          <a:bodyPr/>
          <a:lstStyle/>
          <a:p>
            <a:r>
              <a:rPr lang="en-US" altLang="ja-JP" dirty="0"/>
              <a:t>2.1 PLL</a:t>
            </a:r>
            <a:r>
              <a:rPr lang="ja-JP" altLang="en-US" dirty="0"/>
              <a:t>の基本構成</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551376CC-989B-A61E-F9AD-320506E7FB85}"/>
                  </a:ext>
                </a:extLst>
              </p:cNvPr>
              <p:cNvSpPr>
                <a:spLocks noGrp="1"/>
              </p:cNvSpPr>
              <p:nvPr>
                <p:ph idx="1"/>
              </p:nvPr>
            </p:nvSpPr>
            <p:spPr/>
            <p:txBody>
              <a:bodyPr/>
              <a:lstStyle/>
              <a:p>
                <a:r>
                  <a:rPr kumimoji="1" lang="ja-JP" altLang="en-US" dirty="0"/>
                  <a:t>小信号領域で見れば，</a:t>
                </a:r>
                <a:r>
                  <a:rPr kumimoji="1" lang="en-US" altLang="ja-JP" dirty="0"/>
                  <a:t>CP</a:t>
                </a:r>
                <a:r>
                  <a:rPr kumimoji="1" lang="ja-JP" altLang="en-US" dirty="0"/>
                  <a:t>は</a:t>
                </a:r>
                <a14:m>
                  <m:oMath xmlns:m="http://schemas.openxmlformats.org/officeDocument/2006/math">
                    <m:r>
                      <a:rPr kumimoji="1" lang="ja-JP" altLang="en-US" i="1" smtClean="0">
                        <a:latin typeface="Cambria Math" panose="02040503050406030204" pitchFamily="18" charset="0"/>
                      </a:rPr>
                      <m:t>∆</m:t>
                    </m:r>
                    <m:r>
                      <a:rPr kumimoji="1" lang="ja-JP" altLang="en-US" i="1" smtClean="0">
                        <a:latin typeface="Cambria Math" panose="02040503050406030204" pitchFamily="18" charset="0"/>
                      </a:rPr>
                      <m:t>𝜙</m:t>
                    </m:r>
                  </m:oMath>
                </a14:m>
                <a:r>
                  <a:rPr kumimoji="1" lang="ja-JP" altLang="en-US" dirty="0"/>
                  <a:t>に比例する電流を出力し</a:t>
                </a:r>
                <a:br>
                  <a:rPr kumimoji="1" lang="en-US" altLang="ja-JP" dirty="0"/>
                </a:br>
                <a:r>
                  <a:rPr kumimoji="1" lang="en-US" altLang="ja-JP" dirty="0"/>
                  <a:t>VCO</a:t>
                </a:r>
                <a:r>
                  <a:rPr kumimoji="1" lang="ja-JP" altLang="en-US" dirty="0"/>
                  <a:t>は電圧に比例して位相を増幅させるため，伝達関数は</a:t>
                </a:r>
                <a:br>
                  <a:rPr kumimoji="1" lang="en-US" altLang="ja-JP" dirty="0"/>
                </a:br>
                <a:r>
                  <a:rPr kumimoji="1" lang="ja-JP" altLang="en-US" dirty="0"/>
                  <a:t>以下のように書ける</a:t>
                </a:r>
              </a:p>
            </p:txBody>
          </p:sp>
        </mc:Choice>
        <mc:Fallback xmlns="">
          <p:sp>
            <p:nvSpPr>
              <p:cNvPr id="3" name="コンテンツ プレースホルダー 2">
                <a:extLst>
                  <a:ext uri="{FF2B5EF4-FFF2-40B4-BE49-F238E27FC236}">
                    <a16:creationId xmlns:a16="http://schemas.microsoft.com/office/drawing/2014/main" id="{551376CC-989B-A61E-F9AD-320506E7FB85}"/>
                  </a:ext>
                </a:extLst>
              </p:cNvPr>
              <p:cNvSpPr>
                <a:spLocks noGrp="1" noRot="1" noChangeAspect="1" noMove="1" noResize="1" noEditPoints="1" noAdjustHandles="1" noChangeArrowheads="1" noChangeShapeType="1" noTextEdit="1"/>
              </p:cNvSpPr>
              <p:nvPr>
                <p:ph idx="1"/>
              </p:nvPr>
            </p:nvSpPr>
            <p:spPr>
              <a:blipFill>
                <a:blip r:embed="rId2"/>
                <a:stretch>
                  <a:fillRect l="-1043" t="-2521"/>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F31BD9F5-7D6F-8F4B-00EF-8A8711AA8AD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pic>
        <p:nvPicPr>
          <p:cNvPr id="6" name="図 5">
            <a:extLst>
              <a:ext uri="{FF2B5EF4-FFF2-40B4-BE49-F238E27FC236}">
                <a16:creationId xmlns:a16="http://schemas.microsoft.com/office/drawing/2014/main" id="{B8FFE762-E4D9-CDFE-567F-4939A428863A}"/>
              </a:ext>
            </a:extLst>
          </p:cNvPr>
          <p:cNvPicPr>
            <a:picLocks noChangeAspect="1"/>
          </p:cNvPicPr>
          <p:nvPr/>
        </p:nvPicPr>
        <p:blipFill>
          <a:blip r:embed="rId3"/>
          <a:stretch>
            <a:fillRect/>
          </a:stretch>
        </p:blipFill>
        <p:spPr>
          <a:xfrm>
            <a:off x="813650" y="3189653"/>
            <a:ext cx="10564699" cy="3077004"/>
          </a:xfrm>
          <a:prstGeom prst="rect">
            <a:avLst/>
          </a:prstGeom>
        </p:spPr>
      </p:pic>
      <p:sp>
        <p:nvSpPr>
          <p:cNvPr id="5" name="テキスト ボックス 4">
            <a:extLst>
              <a:ext uri="{FF2B5EF4-FFF2-40B4-BE49-F238E27FC236}">
                <a16:creationId xmlns:a16="http://schemas.microsoft.com/office/drawing/2014/main" id="{3A302353-F9D5-3912-83E3-38E0D3785EC4}"/>
              </a:ext>
            </a:extLst>
          </p:cNvPr>
          <p:cNvSpPr txBox="1"/>
          <p:nvPr/>
        </p:nvSpPr>
        <p:spPr>
          <a:xfrm>
            <a:off x="2846613" y="6266657"/>
            <a:ext cx="6498771" cy="461665"/>
          </a:xfrm>
          <a:prstGeom prst="rect">
            <a:avLst/>
          </a:prstGeom>
          <a:noFill/>
        </p:spPr>
        <p:txBody>
          <a:bodyPr wrap="square" rtlCol="0">
            <a:spAutoFit/>
          </a:bodyPr>
          <a:lstStyle/>
          <a:p>
            <a:pPr algn="ctr"/>
            <a:r>
              <a:rPr kumimoji="1" lang="ja-JP" altLang="en-US" sz="2400" dirty="0"/>
              <a:t>論文</a:t>
            </a:r>
            <a:r>
              <a:rPr kumimoji="1" lang="en-US" altLang="ja-JP" sz="2400" dirty="0"/>
              <a:t>Figure 2.1</a:t>
            </a:r>
            <a:endParaRPr kumimoji="1" lang="ja-JP" altLang="en-US" sz="2400" dirty="0"/>
          </a:p>
        </p:txBody>
      </p:sp>
    </p:spTree>
    <p:extLst>
      <p:ext uri="{BB962C8B-B14F-4D97-AF65-F5344CB8AC3E}">
        <p14:creationId xmlns:p14="http://schemas.microsoft.com/office/powerpoint/2010/main" val="2414405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144C6-176B-C09E-A4A3-FFD7E5954BA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D9EDFB2-C30A-540B-BD90-2E607708328E}"/>
              </a:ext>
            </a:extLst>
          </p:cNvPr>
          <p:cNvSpPr>
            <a:spLocks noGrp="1"/>
          </p:cNvSpPr>
          <p:nvPr>
            <p:ph type="title"/>
          </p:nvPr>
        </p:nvSpPr>
        <p:spPr/>
        <p:txBody>
          <a:bodyPr/>
          <a:lstStyle/>
          <a:p>
            <a:r>
              <a:rPr lang="en-US" altLang="ja-JP" dirty="0"/>
              <a:t>2.1 PLL</a:t>
            </a:r>
            <a:r>
              <a:rPr lang="ja-JP" altLang="en-US" dirty="0"/>
              <a:t>の基本構成</a:t>
            </a:r>
            <a:endParaRPr kumimoji="1" lang="ja-JP" altLang="en-US" dirty="0"/>
          </a:p>
        </p:txBody>
      </p:sp>
      <p:sp>
        <p:nvSpPr>
          <p:cNvPr id="3" name="コンテンツ プレースホルダー 2">
            <a:extLst>
              <a:ext uri="{FF2B5EF4-FFF2-40B4-BE49-F238E27FC236}">
                <a16:creationId xmlns:a16="http://schemas.microsoft.com/office/drawing/2014/main" id="{CB7EED87-CA44-8FDF-A70C-F49582949C79}"/>
              </a:ext>
            </a:extLst>
          </p:cNvPr>
          <p:cNvSpPr>
            <a:spLocks noGrp="1"/>
          </p:cNvSpPr>
          <p:nvPr>
            <p:ph idx="1"/>
          </p:nvPr>
        </p:nvSpPr>
        <p:spPr/>
        <p:txBody>
          <a:bodyPr/>
          <a:lstStyle/>
          <a:p>
            <a:pPr marL="0" indent="0">
              <a:buNone/>
            </a:pPr>
            <a:r>
              <a:rPr kumimoji="1" lang="ja-JP" altLang="en-US" dirty="0"/>
              <a:t>流れは以下のようなもの</a:t>
            </a:r>
            <a:endParaRPr kumimoji="1" lang="en-US" altLang="ja-JP" dirty="0"/>
          </a:p>
          <a:p>
            <a:r>
              <a:rPr kumimoji="1" lang="ja-JP" altLang="en-US" dirty="0"/>
              <a:t>位相比較器で入力と</a:t>
            </a:r>
            <a:r>
              <a:rPr kumimoji="1" lang="en-US" altLang="ja-JP" dirty="0"/>
              <a:t>FB</a:t>
            </a:r>
            <a:r>
              <a:rPr lang="ja-JP" altLang="en-US" dirty="0"/>
              <a:t>の位相差</a:t>
            </a:r>
            <a:r>
              <a:rPr lang="en-US" altLang="ja-JP" dirty="0"/>
              <a:t>(</a:t>
            </a:r>
            <a:r>
              <a:rPr lang="ja-JP" altLang="en-US" dirty="0"/>
              <a:t>立ち上がりの差</a:t>
            </a:r>
            <a:r>
              <a:rPr lang="en-US" altLang="ja-JP" dirty="0"/>
              <a:t>)</a:t>
            </a:r>
            <a:r>
              <a:rPr lang="ja-JP" altLang="en-US" dirty="0"/>
              <a:t>を比較して，パルスを出力</a:t>
            </a:r>
            <a:endParaRPr lang="en-US" altLang="ja-JP" dirty="0"/>
          </a:p>
          <a:p>
            <a:r>
              <a:rPr lang="en-US" altLang="ja-JP" dirty="0"/>
              <a:t>CP</a:t>
            </a:r>
            <a:r>
              <a:rPr kumimoji="1" lang="ja-JP" altLang="en-US" dirty="0"/>
              <a:t>がパルスをアナログに戻す</a:t>
            </a:r>
            <a:endParaRPr kumimoji="1" lang="en-US" altLang="ja-JP" dirty="0"/>
          </a:p>
          <a:p>
            <a:r>
              <a:rPr lang="en-US" altLang="ja-JP" dirty="0"/>
              <a:t>LF</a:t>
            </a:r>
            <a:r>
              <a:rPr lang="ja-JP" altLang="en-US" dirty="0"/>
              <a:t>がノイズを取り除く</a:t>
            </a:r>
            <a:endParaRPr kumimoji="1" lang="en-US" altLang="ja-JP" dirty="0"/>
          </a:p>
          <a:p>
            <a:r>
              <a:rPr lang="en-US" altLang="ja-JP" dirty="0"/>
              <a:t>VCO</a:t>
            </a:r>
            <a:r>
              <a:rPr lang="ja-JP" altLang="en-US" dirty="0"/>
              <a:t>が</a:t>
            </a:r>
            <a:r>
              <a:rPr lang="en-US" altLang="ja-JP" dirty="0"/>
              <a:t>CP</a:t>
            </a:r>
            <a:r>
              <a:rPr lang="ja-JP" altLang="en-US" dirty="0"/>
              <a:t>の出力に応じた周波数の波形を出力</a:t>
            </a:r>
            <a:br>
              <a:rPr lang="en-US" altLang="ja-JP" dirty="0"/>
            </a:br>
            <a:r>
              <a:rPr lang="en-US" altLang="ja-JP" dirty="0"/>
              <a:t>(</a:t>
            </a:r>
            <a:r>
              <a:rPr lang="ja-JP" altLang="en-US" dirty="0"/>
              <a:t>これが回路全体の出力となる</a:t>
            </a:r>
            <a:r>
              <a:rPr lang="en-US" altLang="ja-JP" dirty="0"/>
              <a:t>)</a:t>
            </a:r>
          </a:p>
          <a:p>
            <a:r>
              <a:rPr kumimoji="1" lang="en-US" altLang="ja-JP" dirty="0"/>
              <a:t>VCO</a:t>
            </a:r>
            <a:r>
              <a:rPr kumimoji="1" lang="ja-JP" altLang="en-US" dirty="0"/>
              <a:t>の出力を分周器で分周し，</a:t>
            </a:r>
            <a:r>
              <a:rPr kumimoji="1" lang="en-US" altLang="ja-JP" dirty="0"/>
              <a:t>PD</a:t>
            </a:r>
            <a:r>
              <a:rPr kumimoji="1" lang="ja-JP" altLang="en-US" dirty="0"/>
              <a:t>に戻す</a:t>
            </a:r>
          </a:p>
        </p:txBody>
      </p:sp>
      <p:sp>
        <p:nvSpPr>
          <p:cNvPr id="4" name="スライド番号プレースホルダー 3">
            <a:extLst>
              <a:ext uri="{FF2B5EF4-FFF2-40B4-BE49-F238E27FC236}">
                <a16:creationId xmlns:a16="http://schemas.microsoft.com/office/drawing/2014/main" id="{E2C1CCF9-659A-2414-22CF-E3EEF947243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21339097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B24A2-C7EC-F88F-C90B-5E944D2581E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4F5BD80-FAE1-796C-3795-119C0457028F}"/>
              </a:ext>
            </a:extLst>
          </p:cNvPr>
          <p:cNvSpPr>
            <a:spLocks noGrp="1"/>
          </p:cNvSpPr>
          <p:nvPr>
            <p:ph type="title"/>
          </p:nvPr>
        </p:nvSpPr>
        <p:spPr/>
        <p:txBody>
          <a:bodyPr/>
          <a:lstStyle/>
          <a:p>
            <a:r>
              <a:rPr lang="en-US" altLang="ja-JP" dirty="0"/>
              <a:t>2.1 PLL</a:t>
            </a:r>
            <a:r>
              <a:rPr lang="ja-JP" altLang="en-US" dirty="0"/>
              <a:t>の基本構成</a:t>
            </a:r>
            <a:endParaRPr kumimoji="1" lang="ja-JP" altLang="en-US" dirty="0"/>
          </a:p>
        </p:txBody>
      </p:sp>
      <p:sp>
        <p:nvSpPr>
          <p:cNvPr id="3" name="コンテンツ プレースホルダー 2">
            <a:extLst>
              <a:ext uri="{FF2B5EF4-FFF2-40B4-BE49-F238E27FC236}">
                <a16:creationId xmlns:a16="http://schemas.microsoft.com/office/drawing/2014/main" id="{DAEE6A22-4E11-F55D-7D7E-3EFC7560FB76}"/>
              </a:ext>
            </a:extLst>
          </p:cNvPr>
          <p:cNvSpPr>
            <a:spLocks noGrp="1"/>
          </p:cNvSpPr>
          <p:nvPr>
            <p:ph idx="1"/>
          </p:nvPr>
        </p:nvSpPr>
        <p:spPr/>
        <p:txBody>
          <a:bodyPr>
            <a:normAutofit/>
          </a:bodyPr>
          <a:lstStyle/>
          <a:p>
            <a:r>
              <a:rPr lang="ja-JP" altLang="en-US" dirty="0"/>
              <a:t>ノイズは大別すると</a:t>
            </a:r>
            <a:r>
              <a:rPr lang="en-US" altLang="ja-JP" dirty="0"/>
              <a:t>2</a:t>
            </a:r>
            <a:r>
              <a:rPr lang="ja-JP" altLang="en-US" dirty="0"/>
              <a:t>種類</a:t>
            </a:r>
            <a:r>
              <a:rPr lang="en-US" altLang="ja-JP" dirty="0"/>
              <a:t>(LF</a:t>
            </a:r>
            <a:r>
              <a:rPr lang="ja-JP" altLang="en-US" dirty="0"/>
              <a:t>ノイズは小さいので無視</a:t>
            </a:r>
            <a:r>
              <a:rPr lang="en-US" altLang="ja-JP" dirty="0"/>
              <a:t>)</a:t>
            </a:r>
            <a:br>
              <a:rPr lang="en-US" altLang="ja-JP" dirty="0"/>
            </a:br>
            <a:r>
              <a:rPr lang="ja-JP" altLang="en-US" dirty="0"/>
              <a:t>→</a:t>
            </a:r>
            <a:r>
              <a:rPr kumimoji="1" lang="en-US" altLang="ja-JP" dirty="0"/>
              <a:t>VCO</a:t>
            </a:r>
            <a:r>
              <a:rPr kumimoji="1" lang="ja-JP" altLang="en-US" dirty="0"/>
              <a:t>から出るものと，</a:t>
            </a:r>
            <a:r>
              <a:rPr kumimoji="1" lang="en-US" altLang="ja-JP" dirty="0"/>
              <a:t>VCO</a:t>
            </a:r>
            <a:r>
              <a:rPr kumimoji="1" lang="ja-JP" altLang="en-US" dirty="0"/>
              <a:t>以外から出るもの</a:t>
            </a:r>
            <a:endParaRPr kumimoji="1" lang="en-US" altLang="ja-JP" dirty="0"/>
          </a:p>
          <a:p>
            <a:endParaRPr lang="en-US" altLang="ja-JP" dirty="0"/>
          </a:p>
          <a:p>
            <a:r>
              <a:rPr kumimoji="1" lang="ja-JP" altLang="en-US" dirty="0"/>
              <a:t>前者は，出力にそのまま乗るから</a:t>
            </a:r>
            <a:r>
              <a:rPr lang="ja-JP" altLang="en-US" dirty="0"/>
              <a:t>伝達関数が</a:t>
            </a:r>
            <a:r>
              <a:rPr lang="en-US" altLang="ja-JP" dirty="0"/>
              <a:t>1/(1 + H(s))</a:t>
            </a:r>
            <a:r>
              <a:rPr lang="ja-JP" altLang="en-US" dirty="0"/>
              <a:t>型</a:t>
            </a:r>
            <a:br>
              <a:rPr lang="en-US" altLang="ja-JP" dirty="0"/>
            </a:br>
            <a:r>
              <a:rPr lang="ja-JP" altLang="en-US" dirty="0"/>
              <a:t>→</a:t>
            </a:r>
            <a:r>
              <a:rPr lang="en-US" altLang="ja-JP" dirty="0"/>
              <a:t>HPF</a:t>
            </a:r>
            <a:r>
              <a:rPr lang="ja-JP" altLang="en-US" dirty="0"/>
              <a:t>特性</a:t>
            </a:r>
            <a:endParaRPr lang="en-US" altLang="ja-JP" dirty="0"/>
          </a:p>
          <a:p>
            <a:endParaRPr kumimoji="1" lang="en-US" altLang="ja-JP" dirty="0"/>
          </a:p>
          <a:p>
            <a:r>
              <a:rPr lang="ja-JP" altLang="en-US" dirty="0"/>
              <a:t>後者は，出力までに</a:t>
            </a:r>
            <a:r>
              <a:rPr lang="en-US" altLang="ja-JP" dirty="0"/>
              <a:t>VCO</a:t>
            </a:r>
            <a:r>
              <a:rPr lang="ja-JP" altLang="en-US" dirty="0"/>
              <a:t>を通るから</a:t>
            </a:r>
            <a:br>
              <a:rPr lang="en-US" altLang="ja-JP" dirty="0"/>
            </a:br>
            <a:r>
              <a:rPr lang="en-US" altLang="ja-JP" dirty="0"/>
              <a:t>H(s)/(1 + H(s))</a:t>
            </a:r>
            <a:r>
              <a:rPr lang="ja-JP" altLang="en-US" dirty="0"/>
              <a:t>型</a:t>
            </a:r>
            <a:br>
              <a:rPr lang="en-US" altLang="ja-JP" dirty="0"/>
            </a:br>
            <a:r>
              <a:rPr lang="ja-JP" altLang="en-US" dirty="0"/>
              <a:t>→</a:t>
            </a:r>
            <a:r>
              <a:rPr lang="en-US" altLang="ja-JP" dirty="0"/>
              <a:t>LPF</a:t>
            </a:r>
            <a:r>
              <a:rPr lang="ja-JP" altLang="en-US" dirty="0"/>
              <a:t>特性</a:t>
            </a:r>
            <a:endParaRPr kumimoji="1" lang="en-US" altLang="ja-JP" dirty="0"/>
          </a:p>
        </p:txBody>
      </p:sp>
      <p:sp>
        <p:nvSpPr>
          <p:cNvPr id="4" name="スライド番号プレースホルダー 3">
            <a:extLst>
              <a:ext uri="{FF2B5EF4-FFF2-40B4-BE49-F238E27FC236}">
                <a16:creationId xmlns:a16="http://schemas.microsoft.com/office/drawing/2014/main" id="{B7EF7F63-3C6B-ED78-BF31-4220AE8A60A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28341230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295CC-B756-322C-3AC5-1F031829903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F70273A-FED2-B208-842C-29F858D63D62}"/>
              </a:ext>
            </a:extLst>
          </p:cNvPr>
          <p:cNvSpPr>
            <a:spLocks noGrp="1"/>
          </p:cNvSpPr>
          <p:nvPr>
            <p:ph type="title"/>
          </p:nvPr>
        </p:nvSpPr>
        <p:spPr/>
        <p:txBody>
          <a:bodyPr/>
          <a:lstStyle/>
          <a:p>
            <a:r>
              <a:rPr lang="en-US" altLang="ja-JP" dirty="0"/>
              <a:t>2.1 PLL</a:t>
            </a:r>
            <a:r>
              <a:rPr lang="ja-JP" altLang="en-US" dirty="0"/>
              <a:t>の基本構成</a:t>
            </a:r>
            <a:endParaRPr kumimoji="1" lang="ja-JP" altLang="en-US" dirty="0"/>
          </a:p>
        </p:txBody>
      </p:sp>
      <p:sp>
        <p:nvSpPr>
          <p:cNvPr id="3" name="コンテンツ プレースホルダー 2">
            <a:extLst>
              <a:ext uri="{FF2B5EF4-FFF2-40B4-BE49-F238E27FC236}">
                <a16:creationId xmlns:a16="http://schemas.microsoft.com/office/drawing/2014/main" id="{9CB20EEF-0A96-0A10-A24A-BCA941EF9C51}"/>
              </a:ext>
            </a:extLst>
          </p:cNvPr>
          <p:cNvSpPr>
            <a:spLocks noGrp="1"/>
          </p:cNvSpPr>
          <p:nvPr>
            <p:ph idx="1"/>
          </p:nvPr>
        </p:nvSpPr>
        <p:spPr/>
        <p:txBody>
          <a:bodyPr/>
          <a:lstStyle/>
          <a:p>
            <a:r>
              <a:rPr kumimoji="1" lang="en-US" altLang="ja-JP" dirty="0"/>
              <a:t>LPF</a:t>
            </a:r>
            <a:r>
              <a:rPr kumimoji="1" lang="ja-JP" altLang="en-US" dirty="0"/>
              <a:t>特性のノイズをまとめれば，ほぼ等価なブロック図が</a:t>
            </a:r>
            <a:br>
              <a:rPr kumimoji="1" lang="en-US" altLang="ja-JP" dirty="0"/>
            </a:br>
            <a:r>
              <a:rPr kumimoji="1" lang="ja-JP" altLang="en-US" dirty="0"/>
              <a:t>以下のようにかける</a:t>
            </a:r>
          </a:p>
        </p:txBody>
      </p:sp>
      <p:sp>
        <p:nvSpPr>
          <p:cNvPr id="4" name="スライド番号プレースホルダー 3">
            <a:extLst>
              <a:ext uri="{FF2B5EF4-FFF2-40B4-BE49-F238E27FC236}">
                <a16:creationId xmlns:a16="http://schemas.microsoft.com/office/drawing/2014/main" id="{B8C2E8F0-661C-79D2-ED03-F9FFC62BBAC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pic>
        <p:nvPicPr>
          <p:cNvPr id="6" name="図 5">
            <a:extLst>
              <a:ext uri="{FF2B5EF4-FFF2-40B4-BE49-F238E27FC236}">
                <a16:creationId xmlns:a16="http://schemas.microsoft.com/office/drawing/2014/main" id="{1621CFC3-D638-29D1-A401-12D97AF742D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538188" y="3189653"/>
            <a:ext cx="9115622" cy="3077004"/>
          </a:xfrm>
          <a:prstGeom prst="rect">
            <a:avLst/>
          </a:prstGeom>
        </p:spPr>
      </p:pic>
      <p:sp>
        <p:nvSpPr>
          <p:cNvPr id="5" name="テキスト ボックス 4">
            <a:extLst>
              <a:ext uri="{FF2B5EF4-FFF2-40B4-BE49-F238E27FC236}">
                <a16:creationId xmlns:a16="http://schemas.microsoft.com/office/drawing/2014/main" id="{5E5E00A1-04B7-7D8F-224F-426D7B7D9D3C}"/>
              </a:ext>
            </a:extLst>
          </p:cNvPr>
          <p:cNvSpPr txBox="1"/>
          <p:nvPr/>
        </p:nvSpPr>
        <p:spPr>
          <a:xfrm>
            <a:off x="2846613" y="6266657"/>
            <a:ext cx="6498771" cy="461665"/>
          </a:xfrm>
          <a:prstGeom prst="rect">
            <a:avLst/>
          </a:prstGeom>
          <a:noFill/>
        </p:spPr>
        <p:txBody>
          <a:bodyPr wrap="square" rtlCol="0">
            <a:spAutoFit/>
          </a:bodyPr>
          <a:lstStyle/>
          <a:p>
            <a:pPr algn="ctr"/>
            <a:r>
              <a:rPr kumimoji="1" lang="ja-JP" altLang="en-US" sz="2400" dirty="0"/>
              <a:t>論文</a:t>
            </a:r>
            <a:r>
              <a:rPr kumimoji="1" lang="en-US" altLang="ja-JP" sz="2400" dirty="0"/>
              <a:t>Figure 2.3</a:t>
            </a:r>
            <a:endParaRPr kumimoji="1" lang="ja-JP" altLang="en-US" sz="2400" dirty="0"/>
          </a:p>
        </p:txBody>
      </p:sp>
    </p:spTree>
    <p:extLst>
      <p:ext uri="{BB962C8B-B14F-4D97-AF65-F5344CB8AC3E}">
        <p14:creationId xmlns:p14="http://schemas.microsoft.com/office/powerpoint/2010/main" val="21315421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16349-A387-A58B-61C3-1E84FDE67D9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AF30FA6-AACC-94B2-AE86-04289AB3088A}"/>
              </a:ext>
            </a:extLst>
          </p:cNvPr>
          <p:cNvSpPr>
            <a:spLocks noGrp="1"/>
          </p:cNvSpPr>
          <p:nvPr>
            <p:ph type="title"/>
          </p:nvPr>
        </p:nvSpPr>
        <p:spPr/>
        <p:txBody>
          <a:bodyPr/>
          <a:lstStyle/>
          <a:p>
            <a:r>
              <a:rPr lang="en-US" altLang="ja-JP" dirty="0"/>
              <a:t>2.1 PLL</a:t>
            </a:r>
            <a:r>
              <a:rPr lang="ja-JP" altLang="en-US" dirty="0"/>
              <a:t>の基本構成</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5887DAD9-5C07-BFF3-C56D-4593A3E0445B}"/>
                  </a:ext>
                </a:extLst>
              </p:cNvPr>
              <p:cNvSpPr>
                <a:spLocks noGrp="1"/>
              </p:cNvSpPr>
              <p:nvPr>
                <p:ph idx="1"/>
              </p:nvPr>
            </p:nvSpPr>
            <p:spPr/>
            <p:txBody>
              <a:bodyPr>
                <a:normAutofit/>
              </a:bodyPr>
              <a:lstStyle/>
              <a:p>
                <a:r>
                  <a:rPr kumimoji="1" lang="ja-JP" altLang="en-US" dirty="0"/>
                  <a:t>先程の図において，通っているフィルタは同じなので</a:t>
                </a:r>
                <a:br>
                  <a:rPr kumimoji="1" lang="en-US" altLang="ja-JP" dirty="0"/>
                </a:br>
                <a:r>
                  <a:rPr kumimoji="1" lang="ja-JP" altLang="en-US" dirty="0"/>
                  <a:t>ユニティゲイン周波数</a:t>
                </a:r>
                <a14:m>
                  <m:oMath xmlns:m="http://schemas.openxmlformats.org/officeDocument/2006/math">
                    <m:sSub>
                      <m:sSubPr>
                        <m:ctrlPr>
                          <a:rPr kumimoji="1" lang="ja-JP" altLang="en-US" i="1" smtClean="0">
                            <a:latin typeface="Cambria Math" panose="02040503050406030204" pitchFamily="18" charset="0"/>
                          </a:rPr>
                        </m:ctrlPr>
                      </m:sSubPr>
                      <m:e>
                        <m:r>
                          <a:rPr kumimoji="1" lang="ja-JP" altLang="en-US" i="1" smtClean="0">
                            <a:latin typeface="Cambria Math" panose="02040503050406030204" pitchFamily="18" charset="0"/>
                          </a:rPr>
                          <m:t>𝜔</m:t>
                        </m:r>
                      </m:e>
                      <m:sub>
                        <m:r>
                          <a:rPr kumimoji="1" lang="en-US" altLang="ja-JP" b="0" i="1" smtClean="0">
                            <a:latin typeface="Cambria Math" panose="02040503050406030204" pitchFamily="18" charset="0"/>
                          </a:rPr>
                          <m:t>𝑈𝐺</m:t>
                        </m:r>
                      </m:sub>
                    </m:sSub>
                    <m:r>
                      <a:rPr lang="ja-JP" altLang="en-US" i="1">
                        <a:latin typeface="Cambria Math" panose="02040503050406030204" pitchFamily="18" charset="0"/>
                      </a:rPr>
                      <m:t>は</m:t>
                    </m:r>
                  </m:oMath>
                </a14:m>
                <a:r>
                  <a:rPr kumimoji="1" lang="ja-JP" altLang="en-US" dirty="0"/>
                  <a:t>同じ</a:t>
                </a:r>
                <a:endParaRPr kumimoji="1" lang="en-US" altLang="ja-JP" dirty="0"/>
              </a:p>
              <a:p>
                <a:endParaRPr lang="en-US" altLang="ja-JP" dirty="0"/>
              </a:p>
              <a:p>
                <a:r>
                  <a:rPr kumimoji="1" lang="ja-JP" altLang="en-US" dirty="0"/>
                  <a:t>したがって，片方を減らそうと</a:t>
                </a:r>
                <a14:m>
                  <m:oMath xmlns:m="http://schemas.openxmlformats.org/officeDocument/2006/math">
                    <m:sSub>
                      <m:sSubPr>
                        <m:ctrlPr>
                          <a:rPr lang="ja-JP" altLang="en-US" i="1">
                            <a:latin typeface="Cambria Math" panose="02040503050406030204" pitchFamily="18" charset="0"/>
                          </a:rPr>
                        </m:ctrlPr>
                      </m:sSubPr>
                      <m:e>
                        <m:r>
                          <a:rPr lang="ja-JP" altLang="en-US" i="1">
                            <a:latin typeface="Cambria Math" panose="02040503050406030204" pitchFamily="18" charset="0"/>
                          </a:rPr>
                          <m:t>𝜔</m:t>
                        </m:r>
                      </m:e>
                      <m:sub>
                        <m:r>
                          <a:rPr lang="en-US" altLang="ja-JP" i="1">
                            <a:latin typeface="Cambria Math" panose="02040503050406030204" pitchFamily="18" charset="0"/>
                          </a:rPr>
                          <m:t>𝑈𝐺</m:t>
                        </m:r>
                      </m:sub>
                    </m:sSub>
                  </m:oMath>
                </a14:m>
                <a:r>
                  <a:rPr kumimoji="1" lang="ja-JP" altLang="en-US" dirty="0"/>
                  <a:t>を動かした場合，必ず</a:t>
                </a:r>
                <a:br>
                  <a:rPr kumimoji="1" lang="en-US" altLang="ja-JP" dirty="0"/>
                </a:br>
                <a:r>
                  <a:rPr kumimoji="1" lang="ja-JP" altLang="en-US" dirty="0"/>
                  <a:t>他方がその分大きくなるトレードオフが生じる</a:t>
                </a:r>
                <a:endParaRPr kumimoji="1" lang="en-US" altLang="ja-JP" dirty="0"/>
              </a:p>
            </p:txBody>
          </p:sp>
        </mc:Choice>
        <mc:Fallback xmlns="">
          <p:sp>
            <p:nvSpPr>
              <p:cNvPr id="3" name="コンテンツ プレースホルダー 2">
                <a:extLst>
                  <a:ext uri="{FF2B5EF4-FFF2-40B4-BE49-F238E27FC236}">
                    <a16:creationId xmlns:a16="http://schemas.microsoft.com/office/drawing/2014/main" id="{5887DAD9-5C07-BFF3-C56D-4593A3E0445B}"/>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B7414478-76BA-897E-0B52-8355576106E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16339453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21FD5-914A-C571-2D2B-5FCD050BCE2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56EC8D0-017F-C6E3-D5E8-498E9B178FD5}"/>
              </a:ext>
            </a:extLst>
          </p:cNvPr>
          <p:cNvSpPr>
            <a:spLocks noGrp="1"/>
          </p:cNvSpPr>
          <p:nvPr>
            <p:ph type="title"/>
          </p:nvPr>
        </p:nvSpPr>
        <p:spPr/>
        <p:txBody>
          <a:bodyPr/>
          <a:lstStyle/>
          <a:p>
            <a:r>
              <a:rPr lang="en-US" altLang="ja-JP" dirty="0"/>
              <a:t>2.1 PLL</a:t>
            </a:r>
            <a:r>
              <a:rPr lang="ja-JP" altLang="en-US" dirty="0"/>
              <a:t>の基本構成</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B31558DF-73F0-9DFB-221D-9D5C2EB49782}"/>
                  </a:ext>
                </a:extLst>
              </p:cNvPr>
              <p:cNvSpPr>
                <a:spLocks noGrp="1"/>
              </p:cNvSpPr>
              <p:nvPr>
                <p:ph sz="half" idx="1"/>
              </p:nvPr>
            </p:nvSpPr>
            <p:spPr/>
            <p:txBody>
              <a:bodyPr/>
              <a:lstStyle/>
              <a:p>
                <a14:m>
                  <m:oMath xmlns:m="http://schemas.openxmlformats.org/officeDocument/2006/math">
                    <m:sSub>
                      <m:sSubPr>
                        <m:ctrlPr>
                          <a:rPr lang="ja-JP" altLang="en-US" i="1">
                            <a:latin typeface="Cambria Math" panose="02040503050406030204" pitchFamily="18" charset="0"/>
                          </a:rPr>
                        </m:ctrlPr>
                      </m:sSubPr>
                      <m:e>
                        <m:r>
                          <a:rPr lang="ja-JP" altLang="en-US" i="1">
                            <a:latin typeface="Cambria Math" panose="02040503050406030204" pitchFamily="18" charset="0"/>
                          </a:rPr>
                          <m:t>𝜔</m:t>
                        </m:r>
                      </m:e>
                      <m:sub>
                        <m:r>
                          <a:rPr lang="en-US" altLang="ja-JP" i="1">
                            <a:latin typeface="Cambria Math" panose="02040503050406030204" pitchFamily="18" charset="0"/>
                          </a:rPr>
                          <m:t>𝑈𝐺</m:t>
                        </m:r>
                      </m:sub>
                    </m:sSub>
                  </m:oMath>
                </a14:m>
                <a:r>
                  <a:rPr kumimoji="1" lang="ja-JP" altLang="en-US" dirty="0"/>
                  <a:t>を変えた際の</a:t>
                </a:r>
                <a:r>
                  <a:rPr kumimoji="1" lang="en-US" altLang="ja-JP" dirty="0"/>
                  <a:t>Bode</a:t>
                </a:r>
                <a:r>
                  <a:rPr kumimoji="1" lang="ja-JP" altLang="en-US" dirty="0"/>
                  <a:t>線図</a:t>
                </a:r>
                <a:endParaRPr kumimoji="1" lang="en-US" altLang="ja-JP" dirty="0"/>
              </a:p>
              <a:p>
                <a:endParaRPr lang="en-US" altLang="ja-JP" dirty="0"/>
              </a:p>
              <a:p>
                <a:r>
                  <a:rPr kumimoji="1" lang="ja-JP" altLang="en-US" dirty="0"/>
                  <a:t>低いと</a:t>
                </a:r>
                <a:r>
                  <a:rPr kumimoji="1" lang="en-US" altLang="ja-JP" dirty="0"/>
                  <a:t>VCO</a:t>
                </a:r>
                <a:r>
                  <a:rPr kumimoji="1" lang="ja-JP" altLang="en-US" dirty="0"/>
                  <a:t>ノイズが支配的になる</a:t>
                </a:r>
                <a:endParaRPr kumimoji="1" lang="en-US" altLang="ja-JP" dirty="0"/>
              </a:p>
              <a:p>
                <a:endParaRPr lang="en-US" altLang="ja-JP" dirty="0"/>
              </a:p>
              <a:p>
                <a:r>
                  <a:rPr kumimoji="1" lang="ja-JP" altLang="en-US" dirty="0"/>
                  <a:t>高くしすぎると白色ノイズが通過してしまう</a:t>
                </a:r>
              </a:p>
            </p:txBody>
          </p:sp>
        </mc:Choice>
        <mc:Fallback xmlns="">
          <p:sp>
            <p:nvSpPr>
              <p:cNvPr id="3" name="コンテンツ プレースホルダー 2">
                <a:extLst>
                  <a:ext uri="{FF2B5EF4-FFF2-40B4-BE49-F238E27FC236}">
                    <a16:creationId xmlns:a16="http://schemas.microsoft.com/office/drawing/2014/main" id="{B31558DF-73F0-9DFB-221D-9D5C2EB49782}"/>
                  </a:ext>
                </a:extLst>
              </p:cNvPr>
              <p:cNvSpPr>
                <a:spLocks noGrp="1" noRot="1" noChangeAspect="1" noMove="1" noResize="1" noEditPoints="1" noAdjustHandles="1" noChangeArrowheads="1" noChangeShapeType="1" noTextEdit="1"/>
              </p:cNvSpPr>
              <p:nvPr>
                <p:ph sz="half" idx="1"/>
              </p:nvPr>
            </p:nvSpPr>
            <p:spPr>
              <a:blipFill>
                <a:blip r:embed="rId2"/>
                <a:stretch>
                  <a:fillRect l="-2118" t="-2521"/>
                </a:stretch>
              </a:blipFill>
            </p:spPr>
            <p:txBody>
              <a:bodyPr/>
              <a:lstStyle/>
              <a:p>
                <a:r>
                  <a:rPr lang="ja-JP" altLang="en-US">
                    <a:noFill/>
                  </a:rPr>
                  <a:t> </a:t>
                </a:r>
              </a:p>
            </p:txBody>
          </p:sp>
        </mc:Fallback>
      </mc:AlternateContent>
      <p:pic>
        <p:nvPicPr>
          <p:cNvPr id="9" name="コンテンツ プレースホルダー 8">
            <a:extLst>
              <a:ext uri="{FF2B5EF4-FFF2-40B4-BE49-F238E27FC236}">
                <a16:creationId xmlns:a16="http://schemas.microsoft.com/office/drawing/2014/main" id="{77395571-D198-7709-2D4C-D5D250156D99}"/>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470291" y="338667"/>
            <a:ext cx="5181600" cy="5838296"/>
          </a:xfrm>
          <a:prstGeom prst="rect">
            <a:avLst/>
          </a:prstGeom>
        </p:spPr>
      </p:pic>
      <p:sp>
        <p:nvSpPr>
          <p:cNvPr id="4" name="スライド番号プレースホルダー 3">
            <a:extLst>
              <a:ext uri="{FF2B5EF4-FFF2-40B4-BE49-F238E27FC236}">
                <a16:creationId xmlns:a16="http://schemas.microsoft.com/office/drawing/2014/main" id="{B2946645-4F45-00A2-7CA2-536343F2829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
        <p:nvSpPr>
          <p:cNvPr id="5" name="テキスト ボックス 4">
            <a:extLst>
              <a:ext uri="{FF2B5EF4-FFF2-40B4-BE49-F238E27FC236}">
                <a16:creationId xmlns:a16="http://schemas.microsoft.com/office/drawing/2014/main" id="{422FC8F6-0570-EAF9-3AD7-08FDC756AF8F}"/>
              </a:ext>
            </a:extLst>
          </p:cNvPr>
          <p:cNvSpPr txBox="1"/>
          <p:nvPr/>
        </p:nvSpPr>
        <p:spPr>
          <a:xfrm>
            <a:off x="5811705" y="6176963"/>
            <a:ext cx="6498771" cy="461665"/>
          </a:xfrm>
          <a:prstGeom prst="rect">
            <a:avLst/>
          </a:prstGeom>
          <a:noFill/>
        </p:spPr>
        <p:txBody>
          <a:bodyPr wrap="square" rtlCol="0">
            <a:spAutoFit/>
          </a:bodyPr>
          <a:lstStyle/>
          <a:p>
            <a:pPr algn="ctr"/>
            <a:r>
              <a:rPr kumimoji="1" lang="ja-JP" altLang="en-US" sz="2400" dirty="0"/>
              <a:t>論文</a:t>
            </a:r>
            <a:r>
              <a:rPr kumimoji="1" lang="en-US" altLang="ja-JP" sz="2400" dirty="0"/>
              <a:t>Figure 2.</a:t>
            </a:r>
            <a:r>
              <a:rPr lang="en-US" altLang="ja-JP" sz="2400" dirty="0"/>
              <a:t>4</a:t>
            </a:r>
            <a:endParaRPr kumimoji="1" lang="ja-JP" altLang="en-US" sz="2400" dirty="0"/>
          </a:p>
        </p:txBody>
      </p:sp>
    </p:spTree>
    <p:extLst>
      <p:ext uri="{BB962C8B-B14F-4D97-AF65-F5344CB8AC3E}">
        <p14:creationId xmlns:p14="http://schemas.microsoft.com/office/powerpoint/2010/main" val="40993045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496AC-14B8-401A-CDE9-969951E9D16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60AF962-BDD0-E2BE-AD33-77E580B177FD}"/>
              </a:ext>
            </a:extLst>
          </p:cNvPr>
          <p:cNvSpPr>
            <a:spLocks noGrp="1"/>
          </p:cNvSpPr>
          <p:nvPr>
            <p:ph type="title"/>
          </p:nvPr>
        </p:nvSpPr>
        <p:spPr/>
        <p:txBody>
          <a:bodyPr/>
          <a:lstStyle/>
          <a:p>
            <a:r>
              <a:rPr lang="en-US" altLang="ja-JP" dirty="0"/>
              <a:t>2.2 </a:t>
            </a:r>
            <a:r>
              <a:rPr lang="ja-JP" altLang="en-US" dirty="0"/>
              <a:t>分周</a:t>
            </a:r>
            <a:endParaRPr kumimoji="1" lang="ja-JP" altLang="en-US" dirty="0"/>
          </a:p>
        </p:txBody>
      </p:sp>
      <p:sp>
        <p:nvSpPr>
          <p:cNvPr id="3" name="コンテンツ プレースホルダー 2">
            <a:extLst>
              <a:ext uri="{FF2B5EF4-FFF2-40B4-BE49-F238E27FC236}">
                <a16:creationId xmlns:a16="http://schemas.microsoft.com/office/drawing/2014/main" id="{BD69A10D-5EBF-ADCD-5513-6B91783C5333}"/>
              </a:ext>
            </a:extLst>
          </p:cNvPr>
          <p:cNvSpPr>
            <a:spLocks noGrp="1"/>
          </p:cNvSpPr>
          <p:nvPr>
            <p:ph idx="1"/>
          </p:nvPr>
        </p:nvSpPr>
        <p:spPr/>
        <p:txBody>
          <a:bodyPr/>
          <a:lstStyle/>
          <a:p>
            <a:r>
              <a:rPr lang="ja-JP" altLang="en-US" dirty="0"/>
              <a:t>分周器は，整数比ならカウンタなどで比較的簡単に実装可能</a:t>
            </a:r>
            <a:endParaRPr lang="en-US" altLang="ja-JP" dirty="0"/>
          </a:p>
          <a:p>
            <a:endParaRPr kumimoji="1" lang="en-US" altLang="ja-JP" dirty="0"/>
          </a:p>
          <a:p>
            <a:r>
              <a:rPr lang="ja-JP" altLang="en-US" dirty="0"/>
              <a:t>小数比の場合は，割る整数を周期的に変えれば実現できる</a:t>
            </a:r>
            <a:endParaRPr lang="en-US" altLang="ja-JP" dirty="0"/>
          </a:p>
          <a:p>
            <a:endParaRPr kumimoji="1" lang="en-US" altLang="ja-JP" dirty="0"/>
          </a:p>
          <a:p>
            <a:r>
              <a:rPr lang="ja-JP" altLang="en-US" dirty="0"/>
              <a:t>複数の分周比を切り替えられる分周器を</a:t>
            </a:r>
            <a:r>
              <a:rPr lang="en-US" altLang="ja-JP" dirty="0"/>
              <a:t>MMD(Multi-Modulus-</a:t>
            </a:r>
            <a:br>
              <a:rPr lang="en-US" altLang="ja-JP" dirty="0"/>
            </a:br>
            <a:r>
              <a:rPr lang="en-US" altLang="ja-JP" dirty="0"/>
              <a:t>Divider)</a:t>
            </a:r>
            <a:r>
              <a:rPr lang="ja-JP" altLang="en-US" dirty="0"/>
              <a:t>と呼ぶ</a:t>
            </a:r>
            <a:endParaRPr lang="en-US" altLang="ja-JP" dirty="0"/>
          </a:p>
        </p:txBody>
      </p:sp>
      <p:sp>
        <p:nvSpPr>
          <p:cNvPr id="4" name="スライド番号プレースホルダー 3">
            <a:extLst>
              <a:ext uri="{FF2B5EF4-FFF2-40B4-BE49-F238E27FC236}">
                <a16:creationId xmlns:a16="http://schemas.microsoft.com/office/drawing/2014/main" id="{30352D21-8A53-297B-205B-7ADAFDDED1E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26615779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CD349-E9FA-D4A6-2858-4FFF2561A23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65F4862-AD01-8874-DADE-4FF65F1829DC}"/>
              </a:ext>
            </a:extLst>
          </p:cNvPr>
          <p:cNvSpPr>
            <a:spLocks noGrp="1"/>
          </p:cNvSpPr>
          <p:nvPr>
            <p:ph type="title"/>
          </p:nvPr>
        </p:nvSpPr>
        <p:spPr/>
        <p:txBody>
          <a:bodyPr/>
          <a:lstStyle/>
          <a:p>
            <a:r>
              <a:rPr lang="en-US" altLang="ja-JP" dirty="0"/>
              <a:t>2.2 </a:t>
            </a:r>
            <a:r>
              <a:rPr lang="ja-JP" altLang="en-US" dirty="0"/>
              <a:t>分周</a:t>
            </a:r>
            <a:endParaRPr kumimoji="1" lang="ja-JP" altLang="en-US" dirty="0"/>
          </a:p>
        </p:txBody>
      </p:sp>
      <p:sp>
        <p:nvSpPr>
          <p:cNvPr id="3" name="コンテンツ プレースホルダー 2">
            <a:extLst>
              <a:ext uri="{FF2B5EF4-FFF2-40B4-BE49-F238E27FC236}">
                <a16:creationId xmlns:a16="http://schemas.microsoft.com/office/drawing/2014/main" id="{B70963A2-D7CC-5E09-86F5-59A66627FE18}"/>
              </a:ext>
            </a:extLst>
          </p:cNvPr>
          <p:cNvSpPr>
            <a:spLocks noGrp="1"/>
          </p:cNvSpPr>
          <p:nvPr>
            <p:ph idx="1"/>
          </p:nvPr>
        </p:nvSpPr>
        <p:spPr/>
        <p:txBody>
          <a:bodyPr/>
          <a:lstStyle/>
          <a:p>
            <a:r>
              <a:rPr lang="ja-JP" altLang="en-US" dirty="0"/>
              <a:t>単に周期的に切り替えるだけでは，その周期に応じたノイズが</a:t>
            </a:r>
            <a:br>
              <a:rPr lang="en-US" altLang="ja-JP" dirty="0"/>
            </a:br>
            <a:r>
              <a:rPr lang="ja-JP" altLang="en-US" dirty="0"/>
              <a:t>発生する</a:t>
            </a:r>
            <a:r>
              <a:rPr lang="en-US" altLang="ja-JP" dirty="0"/>
              <a:t>(</a:t>
            </a:r>
            <a:r>
              <a:rPr lang="ja-JP" altLang="en-US" dirty="0"/>
              <a:t>スプリアス</a:t>
            </a:r>
            <a:r>
              <a:rPr lang="en-US" altLang="ja-JP" dirty="0"/>
              <a:t>)</a:t>
            </a:r>
            <a:br>
              <a:rPr lang="en-US" altLang="ja-JP" dirty="0"/>
            </a:br>
            <a:r>
              <a:rPr lang="ja-JP" altLang="en-US" dirty="0"/>
              <a:t>→白色雑音を利用し，分周比をランダムに切り替えれば，</a:t>
            </a:r>
            <a:br>
              <a:rPr lang="en-US" altLang="ja-JP" dirty="0"/>
            </a:br>
            <a:r>
              <a:rPr lang="ja-JP" altLang="en-US" dirty="0"/>
              <a:t>　そのノイズを低減できる</a:t>
            </a:r>
            <a:endParaRPr lang="en-US" altLang="ja-JP" dirty="0"/>
          </a:p>
          <a:p>
            <a:endParaRPr lang="en-US" altLang="ja-JP" dirty="0"/>
          </a:p>
          <a:p>
            <a:r>
              <a:rPr lang="ja-JP" altLang="en-US" dirty="0"/>
              <a:t>しかも，それで新たに生じる白色雑音はローパス特性である</a:t>
            </a:r>
            <a:br>
              <a:rPr lang="en-US" altLang="ja-JP" dirty="0"/>
            </a:br>
            <a:r>
              <a:rPr lang="ja-JP" altLang="en-US" dirty="0"/>
              <a:t>→ノイズシェイピングで高周波に押しやれば良さそう</a:t>
            </a:r>
            <a:endParaRPr lang="en-US" altLang="ja-JP" dirty="0"/>
          </a:p>
        </p:txBody>
      </p:sp>
      <p:sp>
        <p:nvSpPr>
          <p:cNvPr id="4" name="スライド番号プレースホルダー 3">
            <a:extLst>
              <a:ext uri="{FF2B5EF4-FFF2-40B4-BE49-F238E27FC236}">
                <a16:creationId xmlns:a16="http://schemas.microsoft.com/office/drawing/2014/main" id="{626E3646-61C0-2019-514B-A2FF48399E7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18045007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81100-1421-7BCC-C0C6-594A8200BEA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E3EDBB4-BCC4-E273-D6C9-93360DD35EEC}"/>
              </a:ext>
            </a:extLst>
          </p:cNvPr>
          <p:cNvSpPr>
            <a:spLocks noGrp="1"/>
          </p:cNvSpPr>
          <p:nvPr>
            <p:ph type="title"/>
          </p:nvPr>
        </p:nvSpPr>
        <p:spPr/>
        <p:txBody>
          <a:bodyPr/>
          <a:lstStyle/>
          <a:p>
            <a:r>
              <a:rPr lang="en-US" altLang="ja-JP" dirty="0"/>
              <a:t>2.2 </a:t>
            </a:r>
            <a:r>
              <a:rPr lang="ja-JP" altLang="en-US" dirty="0"/>
              <a:t>分周</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94AB1250-B036-5CA1-80AC-AEA7DF08F751}"/>
                  </a:ext>
                </a:extLst>
              </p:cNvPr>
              <p:cNvSpPr>
                <a:spLocks noGrp="1"/>
              </p:cNvSpPr>
              <p:nvPr>
                <p:ph idx="1"/>
              </p:nvPr>
            </p:nvSpPr>
            <p:spPr/>
            <p:txBody>
              <a:bodyPr/>
              <a:lstStyle/>
              <a:p>
                <a:r>
                  <a:rPr lang="en-US" altLang="ja-JP" dirty="0"/>
                  <a:t>DSM(</a:t>
                </a:r>
                <a:r>
                  <a:rPr lang="ja-JP" altLang="en-US" dirty="0"/>
                  <a:t>デルタ</a:t>
                </a:r>
                <a:r>
                  <a:rPr lang="en-US" altLang="ja-JP" dirty="0"/>
                  <a:t>-</a:t>
                </a:r>
                <a:r>
                  <a:rPr lang="ja-JP" altLang="en-US" dirty="0"/>
                  <a:t>シグマ変調器</a:t>
                </a:r>
                <a:r>
                  <a:rPr lang="en-US" altLang="ja-JP" dirty="0"/>
                  <a:t>)</a:t>
                </a:r>
                <a:r>
                  <a:rPr lang="ja-JP" altLang="en-US" dirty="0"/>
                  <a:t>は，分周比をランダムで切り替えつつ高周波にノイズを押しやれる機構</a:t>
                </a:r>
                <a:endParaRPr lang="en-US" altLang="ja-JP" dirty="0"/>
              </a:p>
              <a:p>
                <a:endParaRPr lang="en-US" altLang="ja-JP" dirty="0"/>
              </a:p>
              <a:p>
                <a:r>
                  <a:rPr lang="ja-JP" altLang="en-US" dirty="0"/>
                  <a:t>これを用いればスプリアスの問題は低減される反面，</a:t>
                </a:r>
                <a:br>
                  <a:rPr lang="en-US" altLang="ja-JP" dirty="0"/>
                </a:br>
                <a:r>
                  <a:rPr lang="ja-JP" altLang="en-US" dirty="0"/>
                  <a:t>高周波において</a:t>
                </a:r>
                <a:r>
                  <a:rPr lang="en-US" altLang="ja-JP" dirty="0"/>
                  <a:t>DSM</a:t>
                </a:r>
                <a:r>
                  <a:rPr lang="ja-JP" altLang="en-US" dirty="0"/>
                  <a:t>ノイズが支配的になる</a:t>
                </a:r>
                <a:endParaRPr lang="en-US" altLang="ja-JP" dirty="0"/>
              </a:p>
              <a:p>
                <a:endParaRPr lang="en-US" altLang="ja-JP" dirty="0"/>
              </a:p>
              <a:p>
                <a:r>
                  <a:rPr lang="ja-JP" altLang="en-US" dirty="0"/>
                  <a:t>結果，</a:t>
                </a:r>
                <a:r>
                  <a:rPr lang="en-US" altLang="ja-JP" dirty="0"/>
                  <a:t> </a:t>
                </a:r>
                <a14:m>
                  <m:oMath xmlns:m="http://schemas.openxmlformats.org/officeDocument/2006/math">
                    <m:sSub>
                      <m:sSubPr>
                        <m:ctrlPr>
                          <a:rPr lang="ja-JP" altLang="en-US" i="1">
                            <a:latin typeface="Cambria Math" panose="02040503050406030204" pitchFamily="18" charset="0"/>
                          </a:rPr>
                        </m:ctrlPr>
                      </m:sSubPr>
                      <m:e>
                        <m:r>
                          <a:rPr lang="ja-JP" altLang="en-US" i="1">
                            <a:latin typeface="Cambria Math" panose="02040503050406030204" pitchFamily="18" charset="0"/>
                          </a:rPr>
                          <m:t>𝜔</m:t>
                        </m:r>
                      </m:e>
                      <m:sub>
                        <m:r>
                          <a:rPr lang="en-US" altLang="ja-JP" i="1">
                            <a:latin typeface="Cambria Math" panose="02040503050406030204" pitchFamily="18" charset="0"/>
                          </a:rPr>
                          <m:t>𝑈𝐺</m:t>
                        </m:r>
                      </m:sub>
                    </m:sSub>
                  </m:oMath>
                </a14:m>
                <a:r>
                  <a:rPr lang="ja-JP" altLang="en-US" dirty="0"/>
                  <a:t>を下げないと整数型よりノイズが酷くなる</a:t>
                </a:r>
                <a:endParaRPr lang="en-US" altLang="ja-JP" dirty="0"/>
              </a:p>
            </p:txBody>
          </p:sp>
        </mc:Choice>
        <mc:Fallback xmlns="">
          <p:sp>
            <p:nvSpPr>
              <p:cNvPr id="3" name="コンテンツ プレースホルダー 2">
                <a:extLst>
                  <a:ext uri="{FF2B5EF4-FFF2-40B4-BE49-F238E27FC236}">
                    <a16:creationId xmlns:a16="http://schemas.microsoft.com/office/drawing/2014/main" id="{94AB1250-B036-5CA1-80AC-AEA7DF08F751}"/>
                  </a:ext>
                </a:extLst>
              </p:cNvPr>
              <p:cNvSpPr>
                <a:spLocks noGrp="1" noRot="1" noChangeAspect="1" noMove="1" noResize="1" noEditPoints="1" noAdjustHandles="1" noChangeArrowheads="1" noChangeShapeType="1" noTextEdit="1"/>
              </p:cNvSpPr>
              <p:nvPr>
                <p:ph idx="1"/>
              </p:nvPr>
            </p:nvSpPr>
            <p:spPr>
              <a:blipFill>
                <a:blip r:embed="rId2"/>
                <a:stretch>
                  <a:fillRect l="-1043" t="-2521" r="-58"/>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AD14785B-2169-ECB5-9FE8-89FCE4E14B1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6736143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487C6-C808-A8DE-ADB9-CB91F363E30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7795811-D0FB-2DE2-35B2-6D5D217BE7B5}"/>
              </a:ext>
            </a:extLst>
          </p:cNvPr>
          <p:cNvSpPr>
            <a:spLocks noGrp="1"/>
          </p:cNvSpPr>
          <p:nvPr>
            <p:ph type="title"/>
          </p:nvPr>
        </p:nvSpPr>
        <p:spPr/>
        <p:txBody>
          <a:bodyPr/>
          <a:lstStyle/>
          <a:p>
            <a:r>
              <a:rPr lang="en-US" altLang="ja-JP" dirty="0"/>
              <a:t>2.2 </a:t>
            </a:r>
            <a:r>
              <a:rPr lang="ja-JP" altLang="en-US" dirty="0"/>
              <a:t>分周</a:t>
            </a:r>
            <a:endParaRPr kumimoji="1" lang="ja-JP" altLang="en-US" dirty="0"/>
          </a:p>
        </p:txBody>
      </p:sp>
      <p:sp>
        <p:nvSpPr>
          <p:cNvPr id="3" name="コンテンツ プレースホルダー 2">
            <a:extLst>
              <a:ext uri="{FF2B5EF4-FFF2-40B4-BE49-F238E27FC236}">
                <a16:creationId xmlns:a16="http://schemas.microsoft.com/office/drawing/2014/main" id="{9A416642-E352-AE36-C273-469597068575}"/>
              </a:ext>
            </a:extLst>
          </p:cNvPr>
          <p:cNvSpPr>
            <a:spLocks noGrp="1"/>
          </p:cNvSpPr>
          <p:nvPr>
            <p:ph idx="1"/>
          </p:nvPr>
        </p:nvSpPr>
        <p:spPr/>
        <p:txBody>
          <a:bodyPr/>
          <a:lstStyle/>
          <a:p>
            <a:r>
              <a:rPr kumimoji="1" lang="en-US" altLang="ja-JP" dirty="0"/>
              <a:t>DSM</a:t>
            </a:r>
            <a:r>
              <a:rPr kumimoji="1" lang="ja-JP" altLang="en-US" dirty="0"/>
              <a:t>ノイズを含めた</a:t>
            </a:r>
            <a:r>
              <a:rPr kumimoji="1" lang="en-US" altLang="ja-JP"/>
              <a:t>Bode</a:t>
            </a:r>
            <a:r>
              <a:rPr kumimoji="1" lang="ja-JP" altLang="en-US"/>
              <a:t>線図</a:t>
            </a:r>
            <a:endParaRPr kumimoji="1" lang="en-US" altLang="ja-JP"/>
          </a:p>
          <a:p>
            <a:r>
              <a:rPr lang="ja-JP" altLang="en-US"/>
              <a:t>スライド</a:t>
            </a:r>
            <a:r>
              <a:rPr lang="en-US" altLang="ja-JP" dirty="0"/>
              <a:t>19</a:t>
            </a:r>
            <a:r>
              <a:rPr lang="ja-JP" altLang="en-US" dirty="0"/>
              <a:t>と比較し，高周波で</a:t>
            </a:r>
            <a:r>
              <a:rPr lang="en-US" altLang="ja-JP" dirty="0"/>
              <a:t>DSM</a:t>
            </a:r>
            <a:r>
              <a:rPr lang="ja-JP" altLang="en-US" dirty="0"/>
              <a:t>ノイズが支配的になる</a:t>
            </a:r>
            <a:endParaRPr kumimoji="1" lang="ja-JP" altLang="en-US" dirty="0"/>
          </a:p>
        </p:txBody>
      </p:sp>
      <p:sp>
        <p:nvSpPr>
          <p:cNvPr id="4" name="スライド番号プレースホルダー 3">
            <a:extLst>
              <a:ext uri="{FF2B5EF4-FFF2-40B4-BE49-F238E27FC236}">
                <a16:creationId xmlns:a16="http://schemas.microsoft.com/office/drawing/2014/main" id="{0754C2EB-7AE0-4FA9-98DE-FE245ABB0C6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pic>
        <p:nvPicPr>
          <p:cNvPr id="6" name="図 5">
            <a:extLst>
              <a:ext uri="{FF2B5EF4-FFF2-40B4-BE49-F238E27FC236}">
                <a16:creationId xmlns:a16="http://schemas.microsoft.com/office/drawing/2014/main" id="{E676FFB8-92AF-17E5-1EDD-E9E141E2C6F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846614" y="2695158"/>
            <a:ext cx="6498771" cy="3571499"/>
          </a:xfrm>
          <a:prstGeom prst="rect">
            <a:avLst/>
          </a:prstGeom>
        </p:spPr>
      </p:pic>
      <p:sp>
        <p:nvSpPr>
          <p:cNvPr id="5" name="テキスト ボックス 4">
            <a:extLst>
              <a:ext uri="{FF2B5EF4-FFF2-40B4-BE49-F238E27FC236}">
                <a16:creationId xmlns:a16="http://schemas.microsoft.com/office/drawing/2014/main" id="{11E940C4-E9F6-7325-BB1B-4E2F8856BC0D}"/>
              </a:ext>
            </a:extLst>
          </p:cNvPr>
          <p:cNvSpPr txBox="1"/>
          <p:nvPr/>
        </p:nvSpPr>
        <p:spPr>
          <a:xfrm>
            <a:off x="2846613" y="6266657"/>
            <a:ext cx="6498771" cy="461665"/>
          </a:xfrm>
          <a:prstGeom prst="rect">
            <a:avLst/>
          </a:prstGeom>
          <a:noFill/>
        </p:spPr>
        <p:txBody>
          <a:bodyPr wrap="square" rtlCol="0">
            <a:spAutoFit/>
          </a:bodyPr>
          <a:lstStyle/>
          <a:p>
            <a:pPr algn="ctr"/>
            <a:r>
              <a:rPr kumimoji="1" lang="ja-JP" altLang="en-US" sz="2400" dirty="0"/>
              <a:t>論文</a:t>
            </a:r>
            <a:r>
              <a:rPr kumimoji="1" lang="en-US" altLang="ja-JP" sz="2400" dirty="0"/>
              <a:t>Figure 2.3</a:t>
            </a:r>
            <a:endParaRPr kumimoji="1" lang="ja-JP" altLang="en-US" sz="2400" dirty="0"/>
          </a:p>
        </p:txBody>
      </p:sp>
    </p:spTree>
    <p:extLst>
      <p:ext uri="{BB962C8B-B14F-4D97-AF65-F5344CB8AC3E}">
        <p14:creationId xmlns:p14="http://schemas.microsoft.com/office/powerpoint/2010/main" val="25441668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AE279-FD5B-03CB-F4DD-F24D6E9E612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FDC13F6-60FC-4B0E-2672-5D4CF3162FB2}"/>
              </a:ext>
            </a:extLst>
          </p:cNvPr>
          <p:cNvSpPr>
            <a:spLocks noGrp="1"/>
          </p:cNvSpPr>
          <p:nvPr>
            <p:ph type="title"/>
          </p:nvPr>
        </p:nvSpPr>
        <p:spPr/>
        <p:txBody>
          <a:bodyPr/>
          <a:lstStyle/>
          <a:p>
            <a:r>
              <a:rPr lang="en-US" altLang="ja-JP" dirty="0"/>
              <a:t>2.2 </a:t>
            </a:r>
            <a:r>
              <a:rPr lang="ja-JP" altLang="en-US" dirty="0"/>
              <a:t>分周</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5D3B5A03-BEE8-8A71-5B2C-BDA0283E97D1}"/>
                  </a:ext>
                </a:extLst>
              </p:cNvPr>
              <p:cNvSpPr>
                <a:spLocks noGrp="1"/>
              </p:cNvSpPr>
              <p:nvPr>
                <p:ph idx="1"/>
              </p:nvPr>
            </p:nvSpPr>
            <p:spPr/>
            <p:txBody>
              <a:bodyPr/>
              <a:lstStyle/>
              <a:p>
                <a:r>
                  <a:rPr lang="ja-JP" altLang="en-US" dirty="0"/>
                  <a:t>この他にも</a:t>
                </a:r>
                <a:r>
                  <a:rPr lang="en-US" altLang="ja-JP" dirty="0"/>
                  <a:t>…</a:t>
                </a:r>
              </a:p>
              <a:p>
                <a:endParaRPr lang="en-US" altLang="ja-JP" dirty="0"/>
              </a:p>
              <a:p>
                <a:r>
                  <a:rPr lang="en-US" altLang="ja-JP" dirty="0"/>
                  <a:t>DSM</a:t>
                </a:r>
                <a:r>
                  <a:rPr lang="ja-JP" altLang="en-US" dirty="0"/>
                  <a:t>が真のランダムでないことに起因するノイズ</a:t>
                </a:r>
                <a:endParaRPr lang="en-US" altLang="ja-JP" dirty="0"/>
              </a:p>
              <a:p>
                <a:r>
                  <a:rPr lang="ja-JP" altLang="en-US" dirty="0"/>
                  <a:t>機構の非線形性による低周波ノイズ</a:t>
                </a:r>
                <a:r>
                  <a:rPr lang="en-US" altLang="ja-JP" dirty="0"/>
                  <a:t>(</a:t>
                </a:r>
                <a14:m>
                  <m:oMath xmlns:m="http://schemas.openxmlformats.org/officeDocument/2006/math">
                    <m:sSup>
                      <m:sSupPr>
                        <m:ctrlPr>
                          <a:rPr lang="en-US" altLang="ja-JP" b="0" i="1" smtClean="0">
                            <a:latin typeface="Cambria Math" panose="02040503050406030204" pitchFamily="18" charset="0"/>
                          </a:rPr>
                        </m:ctrlPr>
                      </m:sSupPr>
                      <m:e>
                        <m:r>
                          <a:rPr lang="en-US" altLang="ja-JP" b="0" i="1" smtClean="0">
                            <a:latin typeface="Cambria Math" panose="02040503050406030204" pitchFamily="18" charset="0"/>
                          </a:rPr>
                          <m:t>𝑠𝑖𝑛</m:t>
                        </m:r>
                      </m:e>
                      <m:sup>
                        <m:r>
                          <a:rPr lang="en-US" altLang="ja-JP" b="0" i="1" smtClean="0">
                            <a:latin typeface="Cambria Math" panose="02040503050406030204" pitchFamily="18" charset="0"/>
                          </a:rPr>
                          <m:t>𝑛</m:t>
                        </m:r>
                      </m:sup>
                    </m:sSup>
                    <m:r>
                      <a:rPr lang="ja-JP" altLang="en-US" b="0" i="1" smtClean="0">
                        <a:latin typeface="Cambria Math" panose="02040503050406030204" pitchFamily="18" charset="0"/>
                      </a:rPr>
                      <m:t>𝜔</m:t>
                    </m:r>
                    <m:r>
                      <a:rPr lang="en-US" altLang="ja-JP" b="0" i="1" smtClean="0">
                        <a:latin typeface="Cambria Math" panose="02040503050406030204" pitchFamily="18" charset="0"/>
                      </a:rPr>
                      <m:t>𝑡</m:t>
                    </m:r>
                  </m:oMath>
                </a14:m>
                <a:r>
                  <a:rPr lang="ja-JP" altLang="en-US" dirty="0"/>
                  <a:t>など</a:t>
                </a:r>
                <a:r>
                  <a:rPr lang="en-US" altLang="ja-JP" dirty="0"/>
                  <a:t>)</a:t>
                </a:r>
              </a:p>
              <a:p>
                <a:r>
                  <a:rPr lang="ja-JP" altLang="en-US" dirty="0"/>
                  <a:t>分解能を高めることによる整数近傍スパー</a:t>
                </a:r>
                <a:endParaRPr lang="en-US" altLang="ja-JP" dirty="0"/>
              </a:p>
              <a:p>
                <a:endParaRPr lang="en-US" altLang="ja-JP" dirty="0"/>
              </a:p>
              <a:p>
                <a:r>
                  <a:rPr lang="ja-JP" altLang="en-US" dirty="0"/>
                  <a:t>などが存在する</a:t>
                </a:r>
                <a:endParaRPr lang="en-US" altLang="ja-JP" dirty="0"/>
              </a:p>
            </p:txBody>
          </p:sp>
        </mc:Choice>
        <mc:Fallback xmlns="">
          <p:sp>
            <p:nvSpPr>
              <p:cNvPr id="3" name="コンテンツ プレースホルダー 2">
                <a:extLst>
                  <a:ext uri="{FF2B5EF4-FFF2-40B4-BE49-F238E27FC236}">
                    <a16:creationId xmlns:a16="http://schemas.microsoft.com/office/drawing/2014/main" id="{5D3B5A03-BEE8-8A71-5B2C-BDA0283E97D1}"/>
                  </a:ext>
                </a:extLst>
              </p:cNvPr>
              <p:cNvSpPr>
                <a:spLocks noGrp="1" noRot="1" noChangeAspect="1" noMove="1" noResize="1" noEditPoints="1" noAdjustHandles="1" noChangeArrowheads="1" noChangeShapeType="1" noTextEdit="1"/>
              </p:cNvSpPr>
              <p:nvPr>
                <p:ph idx="1"/>
              </p:nvPr>
            </p:nvSpPr>
            <p:spPr>
              <a:blipFill>
                <a:blip r:embed="rId2"/>
                <a:stretch>
                  <a:fillRect l="-1043" t="-2521"/>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EEE46C79-4DFD-EB3F-FE67-8575FACE23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12949017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12F26-6697-3C28-D002-30929163088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B4BDF84-FCCD-6681-7454-FCA91D8977B3}"/>
              </a:ext>
            </a:extLst>
          </p:cNvPr>
          <p:cNvSpPr>
            <a:spLocks noGrp="1"/>
          </p:cNvSpPr>
          <p:nvPr>
            <p:ph type="title"/>
          </p:nvPr>
        </p:nvSpPr>
        <p:spPr/>
        <p:txBody>
          <a:bodyPr/>
          <a:lstStyle/>
          <a:p>
            <a:r>
              <a:rPr lang="en-US" altLang="ja-JP" dirty="0"/>
              <a:t>2.2 </a:t>
            </a:r>
            <a:r>
              <a:rPr lang="ja-JP" altLang="en-US" dirty="0"/>
              <a:t>分周</a:t>
            </a:r>
            <a:endParaRPr kumimoji="1" lang="ja-JP" altLang="en-US" dirty="0"/>
          </a:p>
        </p:txBody>
      </p:sp>
      <p:sp>
        <p:nvSpPr>
          <p:cNvPr id="3" name="コンテンツ プレースホルダー 2">
            <a:extLst>
              <a:ext uri="{FF2B5EF4-FFF2-40B4-BE49-F238E27FC236}">
                <a16:creationId xmlns:a16="http://schemas.microsoft.com/office/drawing/2014/main" id="{3C5A920E-F158-C164-640B-A9DE1A2B134D}"/>
              </a:ext>
            </a:extLst>
          </p:cNvPr>
          <p:cNvSpPr>
            <a:spLocks noGrp="1"/>
          </p:cNvSpPr>
          <p:nvPr>
            <p:ph idx="1"/>
          </p:nvPr>
        </p:nvSpPr>
        <p:spPr/>
        <p:txBody>
          <a:bodyPr>
            <a:normAutofit/>
          </a:bodyPr>
          <a:lstStyle/>
          <a:p>
            <a:r>
              <a:rPr lang="ja-JP" altLang="en-US" dirty="0"/>
              <a:t>提案手法以外の解決策と問題点</a:t>
            </a:r>
            <a:endParaRPr lang="en-US" altLang="ja-JP" dirty="0"/>
          </a:p>
          <a:p>
            <a:endParaRPr lang="en-US" altLang="ja-JP" dirty="0"/>
          </a:p>
          <a:p>
            <a:r>
              <a:rPr lang="ja-JP" altLang="en-US" dirty="0"/>
              <a:t>ノイズキャンセリングを行う</a:t>
            </a:r>
            <a:br>
              <a:rPr lang="en-US" altLang="ja-JP" dirty="0"/>
            </a:br>
            <a:r>
              <a:rPr lang="ja-JP" altLang="en-US" dirty="0"/>
              <a:t>→高い精度が求められ，また応答の収束が遅い</a:t>
            </a:r>
            <a:endParaRPr lang="en-US" altLang="ja-JP" dirty="0"/>
          </a:p>
          <a:p>
            <a:endParaRPr lang="en-US" altLang="ja-JP" dirty="0"/>
          </a:p>
          <a:p>
            <a:r>
              <a:rPr lang="ja-JP" altLang="en-US" dirty="0"/>
              <a:t>基準周波数を引き上げる</a:t>
            </a:r>
            <a:br>
              <a:rPr lang="en-US" altLang="ja-JP" dirty="0"/>
            </a:br>
            <a:r>
              <a:rPr lang="ja-JP" altLang="en-US" dirty="0"/>
              <a:t>→高性能な水晶発振器は高価</a:t>
            </a:r>
            <a:br>
              <a:rPr lang="en-US" altLang="ja-JP" dirty="0"/>
            </a:br>
            <a:r>
              <a:rPr lang="ja-JP" altLang="en-US" dirty="0"/>
              <a:t>　直列接続する等の方法も消費電力の増加につながる</a:t>
            </a:r>
            <a:endParaRPr lang="en-US" altLang="ja-JP" dirty="0"/>
          </a:p>
        </p:txBody>
      </p:sp>
      <p:sp>
        <p:nvSpPr>
          <p:cNvPr id="4" name="スライド番号プレースホルダー 3">
            <a:extLst>
              <a:ext uri="{FF2B5EF4-FFF2-40B4-BE49-F238E27FC236}">
                <a16:creationId xmlns:a16="http://schemas.microsoft.com/office/drawing/2014/main" id="{F9987085-8DE2-35AB-F16A-FD9EBF25A10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28246712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C50E5-AF27-4F17-BD23-2F2D89DDB18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C738308-3159-AC84-A285-71B6FDB7AF73}"/>
              </a:ext>
            </a:extLst>
          </p:cNvPr>
          <p:cNvSpPr>
            <a:spLocks noGrp="1"/>
          </p:cNvSpPr>
          <p:nvPr>
            <p:ph type="title"/>
          </p:nvPr>
        </p:nvSpPr>
        <p:spPr/>
        <p:txBody>
          <a:bodyPr/>
          <a:lstStyle/>
          <a:p>
            <a:r>
              <a:rPr lang="en-US" altLang="ja-JP" dirty="0"/>
              <a:t>2.2 </a:t>
            </a:r>
            <a:r>
              <a:rPr lang="ja-JP" altLang="en-US" dirty="0"/>
              <a:t>分周</a:t>
            </a:r>
            <a:endParaRPr kumimoji="1" lang="ja-JP" altLang="en-US" dirty="0"/>
          </a:p>
        </p:txBody>
      </p:sp>
      <p:sp>
        <p:nvSpPr>
          <p:cNvPr id="3" name="コンテンツ プレースホルダー 2">
            <a:extLst>
              <a:ext uri="{FF2B5EF4-FFF2-40B4-BE49-F238E27FC236}">
                <a16:creationId xmlns:a16="http://schemas.microsoft.com/office/drawing/2014/main" id="{682E7876-58EC-D906-ABC7-5D17F2175F93}"/>
              </a:ext>
            </a:extLst>
          </p:cNvPr>
          <p:cNvSpPr>
            <a:spLocks noGrp="1"/>
          </p:cNvSpPr>
          <p:nvPr>
            <p:ph idx="1"/>
          </p:nvPr>
        </p:nvSpPr>
        <p:spPr/>
        <p:txBody>
          <a:bodyPr>
            <a:normAutofit/>
          </a:bodyPr>
          <a:lstStyle/>
          <a:p>
            <a:r>
              <a:rPr lang="ja-JP" altLang="en-US" dirty="0"/>
              <a:t>提案手法以外の解決策と問題点</a:t>
            </a:r>
            <a:endParaRPr lang="en-US" altLang="ja-JP" dirty="0"/>
          </a:p>
          <a:p>
            <a:endParaRPr lang="en-US" altLang="ja-JP" dirty="0"/>
          </a:p>
          <a:p>
            <a:r>
              <a:rPr lang="ja-JP" altLang="en-US" dirty="0"/>
              <a:t>分周器を並列接続し平均化する</a:t>
            </a:r>
            <a:br>
              <a:rPr lang="en-US" altLang="ja-JP" dirty="0"/>
            </a:br>
            <a:r>
              <a:rPr lang="ja-JP" altLang="en-US" dirty="0"/>
              <a:t>→同性能の分周器が求められる</a:t>
            </a:r>
            <a:br>
              <a:rPr lang="en-US" altLang="ja-JP" dirty="0"/>
            </a:br>
            <a:r>
              <a:rPr lang="ja-JP" altLang="en-US" dirty="0"/>
              <a:t>　消費電力の増加</a:t>
            </a:r>
            <a:endParaRPr lang="en-US" altLang="ja-JP" dirty="0"/>
          </a:p>
          <a:p>
            <a:endParaRPr lang="en-US" altLang="ja-JP" dirty="0"/>
          </a:p>
          <a:p>
            <a:r>
              <a:rPr lang="ja-JP" altLang="en-US" dirty="0"/>
              <a:t>全てが一長一短</a:t>
            </a:r>
            <a:endParaRPr lang="en-US" altLang="ja-JP" dirty="0"/>
          </a:p>
        </p:txBody>
      </p:sp>
      <p:sp>
        <p:nvSpPr>
          <p:cNvPr id="4" name="スライド番号プレースホルダー 3">
            <a:extLst>
              <a:ext uri="{FF2B5EF4-FFF2-40B4-BE49-F238E27FC236}">
                <a16:creationId xmlns:a16="http://schemas.microsoft.com/office/drawing/2014/main" id="{FA9B82DA-5707-2A7F-80DC-B5EA5163B62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14809633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AA2F1-9A44-0C78-0E48-A89609414B3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276F317-89C3-303A-8895-9E9C0F9799C7}"/>
              </a:ext>
            </a:extLst>
          </p:cNvPr>
          <p:cNvSpPr>
            <a:spLocks noGrp="1"/>
          </p:cNvSpPr>
          <p:nvPr>
            <p:ph type="title"/>
          </p:nvPr>
        </p:nvSpPr>
        <p:spPr>
          <a:xfrm>
            <a:off x="838200" y="681037"/>
            <a:ext cx="10515600" cy="701731"/>
          </a:xfrm>
        </p:spPr>
        <p:txBody>
          <a:bodyPr/>
          <a:lstStyle/>
          <a:p>
            <a:r>
              <a:rPr kumimoji="1" lang="en-US" altLang="ja-JP" dirty="0"/>
              <a:t>3.1 Harmonic Mixer(HM)</a:t>
            </a:r>
            <a:r>
              <a:rPr kumimoji="1" lang="ja-JP" altLang="en-US" dirty="0"/>
              <a:t>について</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688D776F-22C9-B773-2975-6634C20FD942}"/>
                  </a:ext>
                </a:extLst>
              </p:cNvPr>
              <p:cNvSpPr>
                <a:spLocks noGrp="1"/>
              </p:cNvSpPr>
              <p:nvPr>
                <p:ph idx="1"/>
              </p:nvPr>
            </p:nvSpPr>
            <p:spPr/>
            <p:txBody>
              <a:bodyPr/>
              <a:lstStyle/>
              <a:p>
                <a:r>
                  <a:rPr lang="ja-JP" altLang="en-US" dirty="0"/>
                  <a:t>開ループゲイン</a:t>
                </a:r>
                <a14:m>
                  <m:oMath xmlns:m="http://schemas.openxmlformats.org/officeDocument/2006/math">
                    <m:r>
                      <a:rPr lang="en-US" altLang="ja-JP" b="0" i="1" smtClean="0">
                        <a:latin typeface="Cambria Math" panose="02040503050406030204" pitchFamily="18" charset="0"/>
                      </a:rPr>
                      <m:t>𝐴</m:t>
                    </m:r>
                    <m:r>
                      <a:rPr lang="ja-JP" altLang="en-US" b="0" i="1" smtClean="0">
                        <a:latin typeface="Cambria Math" panose="02040503050406030204" pitchFamily="18" charset="0"/>
                      </a:rPr>
                      <m:t>𝛽</m:t>
                    </m:r>
                  </m:oMath>
                </a14:m>
                <a:r>
                  <a:rPr kumimoji="1" lang="ja-JP" altLang="en-US" dirty="0"/>
                  <a:t>が</a:t>
                </a:r>
                <a:r>
                  <a:rPr kumimoji="1" lang="en-US" altLang="ja-JP" dirty="0"/>
                  <a:t>1</a:t>
                </a:r>
                <a:r>
                  <a:rPr kumimoji="1" lang="ja-JP" altLang="en-US" dirty="0"/>
                  <a:t>より非常に大きい場合，</a:t>
                </a:r>
                <a:br>
                  <a:rPr kumimoji="1" lang="en-US" altLang="ja-JP" dirty="0"/>
                </a:br>
                <a:r>
                  <a:rPr kumimoji="1" lang="ja-JP" altLang="en-US" dirty="0"/>
                  <a:t>閉ループゲイン</a:t>
                </a:r>
                <a14:m>
                  <m:oMath xmlns:m="http://schemas.openxmlformats.org/officeDocument/2006/math">
                    <m:f>
                      <m:fPr>
                        <m:ctrlPr>
                          <a:rPr kumimoji="1" lang="en-US" altLang="ja-JP" b="0" i="1" smtClean="0">
                            <a:latin typeface="Cambria Math" panose="02040503050406030204" pitchFamily="18" charset="0"/>
                          </a:rPr>
                        </m:ctrlPr>
                      </m:fPr>
                      <m:num>
                        <m:r>
                          <a:rPr kumimoji="1" lang="en-US" altLang="ja-JP" b="0" i="1" smtClean="0">
                            <a:latin typeface="Cambria Math" panose="02040503050406030204" pitchFamily="18" charset="0"/>
                          </a:rPr>
                          <m:t>𝐴</m:t>
                        </m:r>
                      </m:num>
                      <m:den>
                        <m:r>
                          <a:rPr kumimoji="1" lang="en-US" altLang="ja-JP" b="0" i="1" smtClean="0">
                            <a:latin typeface="Cambria Math" panose="02040503050406030204" pitchFamily="18" charset="0"/>
                          </a:rPr>
                          <m:t>1+</m:t>
                        </m:r>
                        <m:r>
                          <a:rPr kumimoji="1" lang="en-US" altLang="ja-JP" b="0" i="1" smtClean="0">
                            <a:latin typeface="Cambria Math" panose="02040503050406030204" pitchFamily="18" charset="0"/>
                          </a:rPr>
                          <m:t>𝐴</m:t>
                        </m:r>
                        <m:r>
                          <a:rPr kumimoji="1" lang="ja-JP" altLang="en-US" b="0" i="1" smtClean="0">
                            <a:latin typeface="Cambria Math" panose="02040503050406030204" pitchFamily="18" charset="0"/>
                          </a:rPr>
                          <m:t>𝛽</m:t>
                        </m:r>
                      </m:den>
                    </m:f>
                  </m:oMath>
                </a14:m>
                <a:r>
                  <a:rPr kumimoji="1" lang="ja-JP" altLang="en-US" dirty="0"/>
                  <a:t> は </a:t>
                </a:r>
                <a14:m>
                  <m:oMath xmlns:m="http://schemas.openxmlformats.org/officeDocument/2006/math">
                    <m:f>
                      <m:fPr>
                        <m:ctrlPr>
                          <a:rPr kumimoji="1" lang="en-US" altLang="ja-JP" b="0" i="1" dirty="0" smtClean="0">
                            <a:latin typeface="Cambria Math" panose="02040503050406030204" pitchFamily="18" charset="0"/>
                          </a:rPr>
                        </m:ctrlPr>
                      </m:fPr>
                      <m:num>
                        <m:r>
                          <a:rPr kumimoji="1" lang="en-US" altLang="ja-JP" b="0" i="1" dirty="0" smtClean="0">
                            <a:latin typeface="Cambria Math" panose="02040503050406030204" pitchFamily="18" charset="0"/>
                          </a:rPr>
                          <m:t>1</m:t>
                        </m:r>
                      </m:num>
                      <m:den>
                        <m:r>
                          <a:rPr kumimoji="1" lang="ja-JP" altLang="en-US" b="0" i="1" dirty="0" smtClean="0">
                            <a:latin typeface="Cambria Math" panose="02040503050406030204" pitchFamily="18" charset="0"/>
                          </a:rPr>
                          <m:t>𝛽</m:t>
                        </m:r>
                      </m:den>
                    </m:f>
                  </m:oMath>
                </a14:m>
                <a:r>
                  <a:rPr kumimoji="1" lang="ja-JP" altLang="en-US" dirty="0"/>
                  <a:t> に近似できる</a:t>
                </a:r>
                <a:endParaRPr kumimoji="1" lang="en-US" altLang="ja-JP" dirty="0"/>
              </a:p>
            </p:txBody>
          </p:sp>
        </mc:Choice>
        <mc:Fallback xmlns="">
          <p:sp>
            <p:nvSpPr>
              <p:cNvPr id="3" name="コンテンツ プレースホルダー 2">
                <a:extLst>
                  <a:ext uri="{FF2B5EF4-FFF2-40B4-BE49-F238E27FC236}">
                    <a16:creationId xmlns:a16="http://schemas.microsoft.com/office/drawing/2014/main" id="{688D776F-22C9-B773-2975-6634C20FD942}"/>
                  </a:ext>
                </a:extLst>
              </p:cNvPr>
              <p:cNvSpPr>
                <a:spLocks noGrp="1" noRot="1" noChangeAspect="1" noMove="1" noResize="1" noEditPoints="1" noAdjustHandles="1" noChangeArrowheads="1" noChangeShapeType="1" noTextEdit="1"/>
              </p:cNvSpPr>
              <p:nvPr>
                <p:ph idx="1"/>
              </p:nvPr>
            </p:nvSpPr>
            <p:spPr>
              <a:blipFill>
                <a:blip r:embed="rId2"/>
                <a:stretch>
                  <a:fillRect l="-1043" t="-2521"/>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ADC8F25B-320D-3112-7508-E91FF961763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pic>
        <p:nvPicPr>
          <p:cNvPr id="6" name="図 5">
            <a:extLst>
              <a:ext uri="{FF2B5EF4-FFF2-40B4-BE49-F238E27FC236}">
                <a16:creationId xmlns:a16="http://schemas.microsoft.com/office/drawing/2014/main" id="{E0326717-EB1E-DBAF-9798-9A62519813A8}"/>
              </a:ext>
            </a:extLst>
          </p:cNvPr>
          <p:cNvPicPr>
            <a:picLocks noChangeAspect="1"/>
          </p:cNvPicPr>
          <p:nvPr/>
        </p:nvPicPr>
        <p:blipFill>
          <a:blip r:embed="rId3">
            <a:extLst>
              <a:ext uri="{28A0092B-C50C-407E-A947-70E740481C1C}">
                <a14:useLocalDpi xmlns:a14="http://schemas.microsoft.com/office/drawing/2010/main" val="0"/>
              </a:ext>
            </a:extLst>
          </a:blip>
          <a:srcRect t="5279"/>
          <a:stretch>
            <a:fillRect/>
          </a:stretch>
        </p:blipFill>
        <p:spPr>
          <a:xfrm>
            <a:off x="3049019" y="3026229"/>
            <a:ext cx="5928701" cy="3150734"/>
          </a:xfrm>
          <a:prstGeom prst="rect">
            <a:avLst/>
          </a:prstGeom>
        </p:spPr>
      </p:pic>
      <p:sp>
        <p:nvSpPr>
          <p:cNvPr id="7" name="テキスト ボックス 6">
            <a:extLst>
              <a:ext uri="{FF2B5EF4-FFF2-40B4-BE49-F238E27FC236}">
                <a16:creationId xmlns:a16="http://schemas.microsoft.com/office/drawing/2014/main" id="{DF7D3ED2-0AC1-F61E-D6F4-BE0B8F96182D}"/>
              </a:ext>
            </a:extLst>
          </p:cNvPr>
          <p:cNvSpPr txBox="1"/>
          <p:nvPr/>
        </p:nvSpPr>
        <p:spPr>
          <a:xfrm>
            <a:off x="2846613" y="6266657"/>
            <a:ext cx="6498771" cy="461665"/>
          </a:xfrm>
          <a:prstGeom prst="rect">
            <a:avLst/>
          </a:prstGeom>
          <a:noFill/>
        </p:spPr>
        <p:txBody>
          <a:bodyPr wrap="square" rtlCol="0">
            <a:spAutoFit/>
          </a:bodyPr>
          <a:lstStyle/>
          <a:p>
            <a:pPr algn="ctr"/>
            <a:r>
              <a:rPr kumimoji="1" lang="ja-JP" altLang="en-US" sz="2400" dirty="0"/>
              <a:t>論文</a:t>
            </a:r>
            <a:r>
              <a:rPr kumimoji="1" lang="en-US" altLang="ja-JP" sz="2400" dirty="0"/>
              <a:t>Figure 3.7</a:t>
            </a:r>
            <a:endParaRPr kumimoji="1" lang="ja-JP" altLang="en-US" sz="2400" dirty="0"/>
          </a:p>
        </p:txBody>
      </p:sp>
    </p:spTree>
    <p:extLst>
      <p:ext uri="{BB962C8B-B14F-4D97-AF65-F5344CB8AC3E}">
        <p14:creationId xmlns:p14="http://schemas.microsoft.com/office/powerpoint/2010/main" val="41493627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30658-42E4-3D12-8A2D-993A081BB72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DCAA87C-56B2-857B-FA8D-C44E8B8F8719}"/>
              </a:ext>
            </a:extLst>
          </p:cNvPr>
          <p:cNvSpPr>
            <a:spLocks noGrp="1"/>
          </p:cNvSpPr>
          <p:nvPr>
            <p:ph type="title"/>
          </p:nvPr>
        </p:nvSpPr>
        <p:spPr>
          <a:xfrm>
            <a:off x="838200" y="681037"/>
            <a:ext cx="10515600" cy="701731"/>
          </a:xfrm>
        </p:spPr>
        <p:txBody>
          <a:bodyPr/>
          <a:lstStyle/>
          <a:p>
            <a:r>
              <a:rPr kumimoji="1" lang="en-US" altLang="ja-JP" dirty="0"/>
              <a:t>3.1 Harmonic Mixer(HM)</a:t>
            </a:r>
            <a:r>
              <a:rPr kumimoji="1" lang="ja-JP" altLang="en-US" dirty="0"/>
              <a:t>について</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543F8B4B-2E9F-95A6-5E6A-51843EDA3340}"/>
                  </a:ext>
                </a:extLst>
              </p:cNvPr>
              <p:cNvSpPr>
                <a:spLocks noGrp="1"/>
              </p:cNvSpPr>
              <p:nvPr>
                <p:ph idx="1"/>
              </p:nvPr>
            </p:nvSpPr>
            <p:spPr/>
            <p:txBody>
              <a:bodyPr/>
              <a:lstStyle/>
              <a:p>
                <a14:m>
                  <m:oMath xmlns:m="http://schemas.openxmlformats.org/officeDocument/2006/math">
                    <m:r>
                      <a:rPr lang="ja-JP" altLang="en-US" i="1" smtClean="0">
                        <a:latin typeface="Cambria Math" panose="02040503050406030204" pitchFamily="18" charset="0"/>
                      </a:rPr>
                      <m:t>𝛽</m:t>
                    </m:r>
                  </m:oMath>
                </a14:m>
                <a:r>
                  <a:rPr kumimoji="1" lang="ja-JP" altLang="en-US" dirty="0"/>
                  <a:t>が分周器</a:t>
                </a:r>
                <a:r>
                  <a:rPr kumimoji="1" lang="en-US" altLang="ja-JP" dirty="0"/>
                  <a:t>(</a:t>
                </a:r>
                <a:r>
                  <a:rPr kumimoji="1" lang="ja-JP" altLang="en-US" dirty="0"/>
                  <a:t>ゲイン</a:t>
                </a:r>
                <a14:m>
                  <m:oMath xmlns:m="http://schemas.openxmlformats.org/officeDocument/2006/math">
                    <m:r>
                      <a:rPr kumimoji="1" lang="en-US" altLang="ja-JP" b="0" i="0" smtClean="0">
                        <a:latin typeface="Cambria Math" panose="02040503050406030204" pitchFamily="18" charset="0"/>
                      </a:rPr>
                      <m:t> </m:t>
                    </m:r>
                    <m:f>
                      <m:fPr>
                        <m:ctrlPr>
                          <a:rPr kumimoji="1" lang="en-US" altLang="ja-JP" b="0" i="1" smtClean="0">
                            <a:latin typeface="Cambria Math" panose="02040503050406030204" pitchFamily="18" charset="0"/>
                          </a:rPr>
                        </m:ctrlPr>
                      </m:fPr>
                      <m:num>
                        <m:r>
                          <a:rPr kumimoji="1" lang="en-US" altLang="ja-JP" b="0" i="1" smtClean="0">
                            <a:latin typeface="Cambria Math" panose="02040503050406030204" pitchFamily="18" charset="0"/>
                          </a:rPr>
                          <m:t>1</m:t>
                        </m:r>
                      </m:num>
                      <m:den>
                        <m:r>
                          <a:rPr kumimoji="1" lang="en-US" altLang="ja-JP" b="0" i="1" smtClean="0">
                            <a:latin typeface="Cambria Math" panose="02040503050406030204" pitchFamily="18" charset="0"/>
                          </a:rPr>
                          <m:t>𝑁</m:t>
                        </m:r>
                      </m:den>
                    </m:f>
                  </m:oMath>
                </a14:m>
                <a:r>
                  <a:rPr kumimoji="1" lang="en-US" altLang="ja-JP" dirty="0"/>
                  <a:t>)</a:t>
                </a:r>
                <a:r>
                  <a:rPr kumimoji="1" lang="ja-JP" altLang="en-US" dirty="0"/>
                  <a:t>のとき，</a:t>
                </a:r>
                <a:r>
                  <a:rPr lang="ja-JP" altLang="en-US" dirty="0"/>
                  <a:t>閉ループゲインは</a:t>
                </a:r>
                <a:r>
                  <a:rPr lang="en-US" altLang="ja-JP" dirty="0"/>
                  <a:t>N</a:t>
                </a:r>
                <a:br>
                  <a:rPr kumimoji="1" lang="en-US" altLang="ja-JP" dirty="0"/>
                </a:br>
                <a:r>
                  <a:rPr kumimoji="1" lang="ja-JP" altLang="en-US" dirty="0"/>
                  <a:t>→入力端ノイズも全て</a:t>
                </a:r>
                <a:r>
                  <a:rPr kumimoji="1" lang="en-US" altLang="ja-JP" dirty="0"/>
                  <a:t>N</a:t>
                </a:r>
                <a:r>
                  <a:rPr kumimoji="1" lang="ja-JP" altLang="en-US" dirty="0"/>
                  <a:t>倍されてしまう</a:t>
                </a:r>
                <a:endParaRPr kumimoji="1" lang="en-US" altLang="ja-JP" dirty="0"/>
              </a:p>
            </p:txBody>
          </p:sp>
        </mc:Choice>
        <mc:Fallback xmlns="">
          <p:sp>
            <p:nvSpPr>
              <p:cNvPr id="3" name="コンテンツ プレースホルダー 2">
                <a:extLst>
                  <a:ext uri="{FF2B5EF4-FFF2-40B4-BE49-F238E27FC236}">
                    <a16:creationId xmlns:a16="http://schemas.microsoft.com/office/drawing/2014/main" id="{543F8B4B-2E9F-95A6-5E6A-51843EDA3340}"/>
                  </a:ext>
                </a:extLst>
              </p:cNvPr>
              <p:cNvSpPr>
                <a:spLocks noGrp="1" noRot="1" noChangeAspect="1" noMove="1" noResize="1" noEditPoints="1" noAdjustHandles="1" noChangeArrowheads="1" noChangeShapeType="1" noTextEdit="1"/>
              </p:cNvSpPr>
              <p:nvPr>
                <p:ph idx="1"/>
              </p:nvPr>
            </p:nvSpPr>
            <p:spPr>
              <a:blipFill>
                <a:blip r:embed="rId2"/>
                <a:stretch>
                  <a:fillRect t="-420"/>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C5339510-4673-A8EC-19F7-B3851748AA8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pic>
        <p:nvPicPr>
          <p:cNvPr id="6" name="図 5">
            <a:extLst>
              <a:ext uri="{FF2B5EF4-FFF2-40B4-BE49-F238E27FC236}">
                <a16:creationId xmlns:a16="http://schemas.microsoft.com/office/drawing/2014/main" id="{D2DCDF70-776F-D36D-FC41-F8CAF06A5FFB}"/>
              </a:ext>
            </a:extLst>
          </p:cNvPr>
          <p:cNvPicPr>
            <a:picLocks noChangeAspect="1"/>
          </p:cNvPicPr>
          <p:nvPr/>
        </p:nvPicPr>
        <p:blipFill>
          <a:blip r:embed="rId3">
            <a:extLst>
              <a:ext uri="{28A0092B-C50C-407E-A947-70E740481C1C}">
                <a14:useLocalDpi xmlns:a14="http://schemas.microsoft.com/office/drawing/2010/main" val="0"/>
              </a:ext>
            </a:extLst>
          </a:blip>
          <a:srcRect t="5279"/>
          <a:stretch>
            <a:fillRect/>
          </a:stretch>
        </p:blipFill>
        <p:spPr>
          <a:xfrm>
            <a:off x="3049019" y="3026229"/>
            <a:ext cx="5928701" cy="3150734"/>
          </a:xfrm>
          <a:prstGeom prst="rect">
            <a:avLst/>
          </a:prstGeom>
        </p:spPr>
      </p:pic>
      <p:sp>
        <p:nvSpPr>
          <p:cNvPr id="7" name="テキスト ボックス 6">
            <a:extLst>
              <a:ext uri="{FF2B5EF4-FFF2-40B4-BE49-F238E27FC236}">
                <a16:creationId xmlns:a16="http://schemas.microsoft.com/office/drawing/2014/main" id="{30A38A6D-FAB0-4A56-14C0-C4C8CBCE04B2}"/>
              </a:ext>
            </a:extLst>
          </p:cNvPr>
          <p:cNvSpPr txBox="1"/>
          <p:nvPr/>
        </p:nvSpPr>
        <p:spPr>
          <a:xfrm>
            <a:off x="2846613" y="6266657"/>
            <a:ext cx="6498771" cy="461665"/>
          </a:xfrm>
          <a:prstGeom prst="rect">
            <a:avLst/>
          </a:prstGeom>
          <a:noFill/>
        </p:spPr>
        <p:txBody>
          <a:bodyPr wrap="square" rtlCol="0">
            <a:spAutoFit/>
          </a:bodyPr>
          <a:lstStyle/>
          <a:p>
            <a:pPr algn="ctr"/>
            <a:r>
              <a:rPr kumimoji="1" lang="ja-JP" altLang="en-US" sz="2400" dirty="0"/>
              <a:t>論文</a:t>
            </a:r>
            <a:r>
              <a:rPr kumimoji="1" lang="en-US" altLang="ja-JP" sz="2400" dirty="0"/>
              <a:t>Figure 3.7</a:t>
            </a:r>
            <a:endParaRPr kumimoji="1" lang="ja-JP" altLang="en-US" sz="2400" dirty="0"/>
          </a:p>
        </p:txBody>
      </p:sp>
    </p:spTree>
    <p:extLst>
      <p:ext uri="{BB962C8B-B14F-4D97-AF65-F5344CB8AC3E}">
        <p14:creationId xmlns:p14="http://schemas.microsoft.com/office/powerpoint/2010/main" val="22891805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CA16F-66BF-7A50-8149-3F101CBEA85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3F5D9A3-5AEF-1EE4-1689-5403ACEE934C}"/>
              </a:ext>
            </a:extLst>
          </p:cNvPr>
          <p:cNvSpPr>
            <a:spLocks noGrp="1"/>
          </p:cNvSpPr>
          <p:nvPr>
            <p:ph type="title"/>
          </p:nvPr>
        </p:nvSpPr>
        <p:spPr/>
        <p:txBody>
          <a:bodyPr/>
          <a:lstStyle/>
          <a:p>
            <a:r>
              <a:rPr lang="en-US" altLang="ja-JP" dirty="0"/>
              <a:t>3.1 Harmonic Mixer(HM)</a:t>
            </a:r>
            <a:r>
              <a:rPr lang="ja-JP" altLang="en-US" dirty="0"/>
              <a:t>について</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E1D83F4-B69E-9966-951A-34459502BDDA}"/>
                  </a:ext>
                </a:extLst>
              </p:cNvPr>
              <p:cNvSpPr>
                <a:spLocks noGrp="1"/>
              </p:cNvSpPr>
              <p:nvPr>
                <p:ph idx="1"/>
              </p:nvPr>
            </p:nvSpPr>
            <p:spPr/>
            <p:txBody>
              <a:bodyPr/>
              <a:lstStyle/>
              <a:p>
                <a:r>
                  <a:rPr kumimoji="1" lang="ja-JP" altLang="en-US" dirty="0"/>
                  <a:t>ゲインが</a:t>
                </a:r>
                <a:r>
                  <a:rPr kumimoji="1" lang="en-US" altLang="ja-JP" dirty="0"/>
                  <a:t>1</a:t>
                </a:r>
                <a:r>
                  <a:rPr kumimoji="1" lang="ja-JP" altLang="en-US" dirty="0"/>
                  <a:t>の分周器があれば，これを解決できる</a:t>
                </a:r>
                <a:endParaRPr kumimoji="1" lang="en-US" altLang="ja-JP" dirty="0"/>
              </a:p>
              <a:p>
                <a:endParaRPr lang="en-US" altLang="ja-JP" dirty="0"/>
              </a:p>
              <a:p>
                <a:r>
                  <a:rPr kumimoji="1" lang="ja-JP" altLang="en-US" dirty="0"/>
                  <a:t>そこで，ミキサを使う</a:t>
                </a:r>
                <a:endParaRPr lang="en-US" altLang="ja-JP" dirty="0"/>
              </a:p>
              <a:p>
                <a:endParaRPr kumimoji="1" lang="en-US" altLang="ja-JP" dirty="0"/>
              </a:p>
              <a:p>
                <a:r>
                  <a:rPr lang="ja-JP" altLang="en-US" dirty="0"/>
                  <a:t>分周を</a:t>
                </a:r>
                <a:r>
                  <a:rPr lang="ja-JP" altLang="en-US" b="1" dirty="0"/>
                  <a:t>減算で行う</a:t>
                </a:r>
                <a:r>
                  <a:rPr lang="en-US" altLang="ja-JP" dirty="0"/>
                  <a:t>(</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𝑓</m:t>
                        </m:r>
                      </m:e>
                      <m:sub>
                        <m:r>
                          <a:rPr lang="en-US" altLang="ja-JP" b="0" i="1" smtClean="0">
                            <a:latin typeface="Cambria Math" panose="02040503050406030204" pitchFamily="18" charset="0"/>
                          </a:rPr>
                          <m:t>𝑂𝑈𝑇</m:t>
                        </m:r>
                      </m:sub>
                    </m:sSub>
                    <m:r>
                      <a:rPr lang="en-US" altLang="ja-JP" b="0" i="1" smtClean="0">
                        <a:latin typeface="Cambria Math" panose="02040503050406030204" pitchFamily="18" charset="0"/>
                      </a:rPr>
                      <m:t>−</m:t>
                    </m:r>
                    <m:r>
                      <a:rPr lang="en-US" altLang="ja-JP" b="0" i="1" smtClean="0">
                        <a:latin typeface="Cambria Math" panose="02040503050406030204" pitchFamily="18" charset="0"/>
                      </a:rPr>
                      <m:t>𝑘</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𝑓</m:t>
                        </m:r>
                      </m:e>
                      <m:sub>
                        <m:r>
                          <a:rPr lang="en-US" altLang="ja-JP" b="0" i="1" smtClean="0">
                            <a:latin typeface="Cambria Math" panose="02040503050406030204" pitchFamily="18" charset="0"/>
                          </a:rPr>
                          <m:t>𝐿𝑂</m:t>
                        </m:r>
                      </m:sub>
                    </m:sSub>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𝑓</m:t>
                        </m:r>
                      </m:e>
                      <m:sub>
                        <m:r>
                          <a:rPr lang="en-US" altLang="ja-JP" b="0" i="1" smtClean="0">
                            <a:latin typeface="Cambria Math" panose="02040503050406030204" pitchFamily="18" charset="0"/>
                          </a:rPr>
                          <m:t>𝑅𝐸𝐹</m:t>
                        </m:r>
                      </m:sub>
                    </m:sSub>
                  </m:oMath>
                </a14:m>
                <a:r>
                  <a:rPr lang="en-US" altLang="ja-JP" dirty="0"/>
                  <a:t>)</a:t>
                </a:r>
                <a:r>
                  <a:rPr lang="ja-JP" altLang="en-US" dirty="0"/>
                  <a:t>ためゲインは</a:t>
                </a:r>
                <a:r>
                  <a:rPr lang="en-US" altLang="ja-JP" dirty="0"/>
                  <a:t>1</a:t>
                </a:r>
              </a:p>
              <a:p>
                <a:endParaRPr kumimoji="1" lang="en-US" altLang="ja-JP" dirty="0"/>
              </a:p>
              <a:p>
                <a:r>
                  <a:rPr lang="ja-JP" altLang="en-US" dirty="0"/>
                  <a:t>実際には</a:t>
                </a:r>
                <a:r>
                  <a:rPr lang="en-US" altLang="ja-JP" dirty="0"/>
                  <a:t>Sampling and Holding</a:t>
                </a:r>
                <a:r>
                  <a:rPr lang="ja-JP" altLang="en-US" dirty="0"/>
                  <a:t>方式で実装されることが多い</a:t>
                </a:r>
                <a:br>
                  <a:rPr lang="en-US" altLang="ja-JP" dirty="0"/>
                </a:br>
                <a:r>
                  <a:rPr lang="ja-JP" altLang="en-US" dirty="0"/>
                  <a:t>→インパルス列を掛けて</a:t>
                </a:r>
                <a:r>
                  <a:rPr lang="en-US" altLang="ja-JP" dirty="0"/>
                  <a:t>(Sampling)</a:t>
                </a:r>
                <a:r>
                  <a:rPr lang="ja-JP" altLang="en-US" dirty="0"/>
                  <a:t>，</a:t>
                </a:r>
                <a:br>
                  <a:rPr lang="en-US" altLang="ja-JP" dirty="0"/>
                </a:br>
                <a:r>
                  <a:rPr lang="ja-JP" altLang="en-US" dirty="0"/>
                  <a:t>　掛けた後のインパルス列を次のサンプルまで保持</a:t>
                </a:r>
                <a:r>
                  <a:rPr lang="en-US" altLang="ja-JP" dirty="0"/>
                  <a:t>(Holding)</a:t>
                </a:r>
                <a:endParaRPr kumimoji="1" lang="en-US" altLang="ja-JP" dirty="0"/>
              </a:p>
            </p:txBody>
          </p:sp>
        </mc:Choice>
        <mc:Fallback xmlns="">
          <p:sp>
            <p:nvSpPr>
              <p:cNvPr id="3" name="コンテンツ プレースホルダー 2">
                <a:extLst>
                  <a:ext uri="{FF2B5EF4-FFF2-40B4-BE49-F238E27FC236}">
                    <a16:creationId xmlns:a16="http://schemas.microsoft.com/office/drawing/2014/main" id="{7E1D83F4-B69E-9966-951A-34459502BDDA}"/>
                  </a:ext>
                </a:extLst>
              </p:cNvPr>
              <p:cNvSpPr>
                <a:spLocks noGrp="1" noRot="1" noChangeAspect="1" noMove="1" noResize="1" noEditPoints="1" noAdjustHandles="1" noChangeArrowheads="1" noChangeShapeType="1" noTextEdit="1"/>
              </p:cNvSpPr>
              <p:nvPr>
                <p:ph idx="1"/>
              </p:nvPr>
            </p:nvSpPr>
            <p:spPr>
              <a:blipFill>
                <a:blip r:embed="rId3"/>
                <a:stretch>
                  <a:fillRect l="-1043" t="-2521" b="-2941"/>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1F5FD7DF-3D87-8E0B-CF47-8183FC2E3C0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11798021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27066-C473-409B-B3E7-4E518F3E6AB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F1CDCC2-3223-AD57-3650-48DEFDB89982}"/>
              </a:ext>
            </a:extLst>
          </p:cNvPr>
          <p:cNvSpPr>
            <a:spLocks noGrp="1"/>
          </p:cNvSpPr>
          <p:nvPr>
            <p:ph type="title"/>
          </p:nvPr>
        </p:nvSpPr>
        <p:spPr/>
        <p:txBody>
          <a:bodyPr/>
          <a:lstStyle/>
          <a:p>
            <a:r>
              <a:rPr lang="en-US" altLang="ja-JP" dirty="0"/>
              <a:t>3.1 Harmonic Mixer(HM)</a:t>
            </a:r>
            <a:r>
              <a:rPr lang="ja-JP" altLang="en-US" dirty="0"/>
              <a:t>について</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F49DDC23-9A55-9971-6AC5-46459CEFD4F0}"/>
                  </a:ext>
                </a:extLst>
              </p:cNvPr>
              <p:cNvSpPr>
                <a:spLocks noGrp="1"/>
              </p:cNvSpPr>
              <p:nvPr>
                <p:ph idx="1"/>
              </p:nvPr>
            </p:nvSpPr>
            <p:spPr/>
            <p:txBody>
              <a:bodyPr/>
              <a:lstStyle/>
              <a:p>
                <a:r>
                  <a:rPr kumimoji="1" lang="ja-JP" altLang="en-US" dirty="0"/>
                  <a:t>分周に</a:t>
                </a:r>
                <a:r>
                  <a:rPr kumimoji="1" lang="en-US" altLang="ja-JP" dirty="0"/>
                  <a:t>k</a:t>
                </a:r>
                <a:r>
                  <a:rPr kumimoji="1" lang="ja-JP" altLang="en-US" dirty="0"/>
                  <a:t>倍が出てくるのは，引き込み問題を回避するため</a:t>
                </a:r>
                <a:endParaRPr lang="en-US" altLang="ja-JP" dirty="0"/>
              </a:p>
              <a:p>
                <a:endParaRPr lang="en-US" altLang="ja-JP" dirty="0"/>
              </a:p>
              <a:p>
                <a:r>
                  <a:rPr lang="ja-JP" altLang="en-US" dirty="0"/>
                  <a:t>例えば</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𝑓</m:t>
                        </m:r>
                      </m:e>
                      <m:sub>
                        <m:r>
                          <a:rPr lang="en-US" altLang="ja-JP" b="0" i="1" smtClean="0">
                            <a:latin typeface="Cambria Math" panose="02040503050406030204" pitchFamily="18" charset="0"/>
                          </a:rPr>
                          <m:t>𝑂𝑈𝑇</m:t>
                        </m:r>
                      </m:sub>
                    </m:sSub>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𝑓</m:t>
                        </m:r>
                      </m:e>
                      <m:sub>
                        <m:r>
                          <a:rPr lang="en-US" altLang="ja-JP" b="0" i="1" smtClean="0">
                            <a:latin typeface="Cambria Math" panose="02040503050406030204" pitchFamily="18" charset="0"/>
                          </a:rPr>
                          <m:t>𝐿𝑂</m:t>
                        </m:r>
                      </m:sub>
                    </m:sSub>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𝑓</m:t>
                        </m:r>
                      </m:e>
                      <m:sub>
                        <m:r>
                          <a:rPr lang="en-US" altLang="ja-JP" b="0" i="1" smtClean="0">
                            <a:latin typeface="Cambria Math" panose="02040503050406030204" pitchFamily="18" charset="0"/>
                          </a:rPr>
                          <m:t>𝑅𝐸𝐹</m:t>
                        </m:r>
                      </m:sub>
                    </m:sSub>
                    <m:r>
                      <a:rPr lang="ja-JP" altLang="en-US" i="1">
                        <a:latin typeface="Cambria Math" panose="02040503050406030204" pitchFamily="18" charset="0"/>
                      </a:rPr>
                      <m:t>とすると</m:t>
                    </m:r>
                  </m:oMath>
                </a14:m>
                <a:r>
                  <a:rPr lang="ja-JP" altLang="en-US" dirty="0"/>
                  <a:t>，</a:t>
                </a:r>
                <a:r>
                  <a:rPr lang="en-US" altLang="ja-JP" dirty="0"/>
                  <a:t> </a:t>
                </a:r>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𝑓</m:t>
                        </m:r>
                      </m:e>
                      <m:sub>
                        <m:r>
                          <a:rPr lang="en-US" altLang="ja-JP" i="1">
                            <a:latin typeface="Cambria Math" panose="02040503050406030204" pitchFamily="18" charset="0"/>
                          </a:rPr>
                          <m:t>𝑂𝑈𝑇</m:t>
                        </m:r>
                      </m:sub>
                    </m:sSub>
                  </m:oMath>
                </a14:m>
                <a:r>
                  <a:rPr lang="ja-JP" altLang="en-US" dirty="0"/>
                  <a:t>と</a:t>
                </a:r>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𝑓</m:t>
                        </m:r>
                      </m:e>
                      <m:sub>
                        <m:r>
                          <a:rPr lang="en-US" altLang="ja-JP" i="1">
                            <a:latin typeface="Cambria Math" panose="02040503050406030204" pitchFamily="18" charset="0"/>
                          </a:rPr>
                          <m:t>𝐿𝑂</m:t>
                        </m:r>
                      </m:sub>
                    </m:sSub>
                  </m:oMath>
                </a14:m>
                <a:r>
                  <a:rPr lang="ja-JP" altLang="en-US" dirty="0"/>
                  <a:t>が非常に近くなる</a:t>
                </a:r>
                <a:br>
                  <a:rPr lang="en-US" altLang="ja-JP" dirty="0"/>
                </a:br>
                <a:r>
                  <a:rPr lang="ja-JP" altLang="en-US" dirty="0"/>
                  <a:t>→互いに影響を及ぼし合うため，ノイズ増大などのリスクあり</a:t>
                </a:r>
                <a:endParaRPr lang="en-US" altLang="ja-JP" dirty="0"/>
              </a:p>
              <a:p>
                <a:endParaRPr kumimoji="1" lang="en-US" altLang="ja-JP" dirty="0"/>
              </a:p>
              <a:p>
                <a:r>
                  <a:rPr lang="en-US" altLang="ja-JP" dirty="0"/>
                  <a:t>k</a:t>
                </a:r>
                <a:r>
                  <a:rPr lang="ja-JP" altLang="en-US" dirty="0"/>
                  <a:t>倍すればこの問題は回避できる</a:t>
                </a:r>
                <a:br>
                  <a:rPr lang="en-US" altLang="ja-JP" dirty="0"/>
                </a:br>
                <a:r>
                  <a:rPr lang="ja-JP" altLang="en-US" dirty="0"/>
                  <a:t>→このようなミキサが</a:t>
                </a:r>
                <a:r>
                  <a:rPr lang="en-US" altLang="ja-JP" dirty="0"/>
                  <a:t>Harmonic Mixer</a:t>
                </a:r>
                <a:endParaRPr kumimoji="1" lang="en-US" altLang="ja-JP" dirty="0"/>
              </a:p>
            </p:txBody>
          </p:sp>
        </mc:Choice>
        <mc:Fallback xmlns="">
          <p:sp>
            <p:nvSpPr>
              <p:cNvPr id="3" name="コンテンツ プレースホルダー 2">
                <a:extLst>
                  <a:ext uri="{FF2B5EF4-FFF2-40B4-BE49-F238E27FC236}">
                    <a16:creationId xmlns:a16="http://schemas.microsoft.com/office/drawing/2014/main" id="{F49DDC23-9A55-9971-6AC5-46459CEFD4F0}"/>
                  </a:ext>
                </a:extLst>
              </p:cNvPr>
              <p:cNvSpPr>
                <a:spLocks noGrp="1" noRot="1" noChangeAspect="1" noMove="1" noResize="1" noEditPoints="1" noAdjustHandles="1" noChangeArrowheads="1" noChangeShapeType="1" noTextEdit="1"/>
              </p:cNvSpPr>
              <p:nvPr>
                <p:ph idx="1"/>
              </p:nvPr>
            </p:nvSpPr>
            <p:spPr>
              <a:blipFill>
                <a:blip r:embed="rId2"/>
                <a:stretch>
                  <a:fillRect l="-1043" t="-2521" r="-290"/>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C139CF6A-2962-027B-F8A7-A198CBA4448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41702884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F5DE6-9906-6847-0624-A1E4441E845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4244714-A384-CC8E-47B1-6DCD37FC2983}"/>
              </a:ext>
            </a:extLst>
          </p:cNvPr>
          <p:cNvSpPr>
            <a:spLocks noGrp="1"/>
          </p:cNvSpPr>
          <p:nvPr>
            <p:ph type="title"/>
          </p:nvPr>
        </p:nvSpPr>
        <p:spPr/>
        <p:txBody>
          <a:bodyPr/>
          <a:lstStyle/>
          <a:p>
            <a:r>
              <a:rPr lang="en-US" altLang="ja-JP" dirty="0"/>
              <a:t>3.1 Harmonic Mixer(HM)</a:t>
            </a:r>
            <a:r>
              <a:rPr lang="ja-JP" altLang="en-US" dirty="0"/>
              <a:t>について</a:t>
            </a:r>
            <a:endParaRPr kumimoji="1" lang="ja-JP" altLang="en-US" dirty="0"/>
          </a:p>
        </p:txBody>
      </p:sp>
      <p:sp>
        <p:nvSpPr>
          <p:cNvPr id="3" name="コンテンツ プレースホルダー 2">
            <a:extLst>
              <a:ext uri="{FF2B5EF4-FFF2-40B4-BE49-F238E27FC236}">
                <a16:creationId xmlns:a16="http://schemas.microsoft.com/office/drawing/2014/main" id="{0E60C4D7-6347-12F8-360C-9D22173DE31B}"/>
              </a:ext>
            </a:extLst>
          </p:cNvPr>
          <p:cNvSpPr>
            <a:spLocks noGrp="1"/>
          </p:cNvSpPr>
          <p:nvPr>
            <p:ph idx="1"/>
          </p:nvPr>
        </p:nvSpPr>
        <p:spPr/>
        <p:txBody>
          <a:bodyPr/>
          <a:lstStyle/>
          <a:p>
            <a:r>
              <a:rPr lang="en-US" altLang="ja-JP" dirty="0"/>
              <a:t>Q. </a:t>
            </a:r>
            <a:r>
              <a:rPr lang="ja-JP" altLang="en-US" dirty="0"/>
              <a:t>最終的に</a:t>
            </a:r>
            <a:r>
              <a:rPr lang="en-US" altLang="ja-JP" dirty="0"/>
              <a:t>k</a:t>
            </a:r>
            <a:r>
              <a:rPr lang="ja-JP" altLang="en-US" dirty="0"/>
              <a:t>倍するのなら，結局問題は解決してないのでは？</a:t>
            </a:r>
            <a:endParaRPr lang="en-US" altLang="ja-JP" dirty="0"/>
          </a:p>
          <a:p>
            <a:endParaRPr kumimoji="1" lang="en-US" altLang="ja-JP" dirty="0"/>
          </a:p>
          <a:p>
            <a:r>
              <a:rPr kumimoji="1" lang="en-US" altLang="ja-JP" dirty="0"/>
              <a:t>A. k</a:t>
            </a:r>
            <a:r>
              <a:rPr kumimoji="1" lang="ja-JP" altLang="en-US" dirty="0"/>
              <a:t>次高調波成分は元の波と比べ</a:t>
            </a:r>
            <a:r>
              <a:rPr lang="ja-JP" altLang="en-US" dirty="0"/>
              <a:t>スペクトルが小さいため，</a:t>
            </a:r>
            <a:br>
              <a:rPr lang="en-US" altLang="ja-JP" dirty="0"/>
            </a:br>
            <a:r>
              <a:rPr lang="ja-JP" altLang="en-US" dirty="0"/>
              <a:t>　リスクはかなり低減されている。</a:t>
            </a:r>
            <a:endParaRPr kumimoji="1" lang="en-US" altLang="ja-JP" dirty="0"/>
          </a:p>
        </p:txBody>
      </p:sp>
      <p:sp>
        <p:nvSpPr>
          <p:cNvPr id="4" name="スライド番号プレースホルダー 3">
            <a:extLst>
              <a:ext uri="{FF2B5EF4-FFF2-40B4-BE49-F238E27FC236}">
                <a16:creationId xmlns:a16="http://schemas.microsoft.com/office/drawing/2014/main" id="{5CBD2656-C36A-1146-3545-33DC141F488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20571234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D4607-C03A-C71E-6B17-992CAEC4C9E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1307B1C-9160-2021-7D09-2FCB1AE321C0}"/>
              </a:ext>
            </a:extLst>
          </p:cNvPr>
          <p:cNvSpPr>
            <a:spLocks noGrp="1"/>
          </p:cNvSpPr>
          <p:nvPr>
            <p:ph type="title"/>
          </p:nvPr>
        </p:nvSpPr>
        <p:spPr/>
        <p:txBody>
          <a:bodyPr/>
          <a:lstStyle/>
          <a:p>
            <a:r>
              <a:rPr kumimoji="1" lang="en-US" altLang="ja-JP" dirty="0"/>
              <a:t>3.2 Triple-Loop PLL</a:t>
            </a:r>
            <a:endParaRPr kumimoji="1" lang="ja-JP" altLang="en-US" dirty="0"/>
          </a:p>
        </p:txBody>
      </p:sp>
      <p:sp>
        <p:nvSpPr>
          <p:cNvPr id="3" name="コンテンツ プレースホルダー 2">
            <a:extLst>
              <a:ext uri="{FF2B5EF4-FFF2-40B4-BE49-F238E27FC236}">
                <a16:creationId xmlns:a16="http://schemas.microsoft.com/office/drawing/2014/main" id="{CA4E258A-9BAE-3ABB-2EE8-304342EFF21D}"/>
              </a:ext>
            </a:extLst>
          </p:cNvPr>
          <p:cNvSpPr>
            <a:spLocks noGrp="1"/>
          </p:cNvSpPr>
          <p:nvPr>
            <p:ph idx="1"/>
          </p:nvPr>
        </p:nvSpPr>
        <p:spPr/>
        <p:txBody>
          <a:bodyPr/>
          <a:lstStyle/>
          <a:p>
            <a:r>
              <a:rPr kumimoji="1" lang="ja-JP" altLang="en-US" dirty="0"/>
              <a:t>以上の構造を上手くまとめたのが</a:t>
            </a:r>
            <a:r>
              <a:rPr kumimoji="1" lang="en-US" altLang="ja-JP" dirty="0"/>
              <a:t>Triple-Loop PLL</a:t>
            </a:r>
          </a:p>
          <a:p>
            <a:r>
              <a:rPr kumimoji="1" lang="ja-JP" altLang="en-US" dirty="0"/>
              <a:t>整数部・小数部・</a:t>
            </a:r>
            <a:r>
              <a:rPr kumimoji="1" lang="en-US" altLang="ja-JP" dirty="0"/>
              <a:t>HM</a:t>
            </a:r>
            <a:r>
              <a:rPr lang="en-US" altLang="ja-JP" dirty="0"/>
              <a:t>PLL</a:t>
            </a:r>
            <a:r>
              <a:rPr lang="ja-JP" altLang="en-US" dirty="0"/>
              <a:t>の</a:t>
            </a:r>
            <a:r>
              <a:rPr lang="en-US" altLang="ja-JP" dirty="0"/>
              <a:t>3</a:t>
            </a:r>
            <a:r>
              <a:rPr lang="ja-JP" altLang="en-US" dirty="0"/>
              <a:t>つから構成される</a:t>
            </a:r>
            <a:endParaRPr kumimoji="1" lang="en-US" altLang="ja-JP" dirty="0"/>
          </a:p>
        </p:txBody>
      </p:sp>
      <p:sp>
        <p:nvSpPr>
          <p:cNvPr id="4" name="スライド番号プレースホルダー 3">
            <a:extLst>
              <a:ext uri="{FF2B5EF4-FFF2-40B4-BE49-F238E27FC236}">
                <a16:creationId xmlns:a16="http://schemas.microsoft.com/office/drawing/2014/main" id="{41A49E74-08F6-EA58-C358-68660E9107B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pic>
        <p:nvPicPr>
          <p:cNvPr id="6" name="図 5" descr="ダイアグラム, 概略図&#10;&#10;AI 生成コンテンツは誤りを含む可能性があります。">
            <a:extLst>
              <a:ext uri="{FF2B5EF4-FFF2-40B4-BE49-F238E27FC236}">
                <a16:creationId xmlns:a16="http://schemas.microsoft.com/office/drawing/2014/main" id="{F8AE4A50-DE03-5725-5C14-199260A748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0543" y="2850629"/>
            <a:ext cx="6605654" cy="3326334"/>
          </a:xfrm>
          <a:prstGeom prst="rect">
            <a:avLst/>
          </a:prstGeom>
        </p:spPr>
      </p:pic>
      <p:sp>
        <p:nvSpPr>
          <p:cNvPr id="7" name="テキスト ボックス 6">
            <a:extLst>
              <a:ext uri="{FF2B5EF4-FFF2-40B4-BE49-F238E27FC236}">
                <a16:creationId xmlns:a16="http://schemas.microsoft.com/office/drawing/2014/main" id="{E91F44AC-DEB2-16B4-092A-E4C1521BB949}"/>
              </a:ext>
            </a:extLst>
          </p:cNvPr>
          <p:cNvSpPr txBox="1"/>
          <p:nvPr/>
        </p:nvSpPr>
        <p:spPr>
          <a:xfrm>
            <a:off x="2846613" y="6266657"/>
            <a:ext cx="6498771" cy="461665"/>
          </a:xfrm>
          <a:prstGeom prst="rect">
            <a:avLst/>
          </a:prstGeom>
          <a:noFill/>
        </p:spPr>
        <p:txBody>
          <a:bodyPr wrap="square" rtlCol="0">
            <a:spAutoFit/>
          </a:bodyPr>
          <a:lstStyle/>
          <a:p>
            <a:pPr algn="ctr"/>
            <a:r>
              <a:rPr kumimoji="1" lang="ja-JP" altLang="en-US" sz="2400" dirty="0"/>
              <a:t>論文</a:t>
            </a:r>
            <a:r>
              <a:rPr kumimoji="1" lang="en-US" altLang="ja-JP" sz="2400" dirty="0"/>
              <a:t>Figure 3.7</a:t>
            </a:r>
            <a:endParaRPr kumimoji="1" lang="ja-JP" altLang="en-US" sz="2400" dirty="0"/>
          </a:p>
        </p:txBody>
      </p:sp>
    </p:spTree>
    <p:extLst>
      <p:ext uri="{BB962C8B-B14F-4D97-AF65-F5344CB8AC3E}">
        <p14:creationId xmlns:p14="http://schemas.microsoft.com/office/powerpoint/2010/main" val="27020368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27E4F-38A9-A38C-071C-ECCE3B2B895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1FA56B9-6F50-1706-E3CE-C7B0C9474B74}"/>
              </a:ext>
            </a:extLst>
          </p:cNvPr>
          <p:cNvSpPr>
            <a:spLocks noGrp="1"/>
          </p:cNvSpPr>
          <p:nvPr>
            <p:ph type="title"/>
          </p:nvPr>
        </p:nvSpPr>
        <p:spPr/>
        <p:txBody>
          <a:bodyPr/>
          <a:lstStyle/>
          <a:p>
            <a:r>
              <a:rPr kumimoji="1" lang="en-US" altLang="ja-JP" dirty="0"/>
              <a:t>3.2 Triple-Loop PLL</a:t>
            </a:r>
            <a:endParaRPr kumimoji="1" lang="ja-JP" altLang="en-US" dirty="0"/>
          </a:p>
        </p:txBody>
      </p:sp>
      <p:sp>
        <p:nvSpPr>
          <p:cNvPr id="3" name="コンテンツ プレースホルダー 2">
            <a:extLst>
              <a:ext uri="{FF2B5EF4-FFF2-40B4-BE49-F238E27FC236}">
                <a16:creationId xmlns:a16="http://schemas.microsoft.com/office/drawing/2014/main" id="{419C4BE7-56CD-4215-996E-1E509F27850E}"/>
              </a:ext>
            </a:extLst>
          </p:cNvPr>
          <p:cNvSpPr>
            <a:spLocks noGrp="1"/>
          </p:cNvSpPr>
          <p:nvPr>
            <p:ph idx="1"/>
          </p:nvPr>
        </p:nvSpPr>
        <p:spPr/>
        <p:txBody>
          <a:bodyPr/>
          <a:lstStyle/>
          <a:p>
            <a:r>
              <a:rPr kumimoji="1" lang="ja-JP" altLang="en-US" dirty="0"/>
              <a:t>整数部が大まかな周波数を決定し，小数部でずれを修正</a:t>
            </a:r>
            <a:endParaRPr kumimoji="1" lang="en-US" altLang="ja-JP" dirty="0"/>
          </a:p>
          <a:p>
            <a:r>
              <a:rPr lang="en-US" altLang="ja-JP" dirty="0"/>
              <a:t>HM</a:t>
            </a:r>
            <a:r>
              <a:rPr lang="ja-JP" altLang="en-US" dirty="0"/>
              <a:t>の使用により，小数部のノイズが再増幅されない</a:t>
            </a:r>
            <a:endParaRPr kumimoji="1" lang="en-US" altLang="ja-JP" dirty="0"/>
          </a:p>
        </p:txBody>
      </p:sp>
      <p:sp>
        <p:nvSpPr>
          <p:cNvPr id="4" name="スライド番号プレースホルダー 3">
            <a:extLst>
              <a:ext uri="{FF2B5EF4-FFF2-40B4-BE49-F238E27FC236}">
                <a16:creationId xmlns:a16="http://schemas.microsoft.com/office/drawing/2014/main" id="{BC270DEE-3A0E-0470-6E94-91C68429F90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pic>
        <p:nvPicPr>
          <p:cNvPr id="6" name="図 5" descr="ダイアグラム, 概略図&#10;&#10;AI 生成コンテンツは誤りを含む可能性があります。">
            <a:extLst>
              <a:ext uri="{FF2B5EF4-FFF2-40B4-BE49-F238E27FC236}">
                <a16:creationId xmlns:a16="http://schemas.microsoft.com/office/drawing/2014/main" id="{9602F249-C534-47D0-38CA-74DA78AA85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0543" y="2850629"/>
            <a:ext cx="6605654" cy="3326334"/>
          </a:xfrm>
          <a:prstGeom prst="rect">
            <a:avLst/>
          </a:prstGeom>
        </p:spPr>
      </p:pic>
      <p:sp>
        <p:nvSpPr>
          <p:cNvPr id="7" name="テキスト ボックス 6">
            <a:extLst>
              <a:ext uri="{FF2B5EF4-FFF2-40B4-BE49-F238E27FC236}">
                <a16:creationId xmlns:a16="http://schemas.microsoft.com/office/drawing/2014/main" id="{6C5AC3FD-2781-9D0D-0989-EF0C3B1046A8}"/>
              </a:ext>
            </a:extLst>
          </p:cNvPr>
          <p:cNvSpPr txBox="1"/>
          <p:nvPr/>
        </p:nvSpPr>
        <p:spPr>
          <a:xfrm>
            <a:off x="2846613" y="6266657"/>
            <a:ext cx="6498771" cy="461665"/>
          </a:xfrm>
          <a:prstGeom prst="rect">
            <a:avLst/>
          </a:prstGeom>
          <a:noFill/>
        </p:spPr>
        <p:txBody>
          <a:bodyPr wrap="square" rtlCol="0">
            <a:spAutoFit/>
          </a:bodyPr>
          <a:lstStyle/>
          <a:p>
            <a:pPr algn="ctr"/>
            <a:r>
              <a:rPr kumimoji="1" lang="ja-JP" altLang="en-US" sz="2400" dirty="0"/>
              <a:t>論文</a:t>
            </a:r>
            <a:r>
              <a:rPr kumimoji="1" lang="en-US" altLang="ja-JP" sz="2400" dirty="0"/>
              <a:t>Figure 3.7</a:t>
            </a:r>
            <a:endParaRPr kumimoji="1" lang="ja-JP" altLang="en-US" sz="2400" dirty="0"/>
          </a:p>
        </p:txBody>
      </p:sp>
    </p:spTree>
    <p:extLst>
      <p:ext uri="{BB962C8B-B14F-4D97-AF65-F5344CB8AC3E}">
        <p14:creationId xmlns:p14="http://schemas.microsoft.com/office/powerpoint/2010/main" val="15938638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5C42C-1ABD-19D6-4E68-4BBF8D920A9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DAA57CF-2A37-2B81-270A-AAA456287B95}"/>
              </a:ext>
            </a:extLst>
          </p:cNvPr>
          <p:cNvSpPr>
            <a:spLocks noGrp="1"/>
          </p:cNvSpPr>
          <p:nvPr>
            <p:ph type="title"/>
          </p:nvPr>
        </p:nvSpPr>
        <p:spPr/>
        <p:txBody>
          <a:bodyPr/>
          <a:lstStyle/>
          <a:p>
            <a:r>
              <a:rPr lang="en-US" altLang="ja-JP" dirty="0"/>
              <a:t>3.2 Triple-Loop PLL</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F9368AEB-56A0-0EC3-4ED9-83AF13C323DF}"/>
                  </a:ext>
                </a:extLst>
              </p:cNvPr>
              <p:cNvSpPr>
                <a:spLocks noGrp="1"/>
              </p:cNvSpPr>
              <p:nvPr>
                <p:ph idx="1"/>
              </p:nvPr>
            </p:nvSpPr>
            <p:spPr/>
            <p:txBody>
              <a:bodyPr/>
              <a:lstStyle/>
              <a:p>
                <a:r>
                  <a:rPr kumimoji="1" lang="ja-JP" altLang="en-US" dirty="0"/>
                  <a:t>小数部分のノイズは</a:t>
                </a:r>
                <a14:m>
                  <m:oMath xmlns:m="http://schemas.openxmlformats.org/officeDocument/2006/math">
                    <m:sSub>
                      <m:sSubPr>
                        <m:ctrlPr>
                          <a:rPr kumimoji="1" lang="en-US" altLang="ja-JP" b="0" i="1" dirty="0" smtClean="0">
                            <a:latin typeface="Cambria Math" panose="02040503050406030204" pitchFamily="18" charset="0"/>
                          </a:rPr>
                        </m:ctrlPr>
                      </m:sSubPr>
                      <m:e>
                        <m:r>
                          <a:rPr kumimoji="1" lang="en-US" altLang="ja-JP" b="0" i="1" dirty="0" smtClean="0">
                            <a:latin typeface="Cambria Math" panose="02040503050406030204" pitchFamily="18" charset="0"/>
                          </a:rPr>
                          <m:t>𝑀</m:t>
                        </m:r>
                      </m:e>
                      <m:sub>
                        <m:r>
                          <a:rPr kumimoji="1" lang="en-US" altLang="ja-JP" b="0" i="1" dirty="0" smtClean="0">
                            <a:latin typeface="Cambria Math" panose="02040503050406030204" pitchFamily="18" charset="0"/>
                          </a:rPr>
                          <m:t>2</m:t>
                        </m:r>
                      </m:sub>
                    </m:sSub>
                  </m:oMath>
                </a14:m>
                <a:r>
                  <a:rPr kumimoji="1" lang="ja-JP" altLang="en-US" dirty="0"/>
                  <a:t>で分周されて抑えられる</a:t>
                </a:r>
                <a:endParaRPr kumimoji="1" lang="en-US" altLang="ja-JP" dirty="0"/>
              </a:p>
              <a:p>
                <a:endParaRPr lang="en-US" altLang="ja-JP" dirty="0"/>
              </a:p>
              <a:p>
                <a:r>
                  <a:rPr kumimoji="1" lang="ja-JP" altLang="en-US" dirty="0"/>
                  <a:t>整数部分のノイズはある程度通る</a:t>
                </a:r>
                <a:r>
                  <a:rPr kumimoji="1" lang="en-US" altLang="ja-JP" dirty="0"/>
                  <a:t>(</a:t>
                </a:r>
                <a:r>
                  <a:rPr kumimoji="1" lang="ja-JP" altLang="en-US" dirty="0"/>
                  <a:t>分周された後</a:t>
                </a:r>
                <a:r>
                  <a:rPr kumimoji="1" lang="en-US" altLang="ja-JP" dirty="0"/>
                  <a:t>k</a:t>
                </a:r>
                <a:r>
                  <a:rPr kumimoji="1" lang="ja-JP" altLang="en-US" dirty="0"/>
                  <a:t>倍されるため</a:t>
                </a:r>
                <a:r>
                  <a:rPr kumimoji="1" lang="en-US" altLang="ja-JP" dirty="0"/>
                  <a:t>)</a:t>
                </a:r>
                <a:r>
                  <a:rPr kumimoji="1" lang="ja-JP" altLang="en-US" dirty="0"/>
                  <a:t>が，</a:t>
                </a:r>
                <a:r>
                  <a:rPr kumimoji="1" lang="en-US" altLang="ja-JP" dirty="0"/>
                  <a:t>Spur</a:t>
                </a:r>
                <a:r>
                  <a:rPr kumimoji="1" lang="ja-JP" altLang="en-US" dirty="0"/>
                  <a:t>や量子化ノイズはほとんどないため影響が小さい</a:t>
                </a:r>
                <a:endParaRPr kumimoji="1" lang="en-US" altLang="ja-JP" dirty="0"/>
              </a:p>
              <a:p>
                <a:endParaRPr lang="en-US" altLang="ja-JP" dirty="0"/>
              </a:p>
              <a:p>
                <a:r>
                  <a:rPr kumimoji="1" lang="en-US" altLang="ja-JP" dirty="0"/>
                  <a:t>PLL</a:t>
                </a:r>
                <a:r>
                  <a:rPr kumimoji="1" lang="ja-JP" altLang="en-US" dirty="0"/>
                  <a:t>が</a:t>
                </a:r>
                <a:r>
                  <a:rPr kumimoji="1" lang="en-US" altLang="ja-JP" dirty="0"/>
                  <a:t>3</a:t>
                </a:r>
                <a:r>
                  <a:rPr kumimoji="1" lang="ja-JP" altLang="en-US" dirty="0"/>
                  <a:t>つも必要なため，高コストや広面積であることが欠点</a:t>
                </a:r>
                <a:endParaRPr kumimoji="1" lang="en-US" altLang="ja-JP" dirty="0"/>
              </a:p>
            </p:txBody>
          </p:sp>
        </mc:Choice>
        <mc:Fallback xmlns="">
          <p:sp>
            <p:nvSpPr>
              <p:cNvPr id="3" name="コンテンツ プレースホルダー 2">
                <a:extLst>
                  <a:ext uri="{FF2B5EF4-FFF2-40B4-BE49-F238E27FC236}">
                    <a16:creationId xmlns:a16="http://schemas.microsoft.com/office/drawing/2014/main" id="{F9368AEB-56A0-0EC3-4ED9-83AF13C323DF}"/>
                  </a:ext>
                </a:extLst>
              </p:cNvPr>
              <p:cNvSpPr>
                <a:spLocks noGrp="1" noRot="1" noChangeAspect="1" noMove="1" noResize="1" noEditPoints="1" noAdjustHandles="1" noChangeArrowheads="1" noChangeShapeType="1" noTextEdit="1"/>
              </p:cNvSpPr>
              <p:nvPr>
                <p:ph idx="1"/>
              </p:nvPr>
            </p:nvSpPr>
            <p:spPr>
              <a:blipFill>
                <a:blip r:embed="rId2"/>
                <a:stretch>
                  <a:fillRect l="-1043" t="-2381" r="-232"/>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DB4CF77C-A7EA-BF4A-A3C5-A83625CC3A7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39843191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76670-76D4-5DA3-5327-F0B5EC3EF3B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5856B55-B789-0430-AE25-3994D6ADFEBB}"/>
              </a:ext>
            </a:extLst>
          </p:cNvPr>
          <p:cNvSpPr>
            <a:spLocks noGrp="1"/>
          </p:cNvSpPr>
          <p:nvPr>
            <p:ph type="title"/>
          </p:nvPr>
        </p:nvSpPr>
        <p:spPr/>
        <p:txBody>
          <a:bodyPr/>
          <a:lstStyle/>
          <a:p>
            <a:r>
              <a:rPr kumimoji="1" lang="en-US" altLang="ja-JP" dirty="0"/>
              <a:t>Dual-Feedback PLL</a:t>
            </a:r>
            <a:endParaRPr kumimoji="1" lang="ja-JP" altLang="en-US" dirty="0"/>
          </a:p>
        </p:txBody>
      </p:sp>
      <p:sp>
        <p:nvSpPr>
          <p:cNvPr id="3" name="コンテンツ プレースホルダー 2">
            <a:extLst>
              <a:ext uri="{FF2B5EF4-FFF2-40B4-BE49-F238E27FC236}">
                <a16:creationId xmlns:a16="http://schemas.microsoft.com/office/drawing/2014/main" id="{47198184-D66D-55DE-BEDC-C684707A68A5}"/>
              </a:ext>
            </a:extLst>
          </p:cNvPr>
          <p:cNvSpPr>
            <a:spLocks noGrp="1"/>
          </p:cNvSpPr>
          <p:nvPr>
            <p:ph sz="half" idx="1"/>
          </p:nvPr>
        </p:nvSpPr>
        <p:spPr/>
        <p:txBody>
          <a:bodyPr/>
          <a:lstStyle/>
          <a:p>
            <a:r>
              <a:rPr kumimoji="1" lang="ja-JP" altLang="en-US" dirty="0"/>
              <a:t>そこで，小数部と</a:t>
            </a:r>
            <a:r>
              <a:rPr kumimoji="1" lang="en-US" altLang="ja-JP" dirty="0"/>
              <a:t>HMPLL</a:t>
            </a:r>
            <a:r>
              <a:rPr kumimoji="1" lang="ja-JP" altLang="en-US" dirty="0"/>
              <a:t>をまとめたものが</a:t>
            </a:r>
            <a:r>
              <a:rPr kumimoji="1" lang="en-US" altLang="ja-JP" dirty="0"/>
              <a:t>Dual-Feedback PLL(</a:t>
            </a:r>
            <a:r>
              <a:rPr kumimoji="1" lang="ja-JP" altLang="en-US" dirty="0"/>
              <a:t>本論文の提案手法</a:t>
            </a:r>
            <a:r>
              <a:rPr kumimoji="1" lang="en-US" altLang="ja-JP" dirty="0"/>
              <a:t>)</a:t>
            </a:r>
          </a:p>
          <a:p>
            <a:endParaRPr lang="en-US" altLang="ja-JP" dirty="0"/>
          </a:p>
          <a:p>
            <a:r>
              <a:rPr kumimoji="1" lang="ja-JP" altLang="en-US" dirty="0"/>
              <a:t>今週はここまで</a:t>
            </a:r>
            <a:endParaRPr kumimoji="1" lang="en-US" altLang="ja-JP" dirty="0"/>
          </a:p>
        </p:txBody>
      </p:sp>
      <p:pic>
        <p:nvPicPr>
          <p:cNvPr id="9" name="コンテンツ プレースホルダー 8">
            <a:extLst>
              <a:ext uri="{FF2B5EF4-FFF2-40B4-BE49-F238E27FC236}">
                <a16:creationId xmlns:a16="http://schemas.microsoft.com/office/drawing/2014/main" id="{5A221DFA-C62D-5E2B-8D8F-58A7FF645588}"/>
              </a:ext>
            </a:extLst>
          </p:cNvPr>
          <p:cNvPicPr>
            <a:picLocks noGrp="1" noChangeAspect="1"/>
          </p:cNvPicPr>
          <p:nvPr>
            <p:ph sz="half" idx="2"/>
          </p:nvPr>
        </p:nvPicPr>
        <p:blipFill>
          <a:blip r:embed="rId2"/>
          <a:stretch>
            <a:fillRect/>
          </a:stretch>
        </p:blipFill>
        <p:spPr>
          <a:xfrm>
            <a:off x="6172200" y="1923216"/>
            <a:ext cx="5181600" cy="4156155"/>
          </a:xfrm>
        </p:spPr>
      </p:pic>
      <p:sp>
        <p:nvSpPr>
          <p:cNvPr id="4" name="スライド番号プレースホルダー 3">
            <a:extLst>
              <a:ext uri="{FF2B5EF4-FFF2-40B4-BE49-F238E27FC236}">
                <a16:creationId xmlns:a16="http://schemas.microsoft.com/office/drawing/2014/main" id="{D9B821CE-048B-8AF0-BE11-DABFFAE9702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
        <p:nvSpPr>
          <p:cNvPr id="10" name="テキスト ボックス 9">
            <a:extLst>
              <a:ext uri="{FF2B5EF4-FFF2-40B4-BE49-F238E27FC236}">
                <a16:creationId xmlns:a16="http://schemas.microsoft.com/office/drawing/2014/main" id="{CFF130CF-6CAA-C6EC-A584-ECB5121FF6D1}"/>
              </a:ext>
            </a:extLst>
          </p:cNvPr>
          <p:cNvSpPr txBox="1"/>
          <p:nvPr/>
        </p:nvSpPr>
        <p:spPr>
          <a:xfrm>
            <a:off x="5513614" y="6077247"/>
            <a:ext cx="6498771" cy="461665"/>
          </a:xfrm>
          <a:prstGeom prst="rect">
            <a:avLst/>
          </a:prstGeom>
          <a:noFill/>
        </p:spPr>
        <p:txBody>
          <a:bodyPr wrap="square" rtlCol="0">
            <a:spAutoFit/>
          </a:bodyPr>
          <a:lstStyle/>
          <a:p>
            <a:pPr algn="ctr"/>
            <a:r>
              <a:rPr kumimoji="1" lang="ja-JP" altLang="en-US" sz="2400" dirty="0"/>
              <a:t>論文</a:t>
            </a:r>
            <a:r>
              <a:rPr kumimoji="1" lang="en-US" altLang="ja-JP" sz="2400" dirty="0"/>
              <a:t>Figure 3.9</a:t>
            </a:r>
            <a:endParaRPr kumimoji="1" lang="ja-JP" altLang="en-US" sz="2400" dirty="0"/>
          </a:p>
        </p:txBody>
      </p:sp>
    </p:spTree>
    <p:extLst>
      <p:ext uri="{BB962C8B-B14F-4D97-AF65-F5344CB8AC3E}">
        <p14:creationId xmlns:p14="http://schemas.microsoft.com/office/powerpoint/2010/main" val="5629545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3301D-E469-E0F4-7A91-B1A0105DB9B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AD27495-9646-3A44-134F-08EE89BDA770}"/>
              </a:ext>
            </a:extLst>
          </p:cNvPr>
          <p:cNvSpPr>
            <a:spLocks noGrp="1"/>
          </p:cNvSpPr>
          <p:nvPr>
            <p:ph type="ctrTitle"/>
          </p:nvPr>
        </p:nvSpPr>
        <p:spPr/>
        <p:txBody>
          <a:bodyPr/>
          <a:lstStyle/>
          <a:p>
            <a:r>
              <a:rPr lang="ja-JP" altLang="en-US" dirty="0">
                <a:solidFill>
                  <a:schemeClr val="tx1"/>
                </a:solidFill>
              </a:rPr>
              <a:t>進捗報告 </a:t>
            </a:r>
            <a:r>
              <a:rPr lang="en-US" altLang="ja-JP" dirty="0">
                <a:solidFill>
                  <a:schemeClr val="tx1"/>
                </a:solidFill>
              </a:rPr>
              <a:t>05/07</a:t>
            </a:r>
            <a:endParaRPr kumimoji="1" lang="ja-JP" altLang="en-US" dirty="0">
              <a:solidFill>
                <a:schemeClr val="tx1"/>
              </a:solidFill>
            </a:endParaRPr>
          </a:p>
        </p:txBody>
      </p:sp>
      <p:sp>
        <p:nvSpPr>
          <p:cNvPr id="3" name="字幕 2">
            <a:extLst>
              <a:ext uri="{FF2B5EF4-FFF2-40B4-BE49-F238E27FC236}">
                <a16:creationId xmlns:a16="http://schemas.microsoft.com/office/drawing/2014/main" id="{697D0EAC-D636-3B45-A070-3776D5875EC8}"/>
              </a:ext>
            </a:extLst>
          </p:cNvPr>
          <p:cNvSpPr>
            <a:spLocks noGrp="1"/>
          </p:cNvSpPr>
          <p:nvPr>
            <p:ph type="subTitle" idx="1"/>
          </p:nvPr>
        </p:nvSpPr>
        <p:spPr/>
        <p:txBody>
          <a:bodyPr/>
          <a:lstStyle/>
          <a:p>
            <a:r>
              <a:rPr lang="en-US" altLang="ja-JP" dirty="0"/>
              <a:t>B4</a:t>
            </a:r>
            <a:r>
              <a:rPr lang="ja-JP" altLang="en-US" dirty="0"/>
              <a:t>　福島幸弥</a:t>
            </a:r>
            <a:endParaRPr kumimoji="1" lang="ja-JP" altLang="en-US" dirty="0"/>
          </a:p>
        </p:txBody>
      </p:sp>
    </p:spTree>
    <p:extLst>
      <p:ext uri="{BB962C8B-B14F-4D97-AF65-F5344CB8AC3E}">
        <p14:creationId xmlns:p14="http://schemas.microsoft.com/office/powerpoint/2010/main" val="2640971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4FD4B-380E-27FA-40AF-1DAD9008FD2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34F64B5-C614-CCD2-6A7A-3F5FAB604B68}"/>
              </a:ext>
            </a:extLst>
          </p:cNvPr>
          <p:cNvSpPr>
            <a:spLocks noGrp="1"/>
          </p:cNvSpPr>
          <p:nvPr>
            <p:ph type="title"/>
          </p:nvPr>
        </p:nvSpPr>
        <p:spPr/>
        <p:txBody>
          <a:bodyPr/>
          <a:lstStyle/>
          <a:p>
            <a:r>
              <a:rPr lang="ja-JP" altLang="en-US" dirty="0"/>
              <a:t>やったこと</a:t>
            </a:r>
            <a:endParaRPr kumimoji="1" lang="ja-JP" altLang="en-US" dirty="0"/>
          </a:p>
        </p:txBody>
      </p:sp>
      <p:sp>
        <p:nvSpPr>
          <p:cNvPr id="3" name="コンテンツ プレースホルダー 2">
            <a:extLst>
              <a:ext uri="{FF2B5EF4-FFF2-40B4-BE49-F238E27FC236}">
                <a16:creationId xmlns:a16="http://schemas.microsoft.com/office/drawing/2014/main" id="{15711C10-0977-39C5-A6B1-4A8F1FE7DB89}"/>
              </a:ext>
            </a:extLst>
          </p:cNvPr>
          <p:cNvSpPr>
            <a:spLocks noGrp="1"/>
          </p:cNvSpPr>
          <p:nvPr>
            <p:ph idx="1"/>
          </p:nvPr>
        </p:nvSpPr>
        <p:spPr/>
        <p:txBody>
          <a:bodyPr/>
          <a:lstStyle/>
          <a:p>
            <a:r>
              <a:rPr lang="en-US" altLang="ja-JP" dirty="0"/>
              <a:t>n</a:t>
            </a:r>
            <a:r>
              <a:rPr kumimoji="1" lang="en-US" altLang="ja-JP" dirty="0"/>
              <a:t>sga_2.m : </a:t>
            </a:r>
            <a:r>
              <a:rPr kumimoji="1" lang="ja-JP" altLang="en-US" dirty="0"/>
              <a:t>メインプログラム。入力引数の引き渡しなど</a:t>
            </a:r>
            <a:endParaRPr lang="en-US" altLang="ja-JP" dirty="0"/>
          </a:p>
          <a:p>
            <a:r>
              <a:rPr lang="en-US" altLang="ja-JP" dirty="0" err="1"/>
              <a:t>objective_description_function.m</a:t>
            </a:r>
            <a:r>
              <a:rPr lang="en-US" altLang="ja-JP" dirty="0"/>
              <a:t> : </a:t>
            </a:r>
            <a:r>
              <a:rPr lang="ja-JP" altLang="en-US" dirty="0"/>
              <a:t>入力引数に関連</a:t>
            </a:r>
            <a:endParaRPr lang="en-US" altLang="ja-JP" dirty="0"/>
          </a:p>
          <a:p>
            <a:r>
              <a:rPr lang="en-US" altLang="ja-JP" dirty="0" err="1"/>
              <a:t>initialize_variables.m</a:t>
            </a:r>
            <a:r>
              <a:rPr lang="en-US" altLang="ja-JP" dirty="0"/>
              <a:t> : </a:t>
            </a:r>
            <a:r>
              <a:rPr lang="ja-JP" altLang="en-US" dirty="0"/>
              <a:t>第</a:t>
            </a:r>
            <a:r>
              <a:rPr lang="en-US" altLang="ja-JP" dirty="0"/>
              <a:t>1</a:t>
            </a:r>
            <a:r>
              <a:rPr lang="ja-JP" altLang="en-US" dirty="0"/>
              <a:t>世代を産む</a:t>
            </a:r>
            <a:endParaRPr lang="en-US" altLang="ja-JP" dirty="0"/>
          </a:p>
          <a:p>
            <a:r>
              <a:rPr lang="en-US" altLang="ja-JP" dirty="0" err="1"/>
              <a:t>evaluate_objective.m</a:t>
            </a:r>
            <a:r>
              <a:rPr lang="en-US" altLang="ja-JP" dirty="0"/>
              <a:t> : </a:t>
            </a:r>
            <a:r>
              <a:rPr lang="ja-JP" altLang="en-US" dirty="0"/>
              <a:t>対象とする</a:t>
            </a:r>
            <a:r>
              <a:rPr lang="en-US" altLang="ja-JP" dirty="0"/>
              <a:t>PLL</a:t>
            </a:r>
            <a:r>
              <a:rPr lang="ja-JP" altLang="en-US" dirty="0"/>
              <a:t>の情報</a:t>
            </a:r>
            <a:endParaRPr lang="en-US" altLang="ja-JP" dirty="0"/>
          </a:p>
          <a:p>
            <a:r>
              <a:rPr lang="fr-FR" altLang="ja-JP" dirty="0"/>
              <a:t>non_domination_sort_mod.m : </a:t>
            </a:r>
            <a:r>
              <a:rPr lang="ja-JP" altLang="en-US" dirty="0"/>
              <a:t>現世代の個体間の評価</a:t>
            </a:r>
            <a:endParaRPr lang="en-US" altLang="ja-JP" dirty="0"/>
          </a:p>
          <a:p>
            <a:r>
              <a:rPr lang="en-US" altLang="ja-JP" dirty="0" err="1"/>
              <a:t>tournament_selection.m</a:t>
            </a:r>
            <a:r>
              <a:rPr lang="en-US" altLang="ja-JP" dirty="0"/>
              <a:t> : </a:t>
            </a:r>
            <a:r>
              <a:rPr lang="ja-JP" altLang="en-US" dirty="0"/>
              <a:t>次世代の親の選別</a:t>
            </a:r>
            <a:endParaRPr lang="en-US" altLang="ja-JP" dirty="0"/>
          </a:p>
          <a:p>
            <a:r>
              <a:rPr lang="en-US" altLang="ja-JP" dirty="0" err="1"/>
              <a:t>genetic_operator.m</a:t>
            </a:r>
            <a:r>
              <a:rPr lang="en-US" altLang="ja-JP" dirty="0"/>
              <a:t> : </a:t>
            </a:r>
            <a:r>
              <a:rPr lang="ja-JP" altLang="en-US" dirty="0"/>
              <a:t>次世代を産む</a:t>
            </a:r>
            <a:endParaRPr lang="en-US" altLang="ja-JP" dirty="0"/>
          </a:p>
          <a:p>
            <a:r>
              <a:rPr lang="en-US" altLang="ja-JP" dirty="0" err="1"/>
              <a:t>replace_chromosome.m</a:t>
            </a:r>
            <a:r>
              <a:rPr lang="en-US" altLang="ja-JP" dirty="0"/>
              <a:t> : </a:t>
            </a:r>
            <a:r>
              <a:rPr lang="ja-JP" altLang="en-US" dirty="0"/>
              <a:t>現世代と</a:t>
            </a:r>
            <a:r>
              <a:rPr lang="ja-JP" altLang="en-US"/>
              <a:t>次世代の評価・選別</a:t>
            </a:r>
            <a:endParaRPr lang="en-US" altLang="ja-JP" dirty="0"/>
          </a:p>
          <a:p>
            <a:endParaRPr lang="en-US" altLang="ja-JP" dirty="0"/>
          </a:p>
          <a:p>
            <a:endParaRPr lang="en-US" altLang="ja-JP" dirty="0"/>
          </a:p>
          <a:p>
            <a:endParaRPr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0932DDEB-0A20-D9B8-E297-9B952FDB512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8521559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4ADC3-32E3-5800-AE1D-0D9B5DC4E3E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8C6D861-7277-3690-4639-7DFE24F636CA}"/>
              </a:ext>
            </a:extLst>
          </p:cNvPr>
          <p:cNvSpPr>
            <a:spLocks noGrp="1"/>
          </p:cNvSpPr>
          <p:nvPr>
            <p:ph type="title"/>
          </p:nvPr>
        </p:nvSpPr>
        <p:spPr/>
        <p:txBody>
          <a:bodyPr/>
          <a:lstStyle/>
          <a:p>
            <a:r>
              <a:rPr lang="ja-JP" altLang="en-US" dirty="0"/>
              <a:t>やったこと</a:t>
            </a:r>
            <a:endParaRPr kumimoji="1" lang="ja-JP" altLang="en-US" dirty="0"/>
          </a:p>
        </p:txBody>
      </p:sp>
      <p:sp>
        <p:nvSpPr>
          <p:cNvPr id="3" name="コンテンツ プレースホルダー 2">
            <a:extLst>
              <a:ext uri="{FF2B5EF4-FFF2-40B4-BE49-F238E27FC236}">
                <a16:creationId xmlns:a16="http://schemas.microsoft.com/office/drawing/2014/main" id="{4411518E-33F7-A4BF-5949-8E3194ABA141}"/>
              </a:ext>
            </a:extLst>
          </p:cNvPr>
          <p:cNvSpPr>
            <a:spLocks noGrp="1"/>
          </p:cNvSpPr>
          <p:nvPr>
            <p:ph idx="1"/>
          </p:nvPr>
        </p:nvSpPr>
        <p:spPr/>
        <p:txBody>
          <a:bodyPr/>
          <a:lstStyle/>
          <a:p>
            <a:r>
              <a:rPr kumimoji="1" lang="ja-JP" altLang="en-US" dirty="0"/>
              <a:t>最適化プログラムを走らせ、動作確認</a:t>
            </a:r>
            <a:endParaRPr kumimoji="1" lang="en-US" altLang="ja-JP" dirty="0"/>
          </a:p>
          <a:p>
            <a:endParaRPr lang="en-US" altLang="ja-JP" dirty="0"/>
          </a:p>
          <a:p>
            <a:r>
              <a:rPr kumimoji="1" lang="ja-JP" altLang="en-US" dirty="0"/>
              <a:t>入力パラメータ</a:t>
            </a:r>
            <a:endParaRPr kumimoji="1" lang="en-US" altLang="ja-JP" dirty="0"/>
          </a:p>
          <a:p>
            <a:r>
              <a:rPr kumimoji="1" lang="ja-JP" altLang="en-US" dirty="0"/>
              <a:t>個体数 </a:t>
            </a:r>
            <a:r>
              <a:rPr kumimoji="1" lang="en-US" altLang="ja-JP" dirty="0"/>
              <a:t>50</a:t>
            </a:r>
            <a:endParaRPr lang="en-US" altLang="ja-JP" dirty="0"/>
          </a:p>
          <a:p>
            <a:r>
              <a:rPr kumimoji="1" lang="ja-JP" altLang="en-US" dirty="0"/>
              <a:t>世代数 </a:t>
            </a:r>
            <a:r>
              <a:rPr kumimoji="1" lang="en-US" altLang="ja-JP" dirty="0"/>
              <a:t>100</a:t>
            </a:r>
          </a:p>
          <a:p>
            <a:r>
              <a:rPr kumimoji="1" lang="ja-JP" altLang="en-US" dirty="0"/>
              <a:t>ループ帯域幅 </a:t>
            </a:r>
            <a:r>
              <a:rPr kumimoji="1" lang="en-US" altLang="ja-JP" dirty="0"/>
              <a:t>0.1 ~ 5MHz</a:t>
            </a:r>
          </a:p>
          <a:p>
            <a:r>
              <a:rPr lang="ja-JP" altLang="en-US" dirty="0"/>
              <a:t>消費電力 </a:t>
            </a:r>
            <a:r>
              <a:rPr lang="en-US" altLang="ja-JP" dirty="0"/>
              <a:t>1 ~ 20mW</a:t>
            </a:r>
          </a:p>
          <a:p>
            <a:r>
              <a:rPr lang="en-US" altLang="ja-JP" dirty="0"/>
              <a:t>PD</a:t>
            </a:r>
            <a:r>
              <a:rPr lang="ja-JP" altLang="en-US" dirty="0"/>
              <a:t>、</a:t>
            </a:r>
            <a:r>
              <a:rPr lang="en-US" altLang="ja-JP" dirty="0"/>
              <a:t>CP</a:t>
            </a:r>
            <a:r>
              <a:rPr lang="ja-JP" altLang="en-US" dirty="0"/>
              <a:t>の消費電力 </a:t>
            </a:r>
            <a:r>
              <a:rPr lang="en-US" altLang="ja-JP" dirty="0"/>
              <a:t>1 ~ 10mW</a:t>
            </a:r>
          </a:p>
          <a:p>
            <a:endParaRPr kumimoji="1" lang="en-US" altLang="ja-JP" dirty="0"/>
          </a:p>
        </p:txBody>
      </p:sp>
      <p:sp>
        <p:nvSpPr>
          <p:cNvPr id="4" name="スライド番号プレースホルダー 3">
            <a:extLst>
              <a:ext uri="{FF2B5EF4-FFF2-40B4-BE49-F238E27FC236}">
                <a16:creationId xmlns:a16="http://schemas.microsoft.com/office/drawing/2014/main" id="{03A8F444-0EC1-54DB-B5FB-F2D2D656887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38868177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C062E-247A-50EC-F93F-6F7D9A40EDB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7167B65-1B44-7A83-9038-ECA8DF5B02FD}"/>
              </a:ext>
            </a:extLst>
          </p:cNvPr>
          <p:cNvSpPr>
            <a:spLocks noGrp="1"/>
          </p:cNvSpPr>
          <p:nvPr>
            <p:ph type="title"/>
          </p:nvPr>
        </p:nvSpPr>
        <p:spPr/>
        <p:txBody>
          <a:bodyPr/>
          <a:lstStyle/>
          <a:p>
            <a:r>
              <a:rPr lang="ja-JP" altLang="en-US" dirty="0"/>
              <a:t>実行の様子 </a:t>
            </a:r>
            <a:r>
              <a:rPr lang="en-US" altLang="ja-JP" dirty="0"/>
              <a:t>30</a:t>
            </a:r>
            <a:r>
              <a:rPr lang="ja-JP" altLang="en-US" dirty="0"/>
              <a:t>世代目</a:t>
            </a:r>
            <a:endParaRPr kumimoji="1" lang="ja-JP" altLang="en-US" dirty="0"/>
          </a:p>
        </p:txBody>
      </p:sp>
      <p:pic>
        <p:nvPicPr>
          <p:cNvPr id="6" name="コンテンツ プレースホルダー 5">
            <a:extLst>
              <a:ext uri="{FF2B5EF4-FFF2-40B4-BE49-F238E27FC236}">
                <a16:creationId xmlns:a16="http://schemas.microsoft.com/office/drawing/2014/main" id="{E5EE85CB-295A-6C6A-FB17-E84DC6B5351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95108" y="1825625"/>
            <a:ext cx="5801784" cy="4351338"/>
          </a:xfrm>
          <a:prstGeom prst="rect">
            <a:avLst/>
          </a:prstGeom>
        </p:spPr>
      </p:pic>
      <p:sp>
        <p:nvSpPr>
          <p:cNvPr id="4" name="スライド番号プレースホルダー 3">
            <a:extLst>
              <a:ext uri="{FF2B5EF4-FFF2-40B4-BE49-F238E27FC236}">
                <a16:creationId xmlns:a16="http://schemas.microsoft.com/office/drawing/2014/main" id="{57E8BB89-7E6D-5E12-2452-B6DBB7943EE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1723779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033F8-953F-EADE-EE04-D84E88982A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05EF81D-866C-71B3-8983-34FF9CE889F4}"/>
              </a:ext>
            </a:extLst>
          </p:cNvPr>
          <p:cNvSpPr>
            <a:spLocks noGrp="1"/>
          </p:cNvSpPr>
          <p:nvPr>
            <p:ph type="title"/>
          </p:nvPr>
        </p:nvSpPr>
        <p:spPr/>
        <p:txBody>
          <a:bodyPr/>
          <a:lstStyle/>
          <a:p>
            <a:r>
              <a:rPr lang="ja-JP" altLang="en-US" dirty="0"/>
              <a:t>実行の様子 </a:t>
            </a:r>
            <a:r>
              <a:rPr lang="en-US" altLang="ja-JP" dirty="0"/>
              <a:t>60</a:t>
            </a:r>
            <a:r>
              <a:rPr lang="ja-JP" altLang="en-US" dirty="0"/>
              <a:t>世代目</a:t>
            </a:r>
            <a:endParaRPr kumimoji="1" lang="ja-JP" altLang="en-US" dirty="0"/>
          </a:p>
        </p:txBody>
      </p:sp>
      <p:pic>
        <p:nvPicPr>
          <p:cNvPr id="6" name="コンテンツ プレースホルダー 5">
            <a:extLst>
              <a:ext uri="{FF2B5EF4-FFF2-40B4-BE49-F238E27FC236}">
                <a16:creationId xmlns:a16="http://schemas.microsoft.com/office/drawing/2014/main" id="{DF089AEC-D173-7488-E06E-8B304907755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3195108" y="1825625"/>
            <a:ext cx="5801784" cy="4351338"/>
          </a:xfrm>
          <a:prstGeom prst="rect">
            <a:avLst/>
          </a:prstGeom>
        </p:spPr>
      </p:pic>
      <p:sp>
        <p:nvSpPr>
          <p:cNvPr id="4" name="スライド番号プレースホルダー 3">
            <a:extLst>
              <a:ext uri="{FF2B5EF4-FFF2-40B4-BE49-F238E27FC236}">
                <a16:creationId xmlns:a16="http://schemas.microsoft.com/office/drawing/2014/main" id="{52D5B68D-8CCD-BA3C-3C56-AA815F6CBE9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24780890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84704-165B-9024-06FE-A814CB7D76E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9D98092-FC54-3ABF-CAAA-EE272492FF60}"/>
              </a:ext>
            </a:extLst>
          </p:cNvPr>
          <p:cNvSpPr>
            <a:spLocks noGrp="1"/>
          </p:cNvSpPr>
          <p:nvPr>
            <p:ph type="title"/>
          </p:nvPr>
        </p:nvSpPr>
        <p:spPr/>
        <p:txBody>
          <a:bodyPr/>
          <a:lstStyle/>
          <a:p>
            <a:r>
              <a:rPr lang="ja-JP" altLang="en-US" dirty="0"/>
              <a:t>実行の様子 </a:t>
            </a:r>
            <a:r>
              <a:rPr lang="en-US" altLang="ja-JP" dirty="0"/>
              <a:t>90</a:t>
            </a:r>
            <a:r>
              <a:rPr lang="ja-JP" altLang="en-US" dirty="0"/>
              <a:t>世代目</a:t>
            </a:r>
            <a:endParaRPr kumimoji="1" lang="ja-JP" altLang="en-US" dirty="0"/>
          </a:p>
        </p:txBody>
      </p:sp>
      <p:pic>
        <p:nvPicPr>
          <p:cNvPr id="6" name="コンテンツ プレースホルダー 5">
            <a:extLst>
              <a:ext uri="{FF2B5EF4-FFF2-40B4-BE49-F238E27FC236}">
                <a16:creationId xmlns:a16="http://schemas.microsoft.com/office/drawing/2014/main" id="{5AE87FE0-9342-8081-4AF0-AEB1E513654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3195108" y="1825625"/>
            <a:ext cx="5801784" cy="4351338"/>
          </a:xfrm>
          <a:prstGeom prst="rect">
            <a:avLst/>
          </a:prstGeom>
        </p:spPr>
      </p:pic>
      <p:sp>
        <p:nvSpPr>
          <p:cNvPr id="4" name="スライド番号プレースホルダー 3">
            <a:extLst>
              <a:ext uri="{FF2B5EF4-FFF2-40B4-BE49-F238E27FC236}">
                <a16:creationId xmlns:a16="http://schemas.microsoft.com/office/drawing/2014/main" id="{23D7A8A9-2075-957E-EF9E-26639F6E1B8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8263529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88513-7EF6-AC74-80E4-274AE4A4CDF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82015C-A3D6-548B-C79F-EA2F1DF912B1}"/>
              </a:ext>
            </a:extLst>
          </p:cNvPr>
          <p:cNvSpPr>
            <a:spLocks noGrp="1"/>
          </p:cNvSpPr>
          <p:nvPr>
            <p:ph type="title"/>
          </p:nvPr>
        </p:nvSpPr>
        <p:spPr/>
        <p:txBody>
          <a:bodyPr/>
          <a:lstStyle/>
          <a:p>
            <a:r>
              <a:rPr lang="ja-JP" altLang="en-US" dirty="0"/>
              <a:t>実行の様子 </a:t>
            </a:r>
            <a:r>
              <a:rPr lang="en-US" altLang="ja-JP" dirty="0"/>
              <a:t>100</a:t>
            </a:r>
            <a:r>
              <a:rPr lang="ja-JP" altLang="en-US" dirty="0"/>
              <a:t>世代目</a:t>
            </a:r>
            <a:r>
              <a:rPr lang="en-US" altLang="ja-JP" dirty="0"/>
              <a:t>(</a:t>
            </a:r>
            <a:r>
              <a:rPr lang="ja-JP" altLang="en-US" dirty="0"/>
              <a:t>終了</a:t>
            </a:r>
            <a:r>
              <a:rPr lang="en-US" altLang="ja-JP" dirty="0"/>
              <a:t>)</a:t>
            </a:r>
            <a:endParaRPr kumimoji="1" lang="ja-JP" altLang="en-US" dirty="0"/>
          </a:p>
        </p:txBody>
      </p:sp>
      <p:pic>
        <p:nvPicPr>
          <p:cNvPr id="6" name="コンテンツ プレースホルダー 5">
            <a:extLst>
              <a:ext uri="{FF2B5EF4-FFF2-40B4-BE49-F238E27FC236}">
                <a16:creationId xmlns:a16="http://schemas.microsoft.com/office/drawing/2014/main" id="{1E5EC716-5FED-3F67-5C77-9C9FB003324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3195108" y="1825625"/>
            <a:ext cx="5801784" cy="4351338"/>
          </a:xfrm>
          <a:prstGeom prst="rect">
            <a:avLst/>
          </a:prstGeom>
        </p:spPr>
      </p:pic>
      <p:sp>
        <p:nvSpPr>
          <p:cNvPr id="4" name="スライド番号プレースホルダー 3">
            <a:extLst>
              <a:ext uri="{FF2B5EF4-FFF2-40B4-BE49-F238E27FC236}">
                <a16:creationId xmlns:a16="http://schemas.microsoft.com/office/drawing/2014/main" id="{B344026B-41C5-B790-E243-0493FF46572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19919923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D581E-2819-AD7E-2FA0-7ED69DCC64A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97EE119-760F-C968-27CF-AB0FB609FD40}"/>
              </a:ext>
            </a:extLst>
          </p:cNvPr>
          <p:cNvSpPr>
            <a:spLocks noGrp="1"/>
          </p:cNvSpPr>
          <p:nvPr>
            <p:ph type="title"/>
          </p:nvPr>
        </p:nvSpPr>
        <p:spPr/>
        <p:txBody>
          <a:bodyPr/>
          <a:lstStyle/>
          <a:p>
            <a:r>
              <a:rPr lang="ja-JP" altLang="en-US" dirty="0"/>
              <a:t>やったこと</a:t>
            </a:r>
            <a:endParaRPr kumimoji="1" lang="ja-JP" altLang="en-US" dirty="0"/>
          </a:p>
        </p:txBody>
      </p:sp>
      <p:sp>
        <p:nvSpPr>
          <p:cNvPr id="3" name="コンテンツ プレースホルダー 2">
            <a:extLst>
              <a:ext uri="{FF2B5EF4-FFF2-40B4-BE49-F238E27FC236}">
                <a16:creationId xmlns:a16="http://schemas.microsoft.com/office/drawing/2014/main" id="{96AB5B00-B703-5149-4F9E-DE3F4D0E431F}"/>
              </a:ext>
            </a:extLst>
          </p:cNvPr>
          <p:cNvSpPr>
            <a:spLocks noGrp="1"/>
          </p:cNvSpPr>
          <p:nvPr>
            <p:ph idx="1"/>
          </p:nvPr>
        </p:nvSpPr>
        <p:spPr/>
        <p:txBody>
          <a:bodyPr/>
          <a:lstStyle/>
          <a:p>
            <a:r>
              <a:rPr kumimoji="1" lang="ja-JP" altLang="en-US" dirty="0"/>
              <a:t>綺麗なトレードオフの関係</a:t>
            </a:r>
            <a:endParaRPr kumimoji="1" lang="en-US" altLang="ja-JP" dirty="0"/>
          </a:p>
          <a:p>
            <a:endParaRPr lang="en-US" altLang="ja-JP" dirty="0"/>
          </a:p>
          <a:p>
            <a:r>
              <a:rPr kumimoji="1" lang="ja-JP" altLang="en-US" dirty="0"/>
              <a:t>消費電力</a:t>
            </a:r>
            <a:r>
              <a:rPr kumimoji="1" lang="en-US" altLang="ja-JP" dirty="0"/>
              <a:t>5mW</a:t>
            </a:r>
            <a:r>
              <a:rPr kumimoji="1" lang="ja-JP" altLang="en-US" dirty="0"/>
              <a:t>、ジッター</a:t>
            </a:r>
            <a:r>
              <a:rPr kumimoji="1" lang="en-US" altLang="ja-JP" dirty="0"/>
              <a:t>250fs</a:t>
            </a:r>
            <a:r>
              <a:rPr kumimoji="1" lang="ja-JP" altLang="en-US" dirty="0"/>
              <a:t>程度が最も効率良さそう</a:t>
            </a:r>
            <a:endParaRPr kumimoji="1" lang="en-US" altLang="ja-JP" dirty="0"/>
          </a:p>
          <a:p>
            <a:endParaRPr lang="en-US" altLang="ja-JP" dirty="0"/>
          </a:p>
          <a:p>
            <a:r>
              <a:rPr kumimoji="1" lang="ja-JP" altLang="en-US" dirty="0"/>
              <a:t>今回の個体数、世代数では少し最終結果にブレが生じた</a:t>
            </a:r>
            <a:endParaRPr lang="en-US" altLang="ja-JP" dirty="0"/>
          </a:p>
          <a:p>
            <a:r>
              <a:rPr lang="ja-JP" altLang="en-US" dirty="0"/>
              <a:t>だが、増やしても大きな変化は見られない</a:t>
            </a:r>
            <a:endParaRPr kumimoji="1" lang="en-US" altLang="ja-JP" dirty="0"/>
          </a:p>
        </p:txBody>
      </p:sp>
      <p:sp>
        <p:nvSpPr>
          <p:cNvPr id="4" name="スライド番号プレースホルダー 3">
            <a:extLst>
              <a:ext uri="{FF2B5EF4-FFF2-40B4-BE49-F238E27FC236}">
                <a16:creationId xmlns:a16="http://schemas.microsoft.com/office/drawing/2014/main" id="{6E811791-F647-861F-C646-8E4678CC5E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11618220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11C60-485A-72E8-8F7B-289C009738E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D70CA10-6C6A-388F-B1E3-CB9F52D13774}"/>
              </a:ext>
            </a:extLst>
          </p:cNvPr>
          <p:cNvSpPr>
            <a:spLocks noGrp="1"/>
          </p:cNvSpPr>
          <p:nvPr>
            <p:ph type="title"/>
          </p:nvPr>
        </p:nvSpPr>
        <p:spPr/>
        <p:txBody>
          <a:bodyPr/>
          <a:lstStyle/>
          <a:p>
            <a:r>
              <a:rPr lang="ja-JP" altLang="en-US" dirty="0"/>
              <a:t>別の回の様子 </a:t>
            </a:r>
            <a:r>
              <a:rPr lang="en-US" altLang="ja-JP" dirty="0"/>
              <a:t>100</a:t>
            </a:r>
            <a:r>
              <a:rPr lang="ja-JP" altLang="en-US" dirty="0"/>
              <a:t>世代目</a:t>
            </a:r>
            <a:r>
              <a:rPr lang="en-US" altLang="ja-JP" dirty="0"/>
              <a:t>(</a:t>
            </a:r>
            <a:r>
              <a:rPr lang="ja-JP" altLang="en-US" dirty="0"/>
              <a:t>終了</a:t>
            </a:r>
            <a:r>
              <a:rPr lang="en-US" altLang="ja-JP" dirty="0"/>
              <a:t>)</a:t>
            </a:r>
            <a:endParaRPr kumimoji="1" lang="ja-JP" altLang="en-US" dirty="0"/>
          </a:p>
        </p:txBody>
      </p:sp>
      <p:pic>
        <p:nvPicPr>
          <p:cNvPr id="6" name="コンテンツ プレースホルダー 5">
            <a:extLst>
              <a:ext uri="{FF2B5EF4-FFF2-40B4-BE49-F238E27FC236}">
                <a16:creationId xmlns:a16="http://schemas.microsoft.com/office/drawing/2014/main" id="{F31D5074-EB01-52EC-0C96-82F43DFD25E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3195108" y="1829621"/>
            <a:ext cx="5801784" cy="4351338"/>
          </a:xfrm>
          <a:prstGeom prst="rect">
            <a:avLst/>
          </a:prstGeom>
        </p:spPr>
      </p:pic>
      <p:sp>
        <p:nvSpPr>
          <p:cNvPr id="4" name="スライド番号プレースホルダー 3">
            <a:extLst>
              <a:ext uri="{FF2B5EF4-FFF2-40B4-BE49-F238E27FC236}">
                <a16:creationId xmlns:a16="http://schemas.microsoft.com/office/drawing/2014/main" id="{8D6DC575-0752-643A-9B49-BC3243AF4ED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3986304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E403C-4987-10A5-213E-84DCF220A53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1EDC1D1-D417-2F22-C042-191D7C92E02E}"/>
              </a:ext>
            </a:extLst>
          </p:cNvPr>
          <p:cNvSpPr>
            <a:spLocks noGrp="1"/>
          </p:cNvSpPr>
          <p:nvPr>
            <p:ph type="title"/>
          </p:nvPr>
        </p:nvSpPr>
        <p:spPr/>
        <p:txBody>
          <a:bodyPr/>
          <a:lstStyle/>
          <a:p>
            <a:r>
              <a:rPr lang="ja-JP" altLang="en-US" dirty="0"/>
              <a:t>個体数</a:t>
            </a:r>
            <a:r>
              <a:rPr lang="en-US" altLang="ja-JP" dirty="0"/>
              <a:t>500</a:t>
            </a:r>
            <a:r>
              <a:rPr lang="ja-JP" altLang="en-US" dirty="0"/>
              <a:t>の結果 </a:t>
            </a:r>
            <a:r>
              <a:rPr lang="en-US" altLang="ja-JP" dirty="0"/>
              <a:t>100</a:t>
            </a:r>
            <a:r>
              <a:rPr lang="ja-JP" altLang="en-US" dirty="0"/>
              <a:t>世代目</a:t>
            </a:r>
            <a:r>
              <a:rPr lang="en-US" altLang="ja-JP" dirty="0"/>
              <a:t>(</a:t>
            </a:r>
            <a:r>
              <a:rPr lang="ja-JP" altLang="en-US" dirty="0"/>
              <a:t>終了</a:t>
            </a:r>
            <a:r>
              <a:rPr lang="en-US" altLang="ja-JP" dirty="0"/>
              <a:t>)</a:t>
            </a:r>
            <a:endParaRPr kumimoji="1" lang="ja-JP" altLang="en-US" dirty="0"/>
          </a:p>
        </p:txBody>
      </p:sp>
      <p:pic>
        <p:nvPicPr>
          <p:cNvPr id="6" name="コンテンツ プレースホルダー 5">
            <a:extLst>
              <a:ext uri="{FF2B5EF4-FFF2-40B4-BE49-F238E27FC236}">
                <a16:creationId xmlns:a16="http://schemas.microsoft.com/office/drawing/2014/main" id="{85984CC7-8174-1A27-169E-CCCAE69EDC6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3195108" y="1829621"/>
            <a:ext cx="5801784" cy="4351338"/>
          </a:xfrm>
          <a:prstGeom prst="rect">
            <a:avLst/>
          </a:prstGeom>
        </p:spPr>
      </p:pic>
      <p:sp>
        <p:nvSpPr>
          <p:cNvPr id="4" name="スライド番号プレースホルダー 3">
            <a:extLst>
              <a:ext uri="{FF2B5EF4-FFF2-40B4-BE49-F238E27FC236}">
                <a16:creationId xmlns:a16="http://schemas.microsoft.com/office/drawing/2014/main" id="{E0A5C3A1-60FD-AD89-4019-10EF37B9885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42365592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53F35-B129-6133-35B3-6611DA9CE1D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7D67E-5386-1966-A862-9A31BD9C4C86}"/>
              </a:ext>
            </a:extLst>
          </p:cNvPr>
          <p:cNvSpPr>
            <a:spLocks noGrp="1"/>
          </p:cNvSpPr>
          <p:nvPr>
            <p:ph type="ctrTitle"/>
          </p:nvPr>
        </p:nvSpPr>
        <p:spPr/>
        <p:txBody>
          <a:bodyPr/>
          <a:lstStyle/>
          <a:p>
            <a:r>
              <a:rPr lang="ja-JP" altLang="en-US" dirty="0">
                <a:solidFill>
                  <a:schemeClr val="tx1"/>
                </a:solidFill>
              </a:rPr>
              <a:t>進捗報告 </a:t>
            </a:r>
            <a:r>
              <a:rPr lang="en-US" altLang="ja-JP" dirty="0">
                <a:solidFill>
                  <a:schemeClr val="tx1"/>
                </a:solidFill>
              </a:rPr>
              <a:t>05/14</a:t>
            </a:r>
            <a:endParaRPr kumimoji="1" lang="ja-JP" altLang="en-US" dirty="0">
              <a:solidFill>
                <a:schemeClr val="tx1"/>
              </a:solidFill>
            </a:endParaRPr>
          </a:p>
        </p:txBody>
      </p:sp>
      <p:sp>
        <p:nvSpPr>
          <p:cNvPr id="3" name="字幕 2">
            <a:extLst>
              <a:ext uri="{FF2B5EF4-FFF2-40B4-BE49-F238E27FC236}">
                <a16:creationId xmlns:a16="http://schemas.microsoft.com/office/drawing/2014/main" id="{F4C57002-D378-813B-7729-0CB665EAEF95}"/>
              </a:ext>
            </a:extLst>
          </p:cNvPr>
          <p:cNvSpPr>
            <a:spLocks noGrp="1"/>
          </p:cNvSpPr>
          <p:nvPr>
            <p:ph type="subTitle" idx="1"/>
          </p:nvPr>
        </p:nvSpPr>
        <p:spPr/>
        <p:txBody>
          <a:bodyPr/>
          <a:lstStyle/>
          <a:p>
            <a:r>
              <a:rPr lang="en-US" altLang="ja-JP" dirty="0"/>
              <a:t>B4</a:t>
            </a:r>
            <a:r>
              <a:rPr lang="ja-JP" altLang="en-US" dirty="0"/>
              <a:t>　福島幸弥</a:t>
            </a:r>
            <a:endParaRPr kumimoji="1" lang="ja-JP" altLang="en-US" dirty="0"/>
          </a:p>
        </p:txBody>
      </p:sp>
    </p:spTree>
    <p:extLst>
      <p:ext uri="{BB962C8B-B14F-4D97-AF65-F5344CB8AC3E}">
        <p14:creationId xmlns:p14="http://schemas.microsoft.com/office/powerpoint/2010/main" val="28784382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760BB-4C5F-297F-46E0-0346F4072B4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CA4BE64-39D3-25F9-D684-3F18B70459DA}"/>
              </a:ext>
            </a:extLst>
          </p:cNvPr>
          <p:cNvSpPr>
            <a:spLocks noGrp="1"/>
          </p:cNvSpPr>
          <p:nvPr>
            <p:ph type="title"/>
          </p:nvPr>
        </p:nvSpPr>
        <p:spPr/>
        <p:txBody>
          <a:bodyPr/>
          <a:lstStyle/>
          <a:p>
            <a:r>
              <a:rPr lang="ja-JP" altLang="en-US" dirty="0"/>
              <a:t>やったこと</a:t>
            </a:r>
            <a:endParaRPr kumimoji="1" lang="ja-JP" altLang="en-US" dirty="0"/>
          </a:p>
        </p:txBody>
      </p:sp>
      <p:sp>
        <p:nvSpPr>
          <p:cNvPr id="3" name="コンテンツ プレースホルダー 2">
            <a:extLst>
              <a:ext uri="{FF2B5EF4-FFF2-40B4-BE49-F238E27FC236}">
                <a16:creationId xmlns:a16="http://schemas.microsoft.com/office/drawing/2014/main" id="{95611253-6A2D-98DE-D3D2-6EA54F1761E1}"/>
              </a:ext>
            </a:extLst>
          </p:cNvPr>
          <p:cNvSpPr>
            <a:spLocks noGrp="1"/>
          </p:cNvSpPr>
          <p:nvPr>
            <p:ph idx="1"/>
          </p:nvPr>
        </p:nvSpPr>
        <p:spPr/>
        <p:txBody>
          <a:bodyPr/>
          <a:lstStyle/>
          <a:p>
            <a:r>
              <a:rPr lang="ja-JP" altLang="en-US" dirty="0"/>
              <a:t>朱さんの最適化プログラムを動かしてみる</a:t>
            </a:r>
            <a:endParaRPr lang="en-US" altLang="ja-JP" dirty="0"/>
          </a:p>
          <a:p>
            <a:endParaRPr lang="en-US" altLang="ja-JP" dirty="0"/>
          </a:p>
          <a:p>
            <a:r>
              <a:rPr lang="en-US" altLang="ja-JP" dirty="0"/>
              <a:t>Optimization of DTC-Based and Harmonic-Mixer-Based Fractional-N PLLs: Comparative Analysis of Jitter and Power Trade-Offs(Yuyang Zhu et al. 2025)</a:t>
            </a:r>
            <a:r>
              <a:rPr lang="ja-JP" altLang="en-US" dirty="0"/>
              <a:t> の</a:t>
            </a:r>
            <a:r>
              <a:rPr lang="en-US" altLang="ja-JP" dirty="0"/>
              <a:t>Fig 5</a:t>
            </a:r>
            <a:r>
              <a:rPr lang="ja-JP" altLang="en-US" dirty="0"/>
              <a:t>を再現してみる</a:t>
            </a:r>
            <a:endParaRPr lang="en-US" altLang="ja-JP" dirty="0"/>
          </a:p>
          <a:p>
            <a:endParaRPr lang="en-US" altLang="ja-JP" dirty="0"/>
          </a:p>
          <a:p>
            <a:endParaRPr lang="en-US" altLang="ja-JP" dirty="0"/>
          </a:p>
          <a:p>
            <a:endParaRPr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4065EBE1-8098-0EEB-BB9A-C9551377AFC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19689621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90B9BCA-663E-77F6-340E-72649C9C5C63}"/>
              </a:ext>
            </a:extLst>
          </p:cNvPr>
          <p:cNvSpPr>
            <a:spLocks noGrp="1"/>
          </p:cNvSpPr>
          <p:nvPr>
            <p:ph type="title"/>
          </p:nvPr>
        </p:nvSpPr>
        <p:spPr/>
        <p:txBody>
          <a:bodyPr/>
          <a:lstStyle/>
          <a:p>
            <a:r>
              <a:rPr kumimoji="1" lang="ja-JP" altLang="en-US" dirty="0"/>
              <a:t>出力したグラフ</a:t>
            </a:r>
          </a:p>
        </p:txBody>
      </p:sp>
      <p:sp>
        <p:nvSpPr>
          <p:cNvPr id="3" name="コンテンツ プレースホルダー 2">
            <a:extLst>
              <a:ext uri="{FF2B5EF4-FFF2-40B4-BE49-F238E27FC236}">
                <a16:creationId xmlns:a16="http://schemas.microsoft.com/office/drawing/2014/main" id="{86167FB6-EEC4-8973-43E5-792C9CE6B7FD}"/>
              </a:ext>
            </a:extLst>
          </p:cNvPr>
          <p:cNvSpPr>
            <a:spLocks noGrp="1"/>
          </p:cNvSpPr>
          <p:nvPr>
            <p:ph idx="1"/>
          </p:nvPr>
        </p:nvSpPr>
        <p:spPr/>
        <p:txBody>
          <a:bodyPr/>
          <a:lstStyle/>
          <a:p>
            <a:r>
              <a:rPr kumimoji="1" lang="ja-JP" altLang="en-US" dirty="0"/>
              <a:t>頂いたプログラムの出力</a:t>
            </a:r>
            <a:br>
              <a:rPr kumimoji="1" lang="en-US" altLang="ja-JP" dirty="0"/>
            </a:br>
            <a:r>
              <a:rPr kumimoji="1" lang="en-US" altLang="ja-JP" dirty="0"/>
              <a:t>(solution.txt)</a:t>
            </a:r>
            <a:r>
              <a:rPr kumimoji="1" lang="ja-JP" altLang="en-US" dirty="0"/>
              <a:t>から作成</a:t>
            </a:r>
            <a:endParaRPr kumimoji="1" lang="en-US" altLang="ja-JP" dirty="0"/>
          </a:p>
          <a:p>
            <a:endParaRPr lang="en-US" altLang="ja-JP" dirty="0"/>
          </a:p>
          <a:p>
            <a:r>
              <a:rPr lang="en-US" altLang="ja-JP" dirty="0" err="1"/>
              <a:t>e</a:t>
            </a:r>
            <a:r>
              <a:rPr kumimoji="1" lang="en-US" altLang="ja-JP" dirty="0" err="1"/>
              <a:t>valuate_objective.m</a:t>
            </a:r>
            <a:r>
              <a:rPr kumimoji="1" lang="ja-JP" altLang="en-US" dirty="0"/>
              <a:t>が</a:t>
            </a:r>
            <a:r>
              <a:rPr kumimoji="1" lang="en-US" altLang="ja-JP" dirty="0"/>
              <a:t>2</a:t>
            </a:r>
            <a:r>
              <a:rPr kumimoji="1" lang="ja-JP" altLang="en-US" dirty="0"/>
              <a:t>種類</a:t>
            </a:r>
            <a:br>
              <a:rPr kumimoji="1" lang="en-US" altLang="ja-JP" dirty="0"/>
            </a:br>
            <a:r>
              <a:rPr kumimoji="1" lang="ja-JP" altLang="en-US" dirty="0"/>
              <a:t>あったため、その</a:t>
            </a:r>
            <a:r>
              <a:rPr kumimoji="1" lang="en-US" altLang="ja-JP" dirty="0"/>
              <a:t>2</a:t>
            </a:r>
            <a:r>
              <a:rPr lang="ja-JP" altLang="en-US" dirty="0"/>
              <a:t>種を用いた</a:t>
            </a:r>
            <a:endParaRPr lang="en-US" altLang="ja-JP" dirty="0"/>
          </a:p>
          <a:p>
            <a:endParaRPr lang="en-US" altLang="ja-JP" dirty="0"/>
          </a:p>
          <a:p>
            <a:r>
              <a:rPr lang="ja-JP" altLang="en-US" dirty="0"/>
              <a:t>中身はよくわかっていない</a:t>
            </a:r>
            <a:endParaRPr lang="en-US" altLang="ja-JP" dirty="0"/>
          </a:p>
        </p:txBody>
      </p:sp>
      <p:sp>
        <p:nvSpPr>
          <p:cNvPr id="4" name="スライド番号プレースホルダー 3">
            <a:extLst>
              <a:ext uri="{FF2B5EF4-FFF2-40B4-BE49-F238E27FC236}">
                <a16:creationId xmlns:a16="http://schemas.microsoft.com/office/drawing/2014/main" id="{80566065-65D2-476F-8687-646A3CC29BD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pic>
        <p:nvPicPr>
          <p:cNvPr id="11" name="図 10">
            <a:extLst>
              <a:ext uri="{FF2B5EF4-FFF2-40B4-BE49-F238E27FC236}">
                <a16:creationId xmlns:a16="http://schemas.microsoft.com/office/drawing/2014/main" id="{A4A3DA0A-1C92-033C-F5DB-A0EEB185A4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5183" y="1644025"/>
            <a:ext cx="5562602" cy="4171952"/>
          </a:xfrm>
          <a:prstGeom prst="rect">
            <a:avLst/>
          </a:prstGeom>
        </p:spPr>
      </p:pic>
    </p:spTree>
    <p:extLst>
      <p:ext uri="{BB962C8B-B14F-4D97-AF65-F5344CB8AC3E}">
        <p14:creationId xmlns:p14="http://schemas.microsoft.com/office/powerpoint/2010/main" val="25150851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98E5C-9410-87F3-B1B3-AE9D0B1D915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01B8C28-BE72-EC5E-53BE-A85DFF963B80}"/>
              </a:ext>
            </a:extLst>
          </p:cNvPr>
          <p:cNvSpPr>
            <a:spLocks noGrp="1"/>
          </p:cNvSpPr>
          <p:nvPr>
            <p:ph type="title"/>
          </p:nvPr>
        </p:nvSpPr>
        <p:spPr/>
        <p:txBody>
          <a:bodyPr/>
          <a:lstStyle/>
          <a:p>
            <a:r>
              <a:rPr kumimoji="1" lang="ja-JP" altLang="en-US" dirty="0"/>
              <a:t>出力したグラフ</a:t>
            </a:r>
          </a:p>
        </p:txBody>
      </p:sp>
      <p:sp>
        <p:nvSpPr>
          <p:cNvPr id="3" name="コンテンツ プレースホルダー 2">
            <a:extLst>
              <a:ext uri="{FF2B5EF4-FFF2-40B4-BE49-F238E27FC236}">
                <a16:creationId xmlns:a16="http://schemas.microsoft.com/office/drawing/2014/main" id="{88BE23C3-3261-4CE6-450F-C9148B77B58C}"/>
              </a:ext>
            </a:extLst>
          </p:cNvPr>
          <p:cNvSpPr>
            <a:spLocks noGrp="1"/>
          </p:cNvSpPr>
          <p:nvPr>
            <p:ph idx="1"/>
          </p:nvPr>
        </p:nvSpPr>
        <p:spPr/>
        <p:txBody>
          <a:bodyPr/>
          <a:lstStyle/>
          <a:p>
            <a:r>
              <a:rPr lang="en-US" altLang="ja-JP" dirty="0" err="1"/>
              <a:t>e</a:t>
            </a:r>
            <a:r>
              <a:rPr kumimoji="1" lang="en-US" altLang="ja-JP" dirty="0" err="1"/>
              <a:t>valuate_objective.m</a:t>
            </a:r>
            <a:r>
              <a:rPr kumimoji="1" lang="ja-JP" altLang="en-US" dirty="0"/>
              <a:t>の中身や書き方さえ分かれば、</a:t>
            </a:r>
            <a:br>
              <a:rPr lang="en-US" altLang="ja-JP" dirty="0"/>
            </a:br>
            <a:r>
              <a:rPr kumimoji="1" lang="en-US" altLang="ja-JP" dirty="0"/>
              <a:t>Fig 5</a:t>
            </a:r>
            <a:r>
              <a:rPr kumimoji="1" lang="ja-JP" altLang="en-US" dirty="0"/>
              <a:t>の再現は恐らく可能</a:t>
            </a:r>
            <a:endParaRPr kumimoji="1" lang="en-US" altLang="ja-JP" dirty="0"/>
          </a:p>
          <a:p>
            <a:endParaRPr lang="en-US" altLang="ja-JP" dirty="0"/>
          </a:p>
          <a:p>
            <a:r>
              <a:rPr lang="ja-JP" altLang="en-US" dirty="0"/>
              <a:t>用いたパラメータは適当に決定</a:t>
            </a:r>
            <a:br>
              <a:rPr lang="en-US" altLang="ja-JP" dirty="0"/>
            </a:br>
            <a:r>
              <a:rPr lang="en-US" altLang="ja-JP" dirty="0"/>
              <a:t>(100</a:t>
            </a:r>
            <a:r>
              <a:rPr lang="ja-JP" altLang="en-US" dirty="0"/>
              <a:t>個体、</a:t>
            </a:r>
            <a:r>
              <a:rPr lang="en-US" altLang="ja-JP" dirty="0"/>
              <a:t>200</a:t>
            </a:r>
            <a:r>
              <a:rPr lang="ja-JP" altLang="en-US" dirty="0"/>
              <a:t>世代</a:t>
            </a:r>
            <a:br>
              <a:rPr lang="en-US" altLang="ja-JP" dirty="0"/>
            </a:br>
            <a:r>
              <a:rPr lang="ja-JP" altLang="en-US" dirty="0"/>
              <a:t>ループ帯域幅 </a:t>
            </a:r>
            <a:r>
              <a:rPr lang="en-US" altLang="ja-JP" dirty="0"/>
              <a:t>10kHz ~ 10MHz</a:t>
            </a:r>
            <a:br>
              <a:rPr lang="en-US" altLang="ja-JP" dirty="0"/>
            </a:br>
            <a:r>
              <a:rPr lang="ja-JP" altLang="en-US" dirty="0"/>
              <a:t>消費電力 </a:t>
            </a:r>
            <a:r>
              <a:rPr lang="en-US" altLang="ja-JP" dirty="0"/>
              <a:t>1mW ~ 30mW</a:t>
            </a:r>
            <a:br>
              <a:rPr lang="en-US" altLang="ja-JP"/>
            </a:br>
            <a:r>
              <a:rPr lang="en-US" altLang="ja-JP"/>
              <a:t>PD</a:t>
            </a:r>
            <a:r>
              <a:rPr lang="ja-JP" altLang="en-US"/>
              <a:t>消費</a:t>
            </a:r>
            <a:r>
              <a:rPr lang="ja-JP" altLang="en-US" dirty="0"/>
              <a:t>電力 </a:t>
            </a:r>
            <a:r>
              <a:rPr lang="en-US" altLang="ja-JP" dirty="0"/>
              <a:t>0.1mW ~ 10mW)</a:t>
            </a:r>
          </a:p>
        </p:txBody>
      </p:sp>
      <p:sp>
        <p:nvSpPr>
          <p:cNvPr id="4" name="スライド番号プレースホルダー 3">
            <a:extLst>
              <a:ext uri="{FF2B5EF4-FFF2-40B4-BE49-F238E27FC236}">
                <a16:creationId xmlns:a16="http://schemas.microsoft.com/office/drawing/2014/main" id="{3756313F-E2BE-350A-7CD5-073CA1BB62D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18334431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BE1D8-32AB-FA86-9913-3E738278244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26804F9-766B-0F82-CBD9-E882D15498C8}"/>
              </a:ext>
            </a:extLst>
          </p:cNvPr>
          <p:cNvSpPr>
            <a:spLocks noGrp="1"/>
          </p:cNvSpPr>
          <p:nvPr>
            <p:ph type="title"/>
          </p:nvPr>
        </p:nvSpPr>
        <p:spPr/>
        <p:txBody>
          <a:bodyPr/>
          <a:lstStyle/>
          <a:p>
            <a:r>
              <a:rPr lang="ja-JP" altLang="en-US" dirty="0"/>
              <a:t>やったこと</a:t>
            </a:r>
            <a:endParaRPr kumimoji="1" lang="ja-JP" altLang="en-US" dirty="0"/>
          </a:p>
        </p:txBody>
      </p:sp>
      <p:sp>
        <p:nvSpPr>
          <p:cNvPr id="3" name="コンテンツ プレースホルダー 2">
            <a:extLst>
              <a:ext uri="{FF2B5EF4-FFF2-40B4-BE49-F238E27FC236}">
                <a16:creationId xmlns:a16="http://schemas.microsoft.com/office/drawing/2014/main" id="{A2FDA8EF-08D6-0465-2536-C2DD1ACFFDAD}"/>
              </a:ext>
            </a:extLst>
          </p:cNvPr>
          <p:cNvSpPr>
            <a:spLocks noGrp="1"/>
          </p:cNvSpPr>
          <p:nvPr>
            <p:ph idx="1"/>
          </p:nvPr>
        </p:nvSpPr>
        <p:spPr/>
        <p:txBody>
          <a:bodyPr/>
          <a:lstStyle/>
          <a:p>
            <a:r>
              <a:rPr lang="en-US" altLang="ja-JP" dirty="0"/>
              <a:t>Optimization of DTC-Based and Harmonic-Mixer-Based Fractional-N PLLs: Comparative Analysis of Jitter and Power Trade-Offs(Yuyang Zhu et al. 2025)</a:t>
            </a:r>
            <a:r>
              <a:rPr lang="ja-JP" altLang="en-US" dirty="0"/>
              <a:t> のまとめ</a:t>
            </a:r>
            <a:endParaRPr lang="en-US" altLang="ja-JP" dirty="0"/>
          </a:p>
          <a:p>
            <a:endParaRPr lang="en-US" altLang="ja-JP" dirty="0"/>
          </a:p>
          <a:p>
            <a:r>
              <a:rPr lang="ja-JP" altLang="en-US" dirty="0"/>
              <a:t>図は全て同論文からの引用</a:t>
            </a:r>
            <a:r>
              <a:rPr lang="en-US" altLang="ja-JP" dirty="0"/>
              <a:t>(</a:t>
            </a:r>
            <a:r>
              <a:rPr lang="ja-JP" altLang="en-US" dirty="0"/>
              <a:t>図表番号は画像内</a:t>
            </a:r>
            <a:r>
              <a:rPr lang="en-US" altLang="ja-JP" dirty="0"/>
              <a:t>)</a:t>
            </a:r>
          </a:p>
          <a:p>
            <a:endParaRPr lang="en-US" altLang="ja-JP" dirty="0"/>
          </a:p>
          <a:p>
            <a:endParaRPr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3B4BD902-6778-A47A-C066-50F5B5D9F9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12463943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29D009-4EA4-69B2-DE91-39F1B4AD884C}"/>
              </a:ext>
            </a:extLst>
          </p:cNvPr>
          <p:cNvSpPr>
            <a:spLocks noGrp="1"/>
          </p:cNvSpPr>
          <p:nvPr>
            <p:ph type="title"/>
          </p:nvPr>
        </p:nvSpPr>
        <p:spPr/>
        <p:txBody>
          <a:bodyPr/>
          <a:lstStyle/>
          <a:p>
            <a:r>
              <a:rPr kumimoji="1" lang="en-US" altLang="ja-JP" dirty="0"/>
              <a:t>1.Introduction</a:t>
            </a:r>
            <a:endParaRPr kumimoji="1" lang="ja-JP" altLang="en-US" dirty="0"/>
          </a:p>
        </p:txBody>
      </p:sp>
      <p:sp>
        <p:nvSpPr>
          <p:cNvPr id="3" name="コンテンツ プレースホルダー 2">
            <a:extLst>
              <a:ext uri="{FF2B5EF4-FFF2-40B4-BE49-F238E27FC236}">
                <a16:creationId xmlns:a16="http://schemas.microsoft.com/office/drawing/2014/main" id="{992355E7-2823-0C17-F8DC-2A4E2FC8C677}"/>
              </a:ext>
            </a:extLst>
          </p:cNvPr>
          <p:cNvSpPr>
            <a:spLocks noGrp="1"/>
          </p:cNvSpPr>
          <p:nvPr>
            <p:ph idx="1"/>
          </p:nvPr>
        </p:nvSpPr>
        <p:spPr/>
        <p:txBody>
          <a:bodyPr/>
          <a:lstStyle/>
          <a:p>
            <a:r>
              <a:rPr kumimoji="1" lang="ja-JP" altLang="en-US" dirty="0"/>
              <a:t>近年要求されるジッタの上限は、高速通信では</a:t>
            </a:r>
            <a:r>
              <a:rPr kumimoji="1" lang="en-US" altLang="ja-JP" dirty="0"/>
              <a:t>100fs</a:t>
            </a:r>
            <a:r>
              <a:rPr kumimoji="1" lang="ja-JP" altLang="en-US" dirty="0"/>
              <a:t>程度、</a:t>
            </a:r>
            <a:br>
              <a:rPr kumimoji="1" lang="en-US" altLang="ja-JP" dirty="0"/>
            </a:br>
            <a:r>
              <a:rPr kumimoji="1" lang="ja-JP" altLang="en-US" dirty="0"/>
              <a:t>高分解能</a:t>
            </a:r>
            <a:r>
              <a:rPr kumimoji="1" lang="en-US" altLang="ja-JP" dirty="0"/>
              <a:t>ADC</a:t>
            </a:r>
            <a:r>
              <a:rPr kumimoji="1" lang="ja-JP" altLang="en-US" dirty="0"/>
              <a:t>では</a:t>
            </a:r>
            <a:r>
              <a:rPr kumimoji="1" lang="en-US" altLang="ja-JP" dirty="0"/>
              <a:t>10fs</a:t>
            </a:r>
            <a:r>
              <a:rPr kumimoji="1" lang="ja-JP" altLang="en-US" dirty="0"/>
              <a:t>程度</a:t>
            </a:r>
            <a:endParaRPr kumimoji="1" lang="en-US" altLang="ja-JP" dirty="0"/>
          </a:p>
          <a:p>
            <a:r>
              <a:rPr kumimoji="1" lang="ja-JP" altLang="en-US" dirty="0"/>
              <a:t>消費電力は、製品によっては</a:t>
            </a:r>
            <a:r>
              <a:rPr kumimoji="1" lang="en-US" altLang="ja-JP" dirty="0"/>
              <a:t>2mW</a:t>
            </a:r>
            <a:r>
              <a:rPr kumimoji="1" lang="ja-JP" altLang="en-US" dirty="0"/>
              <a:t>以下</a:t>
            </a:r>
            <a:endParaRPr kumimoji="1" lang="en-US" altLang="ja-JP" dirty="0"/>
          </a:p>
          <a:p>
            <a:endParaRPr lang="en-US" altLang="ja-JP" dirty="0"/>
          </a:p>
          <a:p>
            <a:r>
              <a:rPr kumimoji="1" lang="en-US" altLang="ja-JP" dirty="0"/>
              <a:t>Fractional-N PLL</a:t>
            </a:r>
            <a:r>
              <a:rPr kumimoji="1" lang="ja-JP" altLang="en-US" dirty="0"/>
              <a:t>では量子化雑音が存在するため、上記の要求</a:t>
            </a:r>
            <a:r>
              <a:rPr lang="ja-JP" altLang="en-US" dirty="0"/>
              <a:t>を満たすパラメータの発見が急務</a:t>
            </a:r>
            <a:endParaRPr kumimoji="1" lang="ja-JP" altLang="en-US" dirty="0"/>
          </a:p>
        </p:txBody>
      </p:sp>
      <p:sp>
        <p:nvSpPr>
          <p:cNvPr id="4" name="スライド番号プレースホルダー 3">
            <a:extLst>
              <a:ext uri="{FF2B5EF4-FFF2-40B4-BE49-F238E27FC236}">
                <a16:creationId xmlns:a16="http://schemas.microsoft.com/office/drawing/2014/main" id="{31E0FC87-350A-4E7C-199F-0375CC85742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629239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7D39D-3D17-4F97-A755-EF08D435440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5871FA6-766F-41C2-7FFB-AF7C457D5927}"/>
              </a:ext>
            </a:extLst>
          </p:cNvPr>
          <p:cNvSpPr>
            <a:spLocks noGrp="1"/>
          </p:cNvSpPr>
          <p:nvPr>
            <p:ph type="title"/>
          </p:nvPr>
        </p:nvSpPr>
        <p:spPr/>
        <p:txBody>
          <a:bodyPr/>
          <a:lstStyle/>
          <a:p>
            <a:r>
              <a:rPr lang="en-US" altLang="ja-JP" dirty="0"/>
              <a:t>1</a:t>
            </a:r>
            <a:r>
              <a:rPr kumimoji="1" lang="en-US" altLang="ja-JP" dirty="0"/>
              <a:t>.Introduction</a:t>
            </a:r>
            <a:endParaRPr kumimoji="1" lang="ja-JP" altLang="en-US" dirty="0"/>
          </a:p>
        </p:txBody>
      </p:sp>
      <p:sp>
        <p:nvSpPr>
          <p:cNvPr id="3" name="コンテンツ プレースホルダー 2">
            <a:extLst>
              <a:ext uri="{FF2B5EF4-FFF2-40B4-BE49-F238E27FC236}">
                <a16:creationId xmlns:a16="http://schemas.microsoft.com/office/drawing/2014/main" id="{25D4D4A5-C69B-0C43-43D2-46CA3E023278}"/>
              </a:ext>
            </a:extLst>
          </p:cNvPr>
          <p:cNvSpPr>
            <a:spLocks noGrp="1"/>
          </p:cNvSpPr>
          <p:nvPr>
            <p:ph idx="1"/>
          </p:nvPr>
        </p:nvSpPr>
        <p:spPr/>
        <p:txBody>
          <a:bodyPr/>
          <a:lstStyle/>
          <a:p>
            <a:r>
              <a:rPr kumimoji="1" lang="ja-JP" altLang="en-US" dirty="0"/>
              <a:t>量子化雑音を低減するために提唱されている</a:t>
            </a:r>
            <a:r>
              <a:rPr kumimoji="1" lang="en-US" altLang="ja-JP" dirty="0"/>
              <a:t>PLL</a:t>
            </a:r>
            <a:r>
              <a:rPr kumimoji="1" lang="ja-JP" altLang="en-US" dirty="0"/>
              <a:t>は以下の</a:t>
            </a:r>
            <a:r>
              <a:rPr kumimoji="1" lang="en-US" altLang="ja-JP" dirty="0"/>
              <a:t>2</a:t>
            </a:r>
            <a:r>
              <a:rPr kumimoji="1" lang="ja-JP" altLang="en-US" dirty="0"/>
              <a:t>つ</a:t>
            </a:r>
            <a:endParaRPr kumimoji="1" lang="en-US" altLang="ja-JP" dirty="0"/>
          </a:p>
          <a:p>
            <a:endParaRPr lang="en-US" altLang="ja-JP" dirty="0"/>
          </a:p>
          <a:p>
            <a:r>
              <a:rPr kumimoji="1" lang="en-US" altLang="ja-JP" dirty="0"/>
              <a:t>DTC(Digital-to-Time-Converter)-PLL</a:t>
            </a:r>
          </a:p>
          <a:p>
            <a:r>
              <a:rPr kumimoji="1" lang="en-US" altLang="ja-JP" dirty="0"/>
              <a:t>DTC</a:t>
            </a:r>
            <a:r>
              <a:rPr lang="ja-JP" altLang="en-US" dirty="0"/>
              <a:t>は</a:t>
            </a:r>
            <a:r>
              <a:rPr kumimoji="1" lang="ja-JP" altLang="en-US" dirty="0"/>
              <a:t>量子化雑音のみを相殺</a:t>
            </a:r>
            <a:r>
              <a:rPr kumimoji="1" lang="en-US" altLang="ja-JP" dirty="0"/>
              <a:t>(</a:t>
            </a:r>
            <a:r>
              <a:rPr kumimoji="1" lang="ja-JP" altLang="en-US" dirty="0"/>
              <a:t>基準信号をその分遅延させる</a:t>
            </a:r>
            <a:r>
              <a:rPr kumimoji="1" lang="en-US" altLang="ja-JP" dirty="0"/>
              <a:t>)</a:t>
            </a:r>
          </a:p>
          <a:p>
            <a:r>
              <a:rPr lang="ja-JP" altLang="en-US" dirty="0"/>
              <a:t>温度や電圧の揺らぎに弱く、その補正に時間がかかる</a:t>
            </a:r>
            <a:endParaRPr lang="en-US" altLang="ja-JP" dirty="0"/>
          </a:p>
          <a:p>
            <a:endParaRPr kumimoji="1" lang="en-US" altLang="ja-JP" dirty="0"/>
          </a:p>
          <a:p>
            <a:r>
              <a:rPr lang="en-US" altLang="ja-JP" dirty="0"/>
              <a:t>HM-PLL</a:t>
            </a:r>
          </a:p>
          <a:p>
            <a:r>
              <a:rPr kumimoji="1" lang="ja-JP" altLang="en-US" dirty="0"/>
              <a:t>ミキサの駆動用に別途</a:t>
            </a:r>
            <a:r>
              <a:rPr kumimoji="1" lang="en-US" altLang="ja-JP" dirty="0"/>
              <a:t>PLL</a:t>
            </a:r>
            <a:r>
              <a:rPr kumimoji="1" lang="ja-JP" altLang="en-US" dirty="0"/>
              <a:t>を用意しなければならない</a:t>
            </a:r>
          </a:p>
        </p:txBody>
      </p:sp>
      <p:sp>
        <p:nvSpPr>
          <p:cNvPr id="4" name="スライド番号プレースホルダー 3">
            <a:extLst>
              <a:ext uri="{FF2B5EF4-FFF2-40B4-BE49-F238E27FC236}">
                <a16:creationId xmlns:a16="http://schemas.microsoft.com/office/drawing/2014/main" id="{FE3EC6D6-7769-3646-3BE8-F3DBC96BCC3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11826696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DDC6E-2D6C-F2EC-033E-6BB61E1914A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2746FFB-940E-E23E-6194-09F654A639D9}"/>
              </a:ext>
            </a:extLst>
          </p:cNvPr>
          <p:cNvSpPr>
            <a:spLocks noGrp="1"/>
          </p:cNvSpPr>
          <p:nvPr>
            <p:ph type="title"/>
          </p:nvPr>
        </p:nvSpPr>
        <p:spPr/>
        <p:txBody>
          <a:bodyPr/>
          <a:lstStyle/>
          <a:p>
            <a:r>
              <a:rPr kumimoji="1" lang="en-US" altLang="ja-JP" dirty="0"/>
              <a:t>1.Introduction</a:t>
            </a:r>
            <a:endParaRPr kumimoji="1" lang="ja-JP" altLang="en-US" dirty="0"/>
          </a:p>
        </p:txBody>
      </p:sp>
      <p:sp>
        <p:nvSpPr>
          <p:cNvPr id="3" name="コンテンツ プレースホルダー 2">
            <a:extLst>
              <a:ext uri="{FF2B5EF4-FFF2-40B4-BE49-F238E27FC236}">
                <a16:creationId xmlns:a16="http://schemas.microsoft.com/office/drawing/2014/main" id="{B297420E-B0AE-655B-A8AC-0A7444C87D3C}"/>
              </a:ext>
            </a:extLst>
          </p:cNvPr>
          <p:cNvSpPr>
            <a:spLocks noGrp="1"/>
          </p:cNvSpPr>
          <p:nvPr>
            <p:ph idx="1"/>
          </p:nvPr>
        </p:nvSpPr>
        <p:spPr/>
        <p:txBody>
          <a:bodyPr/>
          <a:lstStyle/>
          <a:p>
            <a:r>
              <a:rPr kumimoji="1" lang="ja-JP" altLang="en-US" dirty="0"/>
              <a:t>前述した</a:t>
            </a:r>
            <a:r>
              <a:rPr kumimoji="1" lang="en-US" altLang="ja-JP" dirty="0"/>
              <a:t>2</a:t>
            </a:r>
            <a:r>
              <a:rPr kumimoji="1" lang="ja-JP" altLang="en-US" dirty="0"/>
              <a:t>つの構成について、多目的進化的アルゴリズム</a:t>
            </a:r>
            <a:r>
              <a:rPr kumimoji="1" lang="en-US" altLang="ja-JP" dirty="0"/>
              <a:t>(MOEA)</a:t>
            </a:r>
            <a:r>
              <a:rPr kumimoji="1" lang="ja-JP" altLang="en-US" dirty="0"/>
              <a:t>で最適パラメータを模索</a:t>
            </a:r>
            <a:endParaRPr kumimoji="1" lang="en-US" altLang="ja-JP" dirty="0"/>
          </a:p>
          <a:p>
            <a:endParaRPr lang="en-US" altLang="ja-JP" dirty="0"/>
          </a:p>
          <a:p>
            <a:r>
              <a:rPr kumimoji="1" lang="en-US" altLang="ja-JP" dirty="0"/>
              <a:t>LC-VCO(</a:t>
            </a:r>
            <a:r>
              <a:rPr kumimoji="1" lang="ja-JP" altLang="en-US" dirty="0"/>
              <a:t>面積大、ノイズ小</a:t>
            </a:r>
            <a:r>
              <a:rPr kumimoji="1" lang="en-US" altLang="ja-JP" dirty="0"/>
              <a:t>)</a:t>
            </a:r>
            <a:r>
              <a:rPr kumimoji="1" lang="ja-JP" altLang="en-US" dirty="0"/>
              <a:t>と</a:t>
            </a:r>
            <a:r>
              <a:rPr kumimoji="1" lang="en-US" altLang="ja-JP" dirty="0"/>
              <a:t>Ring-VCO(</a:t>
            </a:r>
            <a:r>
              <a:rPr kumimoji="1" lang="ja-JP" altLang="en-US" dirty="0"/>
              <a:t>面積小、ノイズ大</a:t>
            </a:r>
            <a:r>
              <a:rPr kumimoji="1" lang="en-US" altLang="ja-JP" dirty="0"/>
              <a:t>)</a:t>
            </a:r>
            <a:r>
              <a:rPr kumimoji="1" lang="ja-JP" altLang="en-US" dirty="0"/>
              <a:t>の</a:t>
            </a:r>
            <a:br>
              <a:rPr kumimoji="1" lang="en-US" altLang="ja-JP" dirty="0"/>
            </a:br>
            <a:r>
              <a:rPr kumimoji="1" lang="en-US" altLang="ja-JP" dirty="0"/>
              <a:t>2</a:t>
            </a:r>
            <a:r>
              <a:rPr lang="ja-JP" altLang="en-US" dirty="0"/>
              <a:t>種についてそれぞれ比較</a:t>
            </a:r>
            <a:endParaRPr kumimoji="1" lang="ja-JP" altLang="en-US" dirty="0"/>
          </a:p>
        </p:txBody>
      </p:sp>
      <p:sp>
        <p:nvSpPr>
          <p:cNvPr id="4" name="スライド番号プレースホルダー 3">
            <a:extLst>
              <a:ext uri="{FF2B5EF4-FFF2-40B4-BE49-F238E27FC236}">
                <a16:creationId xmlns:a16="http://schemas.microsoft.com/office/drawing/2014/main" id="{1AF705E3-1E1E-1595-C00B-3DCC16A714B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25408454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C535C-FB4F-6EC6-A93A-96A83CC891F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B4AD75A-7079-5A4E-8614-909B6C2DEE0D}"/>
              </a:ext>
            </a:extLst>
          </p:cNvPr>
          <p:cNvSpPr>
            <a:spLocks noGrp="1"/>
          </p:cNvSpPr>
          <p:nvPr>
            <p:ph type="title"/>
          </p:nvPr>
        </p:nvSpPr>
        <p:spPr/>
        <p:txBody>
          <a:bodyPr/>
          <a:lstStyle/>
          <a:p>
            <a:r>
              <a:rPr lang="en-US" altLang="ja-JP" dirty="0"/>
              <a:t>2.</a:t>
            </a:r>
            <a:r>
              <a:rPr lang="ja-JP" altLang="en-US" dirty="0"/>
              <a:t>多目的最適化アルゴリズム</a:t>
            </a:r>
            <a:endParaRPr kumimoji="1" lang="ja-JP" altLang="en-US" dirty="0"/>
          </a:p>
        </p:txBody>
      </p:sp>
      <p:sp>
        <p:nvSpPr>
          <p:cNvPr id="3" name="コンテンツ プレースホルダー 2">
            <a:extLst>
              <a:ext uri="{FF2B5EF4-FFF2-40B4-BE49-F238E27FC236}">
                <a16:creationId xmlns:a16="http://schemas.microsoft.com/office/drawing/2014/main" id="{F81B14EE-F532-4A77-0F60-22B8971A2B7A}"/>
              </a:ext>
            </a:extLst>
          </p:cNvPr>
          <p:cNvSpPr>
            <a:spLocks noGrp="1"/>
          </p:cNvSpPr>
          <p:nvPr>
            <p:ph idx="1"/>
          </p:nvPr>
        </p:nvSpPr>
        <p:spPr/>
        <p:txBody>
          <a:bodyPr/>
          <a:lstStyle/>
          <a:p>
            <a:r>
              <a:rPr kumimoji="1" lang="en-US" altLang="ja-JP" dirty="0"/>
              <a:t>MOEA</a:t>
            </a:r>
            <a:r>
              <a:rPr kumimoji="1" lang="ja-JP" altLang="en-US" dirty="0"/>
              <a:t>として</a:t>
            </a:r>
            <a:r>
              <a:rPr lang="en-US" altLang="ja-JP" dirty="0"/>
              <a:t>nsga-2</a:t>
            </a:r>
            <a:r>
              <a:rPr lang="ja-JP" altLang="en-US" dirty="0"/>
              <a:t>と呼ばれるアルゴリズムを採用</a:t>
            </a:r>
            <a:endParaRPr lang="en-US" altLang="ja-JP" dirty="0"/>
          </a:p>
          <a:p>
            <a:endParaRPr kumimoji="1" lang="en-US" altLang="ja-JP" dirty="0"/>
          </a:p>
          <a:p>
            <a:r>
              <a:rPr kumimoji="1" lang="ja-JP" altLang="en-US" dirty="0"/>
              <a:t>優越性：性能が良い個体を優遇</a:t>
            </a:r>
            <a:endParaRPr kumimoji="1" lang="en-US" altLang="ja-JP" dirty="0"/>
          </a:p>
          <a:p>
            <a:r>
              <a:rPr lang="ja-JP" altLang="en-US" dirty="0"/>
              <a:t>混雑度：他の個体と似ていない性能を持った個体を優遇</a:t>
            </a:r>
            <a:endParaRPr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850FD4AA-9592-6C4E-713E-C8C94894B36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2888880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5070D-2AE3-45F0-623A-C465039EFDC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5D73082-08C1-BB4B-F026-324875664A2B}"/>
              </a:ext>
            </a:extLst>
          </p:cNvPr>
          <p:cNvSpPr>
            <a:spLocks noGrp="1"/>
          </p:cNvSpPr>
          <p:nvPr>
            <p:ph type="title"/>
          </p:nvPr>
        </p:nvSpPr>
        <p:spPr/>
        <p:txBody>
          <a:bodyPr/>
          <a:lstStyle/>
          <a:p>
            <a:r>
              <a:rPr lang="en-US" altLang="ja-JP" dirty="0"/>
              <a:t>2.</a:t>
            </a:r>
            <a:r>
              <a:rPr lang="ja-JP" altLang="en-US" dirty="0"/>
              <a:t>多目的最適化アルゴリズム</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34CB955C-2F72-EFEF-1727-928372744E10}"/>
                  </a:ext>
                </a:extLst>
              </p:cNvPr>
              <p:cNvSpPr>
                <a:spLocks noGrp="1"/>
              </p:cNvSpPr>
              <p:nvPr>
                <p:ph idx="1"/>
              </p:nvPr>
            </p:nvSpPr>
            <p:spPr/>
            <p:txBody>
              <a:bodyPr/>
              <a:lstStyle/>
              <a:p>
                <a:r>
                  <a:rPr kumimoji="1" lang="ja-JP" altLang="en-US" dirty="0"/>
                  <a:t>一般的な</a:t>
                </a:r>
                <a:r>
                  <a:rPr kumimoji="1" lang="en-US" altLang="ja-JP" dirty="0"/>
                  <a:t>LF</a:t>
                </a:r>
                <a:r>
                  <a:rPr lang="ja-JP" altLang="en-US" dirty="0"/>
                  <a:t>の</a:t>
                </a:r>
                <a:r>
                  <a:rPr kumimoji="1" lang="en-US" altLang="ja-JP" dirty="0"/>
                  <a:t>Integer-N</a:t>
                </a:r>
                <a:r>
                  <a:rPr kumimoji="1" lang="ja-JP" altLang="en-US" dirty="0"/>
                  <a:t>型で検証</a:t>
                </a:r>
                <a:endParaRPr kumimoji="1" lang="en-US" altLang="ja-JP" dirty="0"/>
              </a:p>
              <a:p>
                <a:endParaRPr lang="en-US" altLang="ja-JP" dirty="0"/>
              </a:p>
              <a:p>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𝑓</m:t>
                        </m:r>
                      </m:e>
                      <m:sub>
                        <m:r>
                          <m:rPr>
                            <m:sty m:val="p"/>
                          </m:rPr>
                          <a:rPr kumimoji="1" lang="en-US" altLang="ja-JP" b="0" i="0" smtClean="0">
                            <a:latin typeface="Cambria Math" panose="02040503050406030204" pitchFamily="18" charset="0"/>
                          </a:rPr>
                          <m:t>UG</m:t>
                        </m:r>
                      </m:sub>
                    </m:sSub>
                    <m:r>
                      <a:rPr kumimoji="1" lang="en-US" altLang="ja-JP" b="0" i="1" smtClean="0">
                        <a:latin typeface="Cambria Math" panose="02040503050406030204" pitchFamily="18" charset="0"/>
                      </a:rPr>
                      <m:t>=1</m:t>
                    </m:r>
                    <m:r>
                      <m:rPr>
                        <m:sty m:val="p"/>
                      </m:rPr>
                      <a:rPr kumimoji="1" lang="en-US" altLang="ja-JP" b="0" i="0" smtClean="0">
                        <a:latin typeface="Cambria Math" panose="02040503050406030204" pitchFamily="18" charset="0"/>
                      </a:rPr>
                      <m:t>k</m:t>
                    </m:r>
                    <m:r>
                      <a:rPr kumimoji="1" lang="en-US" altLang="ja-JP" b="0" i="1" smtClean="0">
                        <a:latin typeface="Cambria Math" panose="02040503050406030204" pitchFamily="18" charset="0"/>
                      </a:rPr>
                      <m:t> ~ 1</m:t>
                    </m:r>
                    <m:r>
                      <m:rPr>
                        <m:sty m:val="p"/>
                      </m:rPr>
                      <a:rPr kumimoji="1" lang="en-US" altLang="ja-JP" b="0" i="0" smtClean="0">
                        <a:latin typeface="Cambria Math" panose="02040503050406030204" pitchFamily="18" charset="0"/>
                      </a:rPr>
                      <m:t>M</m:t>
                    </m:r>
                    <m:r>
                      <a:rPr kumimoji="1" lang="en-US" altLang="ja-JP" b="0" i="1" smtClean="0">
                        <a:latin typeface="Cambria Math" panose="02040503050406030204" pitchFamily="18" charset="0"/>
                      </a:rPr>
                      <m:t> [</m:t>
                    </m:r>
                    <m:r>
                      <m:rPr>
                        <m:sty m:val="p"/>
                      </m:rPr>
                      <a:rPr kumimoji="1" lang="en-US" altLang="ja-JP" b="0" i="0" smtClean="0">
                        <a:latin typeface="Cambria Math" panose="02040503050406030204" pitchFamily="18" charset="0"/>
                      </a:rPr>
                      <m:t>Hz</m:t>
                    </m:r>
                    <m:r>
                      <a:rPr kumimoji="1" lang="en-US" altLang="ja-JP" b="0" i="1" smtClean="0">
                        <a:latin typeface="Cambria Math" panose="02040503050406030204" pitchFamily="18" charset="0"/>
                      </a:rPr>
                      <m:t>]</m:t>
                    </m:r>
                  </m:oMath>
                </a14:m>
                <a:endParaRPr kumimoji="1" lang="en-US" altLang="ja-JP" dirty="0"/>
              </a:p>
              <a:p>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𝑃</m:t>
                        </m:r>
                      </m:e>
                      <m:sub>
                        <m:r>
                          <m:rPr>
                            <m:sty m:val="p"/>
                          </m:rPr>
                          <a:rPr kumimoji="1" lang="en-US" altLang="ja-JP" b="0" i="0" smtClean="0">
                            <a:latin typeface="Cambria Math" panose="02040503050406030204" pitchFamily="18" charset="0"/>
                          </a:rPr>
                          <m:t>VCO</m:t>
                        </m:r>
                      </m:sub>
                    </m:sSub>
                    <m:r>
                      <a:rPr kumimoji="1" lang="en-US" altLang="ja-JP" b="0" i="1" smtClean="0">
                        <a:latin typeface="Cambria Math" panose="02040503050406030204" pitchFamily="18" charset="0"/>
                      </a:rPr>
                      <m:t>=100</m:t>
                    </m:r>
                    <m:r>
                      <a:rPr kumimoji="1" lang="ja-JP" altLang="en-US" b="0" i="1" smtClean="0">
                        <a:latin typeface="Cambria Math" panose="02040503050406030204" pitchFamily="18" charset="0"/>
                      </a:rPr>
                      <m:t>𝜇</m:t>
                    </m:r>
                    <m:r>
                      <a:rPr kumimoji="1" lang="en-US" altLang="ja-JP" b="0" i="1" smtClean="0">
                        <a:latin typeface="Cambria Math" panose="02040503050406030204" pitchFamily="18" charset="0"/>
                      </a:rPr>
                      <m:t> ~ 1 [</m:t>
                    </m:r>
                    <m:r>
                      <m:rPr>
                        <m:sty m:val="p"/>
                      </m:rPr>
                      <a:rPr kumimoji="1" lang="en-US" altLang="ja-JP" b="0" i="0" smtClean="0">
                        <a:latin typeface="Cambria Math" panose="02040503050406030204" pitchFamily="18" charset="0"/>
                      </a:rPr>
                      <m:t>W</m:t>
                    </m:r>
                    <m:r>
                      <a:rPr kumimoji="1" lang="en-US" altLang="ja-JP" b="0" i="1" smtClean="0">
                        <a:latin typeface="Cambria Math" panose="02040503050406030204" pitchFamily="18" charset="0"/>
                      </a:rPr>
                      <m:t>]</m:t>
                    </m:r>
                  </m:oMath>
                </a14:m>
                <a:endParaRPr kumimoji="1" lang="en-US" altLang="ja-JP" dirty="0"/>
              </a:p>
              <a:p>
                <a:r>
                  <a:rPr lang="ja-JP" altLang="en-US" dirty="0"/>
                  <a:t>個体数</a:t>
                </a:r>
                <a:r>
                  <a:rPr lang="en-US" altLang="ja-JP" dirty="0"/>
                  <a:t>500</a:t>
                </a:r>
                <a:r>
                  <a:rPr lang="ja-JP" altLang="en-US" dirty="0"/>
                  <a:t>、世代数</a:t>
                </a:r>
                <a:r>
                  <a:rPr lang="en-US" altLang="ja-JP" dirty="0"/>
                  <a:t>300</a:t>
                </a:r>
                <a:endParaRPr kumimoji="1" lang="en-US" altLang="ja-JP" dirty="0"/>
              </a:p>
            </p:txBody>
          </p:sp>
        </mc:Choice>
        <mc:Fallback xmlns="">
          <p:sp>
            <p:nvSpPr>
              <p:cNvPr id="3" name="コンテンツ プレースホルダー 2">
                <a:extLst>
                  <a:ext uri="{FF2B5EF4-FFF2-40B4-BE49-F238E27FC236}">
                    <a16:creationId xmlns:a16="http://schemas.microsoft.com/office/drawing/2014/main" id="{34CB955C-2F72-EFEF-1727-928372744E10}"/>
                  </a:ext>
                </a:extLst>
              </p:cNvPr>
              <p:cNvSpPr>
                <a:spLocks noGrp="1" noRot="1" noChangeAspect="1" noMove="1" noResize="1" noEditPoints="1" noAdjustHandles="1" noChangeArrowheads="1" noChangeShapeType="1" noTextEdit="1"/>
              </p:cNvSpPr>
              <p:nvPr>
                <p:ph idx="1"/>
              </p:nvPr>
            </p:nvSpPr>
            <p:spPr>
              <a:blipFill>
                <a:blip r:embed="rId2"/>
                <a:stretch>
                  <a:fillRect l="-1043" t="-2521"/>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AACF85D1-1644-E432-9A0F-9531837AD78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pic>
        <p:nvPicPr>
          <p:cNvPr id="6" name="図 5">
            <a:extLst>
              <a:ext uri="{FF2B5EF4-FFF2-40B4-BE49-F238E27FC236}">
                <a16:creationId xmlns:a16="http://schemas.microsoft.com/office/drawing/2014/main" id="{B2BCD645-C061-F461-8684-E486B451869B}"/>
              </a:ext>
            </a:extLst>
          </p:cNvPr>
          <p:cNvPicPr>
            <a:picLocks noChangeAspect="1"/>
          </p:cNvPicPr>
          <p:nvPr/>
        </p:nvPicPr>
        <p:blipFill>
          <a:blip r:embed="rId3"/>
          <a:stretch>
            <a:fillRect/>
          </a:stretch>
        </p:blipFill>
        <p:spPr>
          <a:xfrm>
            <a:off x="6321855" y="2078242"/>
            <a:ext cx="5031945" cy="2701516"/>
          </a:xfrm>
          <a:prstGeom prst="rect">
            <a:avLst/>
          </a:prstGeom>
        </p:spPr>
      </p:pic>
    </p:spTree>
    <p:extLst>
      <p:ext uri="{BB962C8B-B14F-4D97-AF65-F5344CB8AC3E}">
        <p14:creationId xmlns:p14="http://schemas.microsoft.com/office/powerpoint/2010/main" val="17891902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64C8D-13DF-7ED9-51FF-5B0B214607D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6F7FCCC-E7EF-0F5B-6641-546C3164E920}"/>
              </a:ext>
            </a:extLst>
          </p:cNvPr>
          <p:cNvSpPr>
            <a:spLocks noGrp="1"/>
          </p:cNvSpPr>
          <p:nvPr>
            <p:ph type="title"/>
          </p:nvPr>
        </p:nvSpPr>
        <p:spPr/>
        <p:txBody>
          <a:bodyPr/>
          <a:lstStyle/>
          <a:p>
            <a:r>
              <a:rPr lang="en-US" altLang="ja-JP" dirty="0"/>
              <a:t>2.</a:t>
            </a:r>
            <a:r>
              <a:rPr lang="ja-JP" altLang="en-US" dirty="0"/>
              <a:t>多目的最適化アルゴリズム</a:t>
            </a:r>
            <a:endParaRPr kumimoji="1" lang="ja-JP" altLang="en-US" dirty="0"/>
          </a:p>
        </p:txBody>
      </p:sp>
      <p:sp>
        <p:nvSpPr>
          <p:cNvPr id="3" name="コンテンツ プレースホルダー 2">
            <a:extLst>
              <a:ext uri="{FF2B5EF4-FFF2-40B4-BE49-F238E27FC236}">
                <a16:creationId xmlns:a16="http://schemas.microsoft.com/office/drawing/2014/main" id="{4A25EAE4-A88C-760A-05FB-D1856F2F3749}"/>
              </a:ext>
            </a:extLst>
          </p:cNvPr>
          <p:cNvSpPr>
            <a:spLocks noGrp="1"/>
          </p:cNvSpPr>
          <p:nvPr>
            <p:ph idx="1"/>
          </p:nvPr>
        </p:nvSpPr>
        <p:spPr/>
        <p:txBody>
          <a:bodyPr/>
          <a:lstStyle/>
          <a:p>
            <a:r>
              <a:rPr lang="ja-JP" altLang="en-US" dirty="0"/>
              <a:t>世代が進むに連れパレート最適を構成</a:t>
            </a:r>
            <a:endParaRPr kumimoji="1" lang="en-US" altLang="ja-JP" dirty="0"/>
          </a:p>
          <a:p>
            <a:endParaRPr lang="en-US" altLang="ja-JP" dirty="0"/>
          </a:p>
          <a:p>
            <a:r>
              <a:rPr kumimoji="1" lang="ja-JP" altLang="en-US" dirty="0"/>
              <a:t>ジッタが低い領域と高い領域とで</a:t>
            </a:r>
            <a:br>
              <a:rPr kumimoji="1" lang="en-US" altLang="ja-JP" dirty="0"/>
            </a:br>
            <a:r>
              <a:rPr kumimoji="1" lang="ja-JP" altLang="en-US" dirty="0"/>
              <a:t>グラフの傾きが異なる</a:t>
            </a:r>
            <a:br>
              <a:rPr kumimoji="1" lang="en-US" altLang="ja-JP" dirty="0"/>
            </a:br>
            <a:r>
              <a:rPr kumimoji="1" lang="en-US" altLang="ja-JP" dirty="0"/>
              <a:t>(</a:t>
            </a:r>
            <a:r>
              <a:rPr kumimoji="1" lang="ja-JP" altLang="en-US" dirty="0"/>
              <a:t>それぞれジッタの</a:t>
            </a:r>
            <a:r>
              <a:rPr kumimoji="1" lang="en-US" altLang="ja-JP" dirty="0"/>
              <a:t>2</a:t>
            </a:r>
            <a:r>
              <a:rPr kumimoji="1" lang="ja-JP" altLang="en-US" dirty="0"/>
              <a:t>乗</a:t>
            </a:r>
            <a:r>
              <a:rPr kumimoji="1" lang="en-US" altLang="ja-JP" dirty="0"/>
              <a:t>/4</a:t>
            </a:r>
            <a:r>
              <a:rPr kumimoji="1" lang="ja-JP" altLang="en-US" dirty="0"/>
              <a:t>乗に反比例</a:t>
            </a:r>
            <a:r>
              <a:rPr kumimoji="1" lang="en-US" altLang="ja-JP" dirty="0"/>
              <a:t>)</a:t>
            </a:r>
            <a:br>
              <a:rPr kumimoji="1" lang="en-US" altLang="ja-JP" dirty="0"/>
            </a:br>
            <a:r>
              <a:rPr kumimoji="1" lang="ja-JP" altLang="en-US" dirty="0"/>
              <a:t>→帯域幅の限界</a:t>
            </a:r>
            <a:r>
              <a:rPr kumimoji="1" lang="en-US" altLang="ja-JP" dirty="0"/>
              <a:t>(5MHz)</a:t>
            </a:r>
            <a:r>
              <a:rPr kumimoji="1" lang="ja-JP" altLang="en-US" dirty="0"/>
              <a:t>に達すると</a:t>
            </a:r>
            <a:br>
              <a:rPr kumimoji="1" lang="en-US" altLang="ja-JP" dirty="0"/>
            </a:br>
            <a:r>
              <a:rPr kumimoji="1" lang="ja-JP" altLang="en-US" dirty="0"/>
              <a:t>　ノイズの削減効率が変わるため</a:t>
            </a:r>
            <a:endParaRPr kumimoji="1" lang="en-US" altLang="ja-JP" dirty="0"/>
          </a:p>
        </p:txBody>
      </p:sp>
      <p:sp>
        <p:nvSpPr>
          <p:cNvPr id="4" name="スライド番号プレースホルダー 3">
            <a:extLst>
              <a:ext uri="{FF2B5EF4-FFF2-40B4-BE49-F238E27FC236}">
                <a16:creationId xmlns:a16="http://schemas.microsoft.com/office/drawing/2014/main" id="{796A77CC-AB8D-5ECD-1C55-B17DCD21CDD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pic>
        <p:nvPicPr>
          <p:cNvPr id="6" name="図 5">
            <a:extLst>
              <a:ext uri="{FF2B5EF4-FFF2-40B4-BE49-F238E27FC236}">
                <a16:creationId xmlns:a16="http://schemas.microsoft.com/office/drawing/2014/main" id="{13D14354-4805-0EE4-F921-17202817613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176472" y="1464638"/>
            <a:ext cx="4544656" cy="4278108"/>
          </a:xfrm>
          <a:prstGeom prst="rect">
            <a:avLst/>
          </a:prstGeom>
        </p:spPr>
      </p:pic>
    </p:spTree>
    <p:extLst>
      <p:ext uri="{BB962C8B-B14F-4D97-AF65-F5344CB8AC3E}">
        <p14:creationId xmlns:p14="http://schemas.microsoft.com/office/powerpoint/2010/main" val="39152717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F42E15-0D59-72B3-4429-39D900BDFAA9}"/>
              </a:ext>
            </a:extLst>
          </p:cNvPr>
          <p:cNvSpPr>
            <a:spLocks noGrp="1"/>
          </p:cNvSpPr>
          <p:nvPr>
            <p:ph type="title"/>
          </p:nvPr>
        </p:nvSpPr>
        <p:spPr/>
        <p:txBody>
          <a:bodyPr/>
          <a:lstStyle/>
          <a:p>
            <a:r>
              <a:rPr kumimoji="1" lang="en-US" altLang="ja-JP" dirty="0"/>
              <a:t>3.</a:t>
            </a:r>
            <a:r>
              <a:rPr kumimoji="1" lang="ja-JP" altLang="en-US" dirty="0"/>
              <a:t>解析</a:t>
            </a:r>
          </a:p>
        </p:txBody>
      </p:sp>
      <p:sp>
        <p:nvSpPr>
          <p:cNvPr id="3" name="コンテンツ プレースホルダー 2">
            <a:extLst>
              <a:ext uri="{FF2B5EF4-FFF2-40B4-BE49-F238E27FC236}">
                <a16:creationId xmlns:a16="http://schemas.microsoft.com/office/drawing/2014/main" id="{FBF754BF-8F63-CD38-3719-7649AE2A1E81}"/>
              </a:ext>
            </a:extLst>
          </p:cNvPr>
          <p:cNvSpPr>
            <a:spLocks noGrp="1"/>
          </p:cNvSpPr>
          <p:nvPr>
            <p:ph idx="1"/>
          </p:nvPr>
        </p:nvSpPr>
        <p:spPr/>
        <p:txBody>
          <a:bodyPr/>
          <a:lstStyle/>
          <a:p>
            <a:r>
              <a:rPr kumimoji="1" lang="en-US" altLang="ja-JP" dirty="0"/>
              <a:t>LC-VCO</a:t>
            </a:r>
            <a:r>
              <a:rPr kumimoji="1" lang="ja-JP" altLang="en-US" dirty="0"/>
              <a:t>を用いた</a:t>
            </a:r>
            <a:r>
              <a:rPr kumimoji="1" lang="en-US" altLang="ja-JP" dirty="0"/>
              <a:t>DTC-PLL</a:t>
            </a:r>
            <a:r>
              <a:rPr lang="ja-JP" altLang="en-US" dirty="0"/>
              <a:t>、</a:t>
            </a:r>
            <a:r>
              <a:rPr kumimoji="1" lang="en-US" altLang="ja-JP" dirty="0"/>
              <a:t>HM-PLL</a:t>
            </a:r>
            <a:r>
              <a:rPr kumimoji="1" lang="ja-JP" altLang="en-US" dirty="0"/>
              <a:t>、従来型</a:t>
            </a:r>
            <a:r>
              <a:rPr kumimoji="1" lang="en-US" altLang="ja-JP" dirty="0"/>
              <a:t>Fractional-PLL</a:t>
            </a:r>
            <a:r>
              <a:rPr kumimoji="1" lang="ja-JP" altLang="en-US" dirty="0"/>
              <a:t>で</a:t>
            </a:r>
            <a:br>
              <a:rPr kumimoji="1" lang="en-US" altLang="ja-JP" dirty="0"/>
            </a:br>
            <a:r>
              <a:rPr kumimoji="1" lang="ja-JP" altLang="en-US" dirty="0"/>
              <a:t>最適化の結果を比較</a:t>
            </a:r>
            <a:endParaRPr kumimoji="1" lang="en-US" altLang="ja-JP" dirty="0"/>
          </a:p>
          <a:p>
            <a:endParaRPr lang="en-US" altLang="ja-JP" dirty="0"/>
          </a:p>
          <a:p>
            <a:r>
              <a:rPr kumimoji="1" lang="en-US" altLang="ja-JP" dirty="0"/>
              <a:t>PD</a:t>
            </a:r>
            <a:r>
              <a:rPr kumimoji="1" lang="ja-JP" altLang="en-US" dirty="0"/>
              <a:t>や</a:t>
            </a:r>
            <a:r>
              <a:rPr kumimoji="1" lang="en-US" altLang="ja-JP" dirty="0"/>
              <a:t>DTC</a:t>
            </a:r>
            <a:r>
              <a:rPr kumimoji="1" lang="ja-JP" altLang="en-US" dirty="0"/>
              <a:t>の非線形性により生じるスプリアスは無視</a:t>
            </a:r>
            <a:endParaRPr kumimoji="1" lang="en-US" altLang="ja-JP" dirty="0"/>
          </a:p>
          <a:p>
            <a:endParaRPr lang="en-US" altLang="ja-JP" dirty="0"/>
          </a:p>
          <a:p>
            <a:r>
              <a:rPr kumimoji="1" lang="en-US" altLang="ja-JP" dirty="0"/>
              <a:t>DTC</a:t>
            </a:r>
            <a:r>
              <a:rPr kumimoji="1" lang="ja-JP" altLang="en-US" dirty="0"/>
              <a:t>は量子化ノイズを完全に除去できると仮定</a:t>
            </a:r>
          </a:p>
        </p:txBody>
      </p:sp>
      <p:sp>
        <p:nvSpPr>
          <p:cNvPr id="4" name="スライド番号プレースホルダー 3">
            <a:extLst>
              <a:ext uri="{FF2B5EF4-FFF2-40B4-BE49-F238E27FC236}">
                <a16:creationId xmlns:a16="http://schemas.microsoft.com/office/drawing/2014/main" id="{6F25E92A-06B8-DA71-E824-C12B7A78316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4014287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E440EE6-D94C-7410-FC83-77969B13AB4E}"/>
              </a:ext>
            </a:extLst>
          </p:cNvPr>
          <p:cNvSpPr>
            <a:spLocks noGrp="1"/>
          </p:cNvSpPr>
          <p:nvPr>
            <p:ph type="title"/>
          </p:nvPr>
        </p:nvSpPr>
        <p:spPr/>
        <p:txBody>
          <a:bodyPr/>
          <a:lstStyle/>
          <a:p>
            <a:r>
              <a:rPr kumimoji="1" lang="en-US" altLang="ja-JP" dirty="0"/>
              <a:t>3.</a:t>
            </a:r>
            <a:r>
              <a:rPr kumimoji="1" lang="ja-JP" altLang="en-US" dirty="0"/>
              <a:t>解析</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241211B7-8F84-637D-2D6D-0EB7AC42A3C9}"/>
                  </a:ext>
                </a:extLst>
              </p:cNvPr>
              <p:cNvSpPr>
                <a:spLocks noGrp="1"/>
              </p:cNvSpPr>
              <p:nvPr>
                <p:ph idx="1"/>
              </p:nvPr>
            </p:nvSpPr>
            <p:spPr/>
            <p:txBody>
              <a:bodyPr/>
              <a:lstStyle/>
              <a:p>
                <a:r>
                  <a:rPr lang="en-US" altLang="ja-JP" dirty="0"/>
                  <a:t>Fractional-N</a:t>
                </a:r>
                <a:r>
                  <a:rPr lang="ja-JP" altLang="en-US" dirty="0"/>
                  <a:t>型はほぼ直線</a:t>
                </a:r>
                <a:endParaRPr lang="en-US" altLang="ja-JP" dirty="0"/>
              </a:p>
              <a:p>
                <a:r>
                  <a:rPr lang="ja-JP" altLang="en-US" dirty="0"/>
                  <a:t>量子化雑音</a:t>
                </a:r>
                <a14:m>
                  <m:oMath xmlns:m="http://schemas.openxmlformats.org/officeDocument/2006/math">
                    <m:r>
                      <a:rPr lang="ja-JP" altLang="en-US" i="1" smtClean="0">
                        <a:latin typeface="Cambria Math" panose="02040503050406030204" pitchFamily="18" charset="0"/>
                      </a:rPr>
                      <m:t>∝</m:t>
                    </m:r>
                    <m:sSubSup>
                      <m:sSubSupPr>
                        <m:ctrlPr>
                          <a:rPr lang="en-US" altLang="ja-JP" b="0" i="1" smtClean="0">
                            <a:latin typeface="Cambria Math" panose="02040503050406030204" pitchFamily="18" charset="0"/>
                          </a:rPr>
                        </m:ctrlPr>
                      </m:sSubSupPr>
                      <m:e>
                        <m:r>
                          <a:rPr lang="en-US" altLang="ja-JP" b="0" i="1" smtClean="0">
                            <a:latin typeface="Cambria Math" panose="02040503050406030204" pitchFamily="18" charset="0"/>
                          </a:rPr>
                          <m:t>𝑓</m:t>
                        </m:r>
                      </m:e>
                      <m:sub>
                        <m:r>
                          <m:rPr>
                            <m:sty m:val="p"/>
                          </m:rPr>
                          <a:rPr lang="en-US" altLang="ja-JP" b="0" i="0" smtClean="0">
                            <a:latin typeface="Cambria Math" panose="02040503050406030204" pitchFamily="18" charset="0"/>
                          </a:rPr>
                          <m:t>BW</m:t>
                        </m:r>
                      </m:sub>
                      <m:sup>
                        <m:r>
                          <a:rPr lang="en-US" altLang="ja-JP" b="0" i="1" smtClean="0">
                            <a:latin typeface="Cambria Math" panose="02040503050406030204" pitchFamily="18" charset="0"/>
                          </a:rPr>
                          <m:t>4</m:t>
                        </m:r>
                      </m:sup>
                    </m:sSubSup>
                  </m:oMath>
                </a14:m>
                <a:endParaRPr lang="en-US" altLang="ja-JP" dirty="0"/>
              </a:p>
              <a:p>
                <a:r>
                  <a:rPr kumimoji="1" lang="en-US" altLang="ja-JP" dirty="0"/>
                  <a:t>VCO</a:t>
                </a:r>
                <a:r>
                  <a:rPr kumimoji="1" lang="ja-JP" altLang="en-US" dirty="0"/>
                  <a:t>ノイズ</a:t>
                </a:r>
                <a14:m>
                  <m:oMath xmlns:m="http://schemas.openxmlformats.org/officeDocument/2006/math">
                    <m:r>
                      <a:rPr kumimoji="1" lang="ja-JP" altLang="en-US" i="1" smtClean="0">
                        <a:latin typeface="Cambria Math" panose="02040503050406030204" pitchFamily="18" charset="0"/>
                      </a:rPr>
                      <m:t>∝</m:t>
                    </m:r>
                    <m:r>
                      <a:rPr kumimoji="1" lang="en-US" altLang="ja-JP" b="0" i="1" smtClean="0">
                        <a:latin typeface="Cambria Math" panose="02040503050406030204" pitchFamily="18" charset="0"/>
                      </a:rPr>
                      <m:t>1/</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𝑃</m:t>
                        </m:r>
                      </m:e>
                      <m:sub>
                        <m:r>
                          <m:rPr>
                            <m:sty m:val="p"/>
                          </m:rPr>
                          <a:rPr kumimoji="1" lang="en-US" altLang="ja-JP" b="0" i="0" smtClean="0">
                            <a:latin typeface="Cambria Math" panose="02040503050406030204" pitchFamily="18" charset="0"/>
                          </a:rPr>
                          <m:t>VCO</m:t>
                        </m:r>
                      </m:sub>
                    </m:sSub>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𝑓</m:t>
                        </m:r>
                      </m:e>
                      <m:sub>
                        <m:r>
                          <m:rPr>
                            <m:sty m:val="p"/>
                          </m:rPr>
                          <a:rPr kumimoji="1" lang="en-US" altLang="ja-JP" b="0" i="0" smtClean="0">
                            <a:latin typeface="Cambria Math" panose="02040503050406030204" pitchFamily="18" charset="0"/>
                          </a:rPr>
                          <m:t>BW</m:t>
                        </m:r>
                      </m:sub>
                    </m:sSub>
                  </m:oMath>
                </a14:m>
                <a:endParaRPr kumimoji="1" lang="en-US" altLang="ja-JP" dirty="0"/>
              </a:p>
              <a:p>
                <a:r>
                  <a:rPr kumimoji="1" lang="ja-JP" altLang="en-US" dirty="0"/>
                  <a:t>相加相乗平均より</a:t>
                </a:r>
                <a14:m>
                  <m:oMath xmlns:m="http://schemas.openxmlformats.org/officeDocument/2006/math">
                    <m:sSub>
                      <m:sSubPr>
                        <m:ctrlPr>
                          <a:rPr kumimoji="1" lang="en-US" altLang="ja-JP" b="0" i="1" smtClean="0">
                            <a:latin typeface="Cambria Math" panose="02040503050406030204" pitchFamily="18" charset="0"/>
                            <a:ea typeface="Cambria Math" panose="02040503050406030204" pitchFamily="18" charset="0"/>
                          </a:rPr>
                        </m:ctrlPr>
                      </m:sSubPr>
                      <m:e>
                        <m:r>
                          <a:rPr kumimoji="1" lang="en-US" altLang="ja-JP" b="0" i="1" smtClean="0">
                            <a:latin typeface="Cambria Math" panose="02040503050406030204" pitchFamily="18" charset="0"/>
                            <a:ea typeface="Cambria Math" panose="02040503050406030204" pitchFamily="18" charset="0"/>
                          </a:rPr>
                          <m:t>𝑃</m:t>
                        </m:r>
                      </m:e>
                      <m:sub>
                        <m:r>
                          <m:rPr>
                            <m:sty m:val="p"/>
                          </m:rPr>
                          <a:rPr kumimoji="1" lang="en-US" altLang="ja-JP" b="0" i="0" smtClean="0">
                            <a:latin typeface="Cambria Math" panose="02040503050406030204" pitchFamily="18" charset="0"/>
                            <a:ea typeface="Cambria Math" panose="02040503050406030204" pitchFamily="18" charset="0"/>
                          </a:rPr>
                          <m:t>VCO</m:t>
                        </m:r>
                      </m:sub>
                    </m:sSub>
                    <m:r>
                      <a:rPr kumimoji="1" lang="en-US" altLang="ja-JP" i="1" smtClean="0">
                        <a:latin typeface="Cambria Math" panose="02040503050406030204" pitchFamily="18" charset="0"/>
                        <a:ea typeface="Cambria Math" panose="02040503050406030204" pitchFamily="18" charset="0"/>
                      </a:rPr>
                      <m:t>∝</m:t>
                    </m:r>
                    <m:sSubSup>
                      <m:sSubSupPr>
                        <m:ctrlPr>
                          <a:rPr kumimoji="1" lang="ja-JP" altLang="en-US" i="1" smtClean="0">
                            <a:latin typeface="Cambria Math" panose="02040503050406030204" pitchFamily="18" charset="0"/>
                            <a:ea typeface="Cambria Math" panose="02040503050406030204" pitchFamily="18" charset="0"/>
                          </a:rPr>
                        </m:ctrlPr>
                      </m:sSubSupPr>
                      <m:e>
                        <m:r>
                          <a:rPr kumimoji="1" lang="ja-JP" altLang="en-US" i="1" smtClean="0">
                            <a:latin typeface="Cambria Math" panose="02040503050406030204" pitchFamily="18" charset="0"/>
                            <a:ea typeface="Cambria Math" panose="02040503050406030204" pitchFamily="18" charset="0"/>
                          </a:rPr>
                          <m:t>𝜎</m:t>
                        </m:r>
                      </m:e>
                      <m:sub>
                        <m:r>
                          <a:rPr kumimoji="1" lang="en-US" altLang="ja-JP" b="0" i="1" smtClean="0">
                            <a:latin typeface="Cambria Math" panose="02040503050406030204" pitchFamily="18" charset="0"/>
                            <a:ea typeface="Cambria Math" panose="02040503050406030204" pitchFamily="18" charset="0"/>
                          </a:rPr>
                          <m:t>𝑗</m:t>
                        </m:r>
                      </m:sub>
                      <m:sup>
                        <m:r>
                          <a:rPr kumimoji="1" lang="en-US" altLang="ja-JP" b="0" i="1" smtClean="0">
                            <a:latin typeface="Cambria Math" panose="02040503050406030204" pitchFamily="18" charset="0"/>
                            <a:ea typeface="Cambria Math" panose="02040503050406030204" pitchFamily="18" charset="0"/>
                          </a:rPr>
                          <m:t>2.5</m:t>
                        </m:r>
                      </m:sup>
                    </m:sSubSup>
                  </m:oMath>
                </a14:m>
                <a:endParaRPr kumimoji="1" lang="en-US" altLang="ja-JP" dirty="0"/>
              </a:p>
            </p:txBody>
          </p:sp>
        </mc:Choice>
        <mc:Fallback xmlns="">
          <p:sp>
            <p:nvSpPr>
              <p:cNvPr id="3" name="コンテンツ プレースホルダー 2">
                <a:extLst>
                  <a:ext uri="{FF2B5EF4-FFF2-40B4-BE49-F238E27FC236}">
                    <a16:creationId xmlns:a16="http://schemas.microsoft.com/office/drawing/2014/main" id="{241211B7-8F84-637D-2D6D-0EB7AC42A3C9}"/>
                  </a:ext>
                </a:extLst>
              </p:cNvPr>
              <p:cNvSpPr>
                <a:spLocks noGrp="1" noRot="1" noChangeAspect="1" noMove="1" noResize="1" noEditPoints="1" noAdjustHandles="1" noChangeArrowheads="1" noChangeShapeType="1" noTextEdit="1"/>
              </p:cNvSpPr>
              <p:nvPr>
                <p:ph idx="1"/>
              </p:nvPr>
            </p:nvSpPr>
            <p:spPr>
              <a:blipFill>
                <a:blip r:embed="rId2"/>
                <a:stretch>
                  <a:fillRect l="-1043" t="-2521"/>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F791F813-C5F3-E3D4-5796-78B8C7AAA44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pic>
        <p:nvPicPr>
          <p:cNvPr id="6" name="図 5">
            <a:extLst>
              <a:ext uri="{FF2B5EF4-FFF2-40B4-BE49-F238E27FC236}">
                <a16:creationId xmlns:a16="http://schemas.microsoft.com/office/drawing/2014/main" id="{18024EF1-B448-A8C0-2650-882ACF8E6C4E}"/>
              </a:ext>
            </a:extLst>
          </p:cNvPr>
          <p:cNvPicPr>
            <a:picLocks noChangeAspect="1"/>
          </p:cNvPicPr>
          <p:nvPr/>
        </p:nvPicPr>
        <p:blipFill>
          <a:blip r:embed="rId3"/>
          <a:stretch>
            <a:fillRect/>
          </a:stretch>
        </p:blipFill>
        <p:spPr>
          <a:xfrm>
            <a:off x="6885439" y="1570035"/>
            <a:ext cx="5126721" cy="4680919"/>
          </a:xfrm>
          <a:prstGeom prst="rect">
            <a:avLst/>
          </a:prstGeom>
        </p:spPr>
      </p:pic>
    </p:spTree>
    <p:extLst>
      <p:ext uri="{BB962C8B-B14F-4D97-AF65-F5344CB8AC3E}">
        <p14:creationId xmlns:p14="http://schemas.microsoft.com/office/powerpoint/2010/main" val="13391625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ACA47-83D7-5B06-66EB-DAB8F6FBED5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C47E0E7-0AFB-221E-9B65-5FD6BE029A24}"/>
              </a:ext>
            </a:extLst>
          </p:cNvPr>
          <p:cNvSpPr>
            <a:spLocks noGrp="1"/>
          </p:cNvSpPr>
          <p:nvPr>
            <p:ph type="title"/>
          </p:nvPr>
        </p:nvSpPr>
        <p:spPr/>
        <p:txBody>
          <a:bodyPr/>
          <a:lstStyle/>
          <a:p>
            <a:r>
              <a:rPr kumimoji="1" lang="en-US" altLang="ja-JP" dirty="0"/>
              <a:t>3.</a:t>
            </a:r>
            <a:r>
              <a:rPr kumimoji="1" lang="ja-JP" altLang="en-US" dirty="0"/>
              <a:t>解析</a:t>
            </a:r>
          </a:p>
        </p:txBody>
      </p:sp>
      <p:sp>
        <p:nvSpPr>
          <p:cNvPr id="3" name="コンテンツ プレースホルダー 2">
            <a:extLst>
              <a:ext uri="{FF2B5EF4-FFF2-40B4-BE49-F238E27FC236}">
                <a16:creationId xmlns:a16="http://schemas.microsoft.com/office/drawing/2014/main" id="{392B16A7-9268-51AE-DD91-A8D90F8F74D3}"/>
              </a:ext>
            </a:extLst>
          </p:cNvPr>
          <p:cNvSpPr>
            <a:spLocks noGrp="1"/>
          </p:cNvSpPr>
          <p:nvPr>
            <p:ph idx="1"/>
          </p:nvPr>
        </p:nvSpPr>
        <p:spPr/>
        <p:txBody>
          <a:bodyPr/>
          <a:lstStyle/>
          <a:p>
            <a:r>
              <a:rPr lang="en-US" altLang="ja-JP" dirty="0"/>
              <a:t>DTC</a:t>
            </a:r>
            <a:r>
              <a:rPr lang="ja-JP" altLang="en-US" dirty="0"/>
              <a:t>型、</a:t>
            </a:r>
            <a:r>
              <a:rPr lang="en-US" altLang="ja-JP" dirty="0"/>
              <a:t>HM</a:t>
            </a:r>
            <a:r>
              <a:rPr lang="ja-JP" altLang="en-US" dirty="0"/>
              <a:t>型について</a:t>
            </a:r>
            <a:endParaRPr lang="en-US" altLang="ja-JP" dirty="0"/>
          </a:p>
          <a:p>
            <a:endParaRPr kumimoji="1" lang="en-US" altLang="ja-JP" dirty="0"/>
          </a:p>
          <a:p>
            <a:r>
              <a:rPr lang="ja-JP" altLang="en-US" dirty="0"/>
              <a:t>高電力では特有のノイズが軽減</a:t>
            </a:r>
            <a:br>
              <a:rPr lang="en-US" altLang="ja-JP" dirty="0"/>
            </a:br>
            <a:r>
              <a:rPr lang="ja-JP" altLang="en-US" dirty="0"/>
              <a:t>→</a:t>
            </a:r>
            <a:r>
              <a:rPr lang="en-US" altLang="ja-JP" dirty="0"/>
              <a:t>Integer-N</a:t>
            </a:r>
            <a:r>
              <a:rPr lang="ja-JP" altLang="en-US" dirty="0"/>
              <a:t>とほぼ同一性能</a:t>
            </a:r>
            <a:endParaRPr lang="en-US" altLang="ja-JP" dirty="0"/>
          </a:p>
          <a:p>
            <a:endParaRPr kumimoji="1" lang="en-US" altLang="ja-JP" dirty="0"/>
          </a:p>
          <a:p>
            <a:r>
              <a:rPr lang="ja-JP" altLang="en-US" dirty="0"/>
              <a:t>低電力では</a:t>
            </a:r>
            <a:r>
              <a:rPr lang="en-US" altLang="ja-JP" dirty="0"/>
              <a:t>DTC/HM</a:t>
            </a:r>
            <a:r>
              <a:rPr lang="ja-JP" altLang="en-US" dirty="0"/>
              <a:t>の電力が不足</a:t>
            </a:r>
            <a:br>
              <a:rPr lang="en-US" altLang="ja-JP" dirty="0"/>
            </a:br>
            <a:r>
              <a:rPr lang="ja-JP" altLang="en-US" dirty="0"/>
              <a:t>→性能が劣化し</a:t>
            </a:r>
            <a:r>
              <a:rPr lang="en-US" altLang="ja-JP" dirty="0"/>
              <a:t>Frac-N</a:t>
            </a:r>
            <a:r>
              <a:rPr lang="ja-JP" altLang="en-US" dirty="0"/>
              <a:t>に近づく</a:t>
            </a:r>
            <a:endParaRPr kumimoji="1" lang="en-US" altLang="ja-JP" dirty="0"/>
          </a:p>
        </p:txBody>
      </p:sp>
      <p:sp>
        <p:nvSpPr>
          <p:cNvPr id="4" name="スライド番号プレースホルダー 3">
            <a:extLst>
              <a:ext uri="{FF2B5EF4-FFF2-40B4-BE49-F238E27FC236}">
                <a16:creationId xmlns:a16="http://schemas.microsoft.com/office/drawing/2014/main" id="{4DD32D88-3B9C-AD47-AA80-B5E3B434DE6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pic>
        <p:nvPicPr>
          <p:cNvPr id="6" name="図 5">
            <a:extLst>
              <a:ext uri="{FF2B5EF4-FFF2-40B4-BE49-F238E27FC236}">
                <a16:creationId xmlns:a16="http://schemas.microsoft.com/office/drawing/2014/main" id="{4DC6E503-F311-943F-4729-A4BBDCC623FB}"/>
              </a:ext>
            </a:extLst>
          </p:cNvPr>
          <p:cNvPicPr>
            <a:picLocks noChangeAspect="1"/>
          </p:cNvPicPr>
          <p:nvPr/>
        </p:nvPicPr>
        <p:blipFill>
          <a:blip r:embed="rId2"/>
          <a:stretch>
            <a:fillRect/>
          </a:stretch>
        </p:blipFill>
        <p:spPr>
          <a:xfrm>
            <a:off x="6885439" y="1570035"/>
            <a:ext cx="5126721" cy="4680919"/>
          </a:xfrm>
          <a:prstGeom prst="rect">
            <a:avLst/>
          </a:prstGeom>
        </p:spPr>
      </p:pic>
    </p:spTree>
    <p:extLst>
      <p:ext uri="{BB962C8B-B14F-4D97-AF65-F5344CB8AC3E}">
        <p14:creationId xmlns:p14="http://schemas.microsoft.com/office/powerpoint/2010/main" val="5656326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7C774-670D-FEF5-F70E-18AEF314758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36B4F99-C7ED-9472-BFE0-40F01A2C1BDE}"/>
              </a:ext>
            </a:extLst>
          </p:cNvPr>
          <p:cNvSpPr>
            <a:spLocks noGrp="1"/>
          </p:cNvSpPr>
          <p:nvPr>
            <p:ph type="title"/>
          </p:nvPr>
        </p:nvSpPr>
        <p:spPr/>
        <p:txBody>
          <a:bodyPr/>
          <a:lstStyle/>
          <a:p>
            <a:r>
              <a:rPr kumimoji="1" lang="en-US" altLang="ja-JP" dirty="0"/>
              <a:t>3.</a:t>
            </a:r>
            <a:r>
              <a:rPr kumimoji="1" lang="ja-JP" altLang="en-US" dirty="0"/>
              <a:t>解析</a:t>
            </a:r>
          </a:p>
        </p:txBody>
      </p:sp>
      <p:sp>
        <p:nvSpPr>
          <p:cNvPr id="3" name="コンテンツ プレースホルダー 2">
            <a:extLst>
              <a:ext uri="{FF2B5EF4-FFF2-40B4-BE49-F238E27FC236}">
                <a16:creationId xmlns:a16="http://schemas.microsoft.com/office/drawing/2014/main" id="{B0F648E4-F50F-0E56-09AC-5F9A4137D12D}"/>
              </a:ext>
            </a:extLst>
          </p:cNvPr>
          <p:cNvSpPr>
            <a:spLocks noGrp="1"/>
          </p:cNvSpPr>
          <p:nvPr>
            <p:ph idx="1"/>
          </p:nvPr>
        </p:nvSpPr>
        <p:spPr/>
        <p:txBody>
          <a:bodyPr/>
          <a:lstStyle/>
          <a:p>
            <a:r>
              <a:rPr lang="en-US" altLang="ja-JP" dirty="0"/>
              <a:t>PD</a:t>
            </a:r>
            <a:r>
              <a:rPr lang="ja-JP" altLang="en-US" dirty="0"/>
              <a:t>や</a:t>
            </a:r>
            <a:r>
              <a:rPr lang="en-US" altLang="ja-JP" dirty="0"/>
              <a:t>HM</a:t>
            </a:r>
            <a:r>
              <a:rPr lang="ja-JP" altLang="en-US" dirty="0"/>
              <a:t>ミキサの消費電力、ノイズ</a:t>
            </a:r>
            <a:br>
              <a:rPr lang="en-US" altLang="ja-JP" dirty="0"/>
            </a:br>
            <a:r>
              <a:rPr lang="ja-JP" altLang="en-US" dirty="0"/>
              <a:t>を含めたグラフ</a:t>
            </a:r>
            <a:endParaRPr lang="en-US" altLang="ja-JP" dirty="0"/>
          </a:p>
          <a:p>
            <a:endParaRPr kumimoji="1" lang="en-US" altLang="ja-JP" dirty="0"/>
          </a:p>
          <a:p>
            <a:r>
              <a:rPr lang="ja-JP" altLang="en-US" dirty="0"/>
              <a:t>高電力帯はほぼ変化無し</a:t>
            </a:r>
            <a:endParaRPr lang="en-US" altLang="ja-JP" dirty="0"/>
          </a:p>
          <a:p>
            <a:endParaRPr kumimoji="1" lang="en-US" altLang="ja-JP" dirty="0"/>
          </a:p>
          <a:p>
            <a:r>
              <a:rPr lang="ja-JP" altLang="en-US" dirty="0"/>
              <a:t>低電力帯では、含めた電力の分</a:t>
            </a:r>
            <a:br>
              <a:rPr lang="en-US" altLang="ja-JP" dirty="0"/>
            </a:br>
            <a:r>
              <a:rPr lang="ja-JP" altLang="en-US" dirty="0"/>
              <a:t>全体の消費電力が飽和</a:t>
            </a:r>
            <a:endParaRPr kumimoji="1" lang="en-US" altLang="ja-JP" dirty="0"/>
          </a:p>
        </p:txBody>
      </p:sp>
      <p:sp>
        <p:nvSpPr>
          <p:cNvPr id="4" name="スライド番号プレースホルダー 3">
            <a:extLst>
              <a:ext uri="{FF2B5EF4-FFF2-40B4-BE49-F238E27FC236}">
                <a16:creationId xmlns:a16="http://schemas.microsoft.com/office/drawing/2014/main" id="{246D6A55-03B9-8F9B-A751-408225CE2D9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pic>
        <p:nvPicPr>
          <p:cNvPr id="6" name="図 5">
            <a:extLst>
              <a:ext uri="{FF2B5EF4-FFF2-40B4-BE49-F238E27FC236}">
                <a16:creationId xmlns:a16="http://schemas.microsoft.com/office/drawing/2014/main" id="{7719F8CD-FBDB-036A-E446-0F5DF28091F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885439" y="1600072"/>
            <a:ext cx="5126721" cy="4620844"/>
          </a:xfrm>
          <a:prstGeom prst="rect">
            <a:avLst/>
          </a:prstGeom>
        </p:spPr>
      </p:pic>
    </p:spTree>
    <p:extLst>
      <p:ext uri="{BB962C8B-B14F-4D97-AF65-F5344CB8AC3E}">
        <p14:creationId xmlns:p14="http://schemas.microsoft.com/office/powerpoint/2010/main" val="12002491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CE692-5795-C6D1-8262-5892D074CB0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53FD123-F775-9EE5-8724-AF2102AFBF61}"/>
              </a:ext>
            </a:extLst>
          </p:cNvPr>
          <p:cNvSpPr>
            <a:spLocks noGrp="1"/>
          </p:cNvSpPr>
          <p:nvPr>
            <p:ph type="ctrTitle"/>
          </p:nvPr>
        </p:nvSpPr>
        <p:spPr/>
        <p:txBody>
          <a:bodyPr/>
          <a:lstStyle/>
          <a:p>
            <a:r>
              <a:rPr lang="ja-JP" altLang="en-US" dirty="0">
                <a:solidFill>
                  <a:schemeClr val="tx1"/>
                </a:solidFill>
              </a:rPr>
              <a:t>進捗報告 </a:t>
            </a:r>
            <a:r>
              <a:rPr lang="en-US" altLang="ja-JP" dirty="0">
                <a:solidFill>
                  <a:schemeClr val="tx1"/>
                </a:solidFill>
              </a:rPr>
              <a:t>05/20</a:t>
            </a:r>
            <a:endParaRPr kumimoji="1" lang="ja-JP" altLang="en-US" dirty="0">
              <a:solidFill>
                <a:schemeClr val="tx1"/>
              </a:solidFill>
            </a:endParaRPr>
          </a:p>
        </p:txBody>
      </p:sp>
      <p:sp>
        <p:nvSpPr>
          <p:cNvPr id="3" name="字幕 2">
            <a:extLst>
              <a:ext uri="{FF2B5EF4-FFF2-40B4-BE49-F238E27FC236}">
                <a16:creationId xmlns:a16="http://schemas.microsoft.com/office/drawing/2014/main" id="{D25B5251-DFE9-71A6-0636-6A2E66C4BA17}"/>
              </a:ext>
            </a:extLst>
          </p:cNvPr>
          <p:cNvSpPr>
            <a:spLocks noGrp="1"/>
          </p:cNvSpPr>
          <p:nvPr>
            <p:ph type="subTitle" idx="1"/>
          </p:nvPr>
        </p:nvSpPr>
        <p:spPr/>
        <p:txBody>
          <a:bodyPr/>
          <a:lstStyle/>
          <a:p>
            <a:r>
              <a:rPr lang="en-US" altLang="ja-JP" dirty="0"/>
              <a:t>B4</a:t>
            </a:r>
            <a:r>
              <a:rPr lang="ja-JP" altLang="en-US" dirty="0"/>
              <a:t>　福島幸弥</a:t>
            </a:r>
            <a:endParaRPr kumimoji="1" lang="ja-JP" altLang="en-US" dirty="0"/>
          </a:p>
        </p:txBody>
      </p:sp>
    </p:spTree>
    <p:extLst>
      <p:ext uri="{BB962C8B-B14F-4D97-AF65-F5344CB8AC3E}">
        <p14:creationId xmlns:p14="http://schemas.microsoft.com/office/powerpoint/2010/main" val="26196946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F661A-11E2-6C06-5D97-FD7D08DE31C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E480B37-F611-721F-A0D3-19549F99C51E}"/>
              </a:ext>
            </a:extLst>
          </p:cNvPr>
          <p:cNvSpPr>
            <a:spLocks noGrp="1"/>
          </p:cNvSpPr>
          <p:nvPr>
            <p:ph type="title"/>
          </p:nvPr>
        </p:nvSpPr>
        <p:spPr/>
        <p:txBody>
          <a:bodyPr/>
          <a:lstStyle/>
          <a:p>
            <a:r>
              <a:rPr lang="ja-JP" altLang="en-US" dirty="0"/>
              <a:t>行ったこと</a:t>
            </a:r>
            <a:endParaRPr kumimoji="1" lang="ja-JP" altLang="en-US" dirty="0"/>
          </a:p>
        </p:txBody>
      </p:sp>
      <p:sp>
        <p:nvSpPr>
          <p:cNvPr id="3" name="コンテンツ プレースホルダー 2">
            <a:extLst>
              <a:ext uri="{FF2B5EF4-FFF2-40B4-BE49-F238E27FC236}">
                <a16:creationId xmlns:a16="http://schemas.microsoft.com/office/drawing/2014/main" id="{A1996A4B-2932-A0CF-FDAD-7DC75FE13F3A}"/>
              </a:ext>
            </a:extLst>
          </p:cNvPr>
          <p:cNvSpPr>
            <a:spLocks noGrp="1"/>
          </p:cNvSpPr>
          <p:nvPr>
            <p:ph idx="1"/>
          </p:nvPr>
        </p:nvSpPr>
        <p:spPr/>
        <p:txBody>
          <a:bodyPr/>
          <a:lstStyle/>
          <a:p>
            <a:r>
              <a:rPr lang="en-US" altLang="ja-JP" dirty="0"/>
              <a:t>Optimization of DTC-Based and Harmonic-Mixer-Based Fractional-N PLLs: Comparative Analysis of Jitter and Power Trade-Offs(Yuyang Zhu et al. 2025)</a:t>
            </a:r>
            <a:r>
              <a:rPr lang="ja-JP" altLang="en-US" dirty="0"/>
              <a:t> の</a:t>
            </a:r>
            <a:r>
              <a:rPr lang="en-US" altLang="ja-JP" dirty="0"/>
              <a:t>Fig 5</a:t>
            </a:r>
            <a:r>
              <a:rPr lang="ja-JP" altLang="en-US" dirty="0"/>
              <a:t>を再現</a:t>
            </a:r>
            <a:endParaRPr lang="en-US" altLang="ja-JP" dirty="0"/>
          </a:p>
          <a:p>
            <a:endParaRPr lang="en-US" altLang="ja-JP" dirty="0"/>
          </a:p>
          <a:p>
            <a:endParaRPr lang="en-US" altLang="ja-JP" dirty="0"/>
          </a:p>
          <a:p>
            <a:endParaRPr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F5394022-38A5-B411-53FA-5E0F8DD97FA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40598621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E9A95-81F2-7C1A-874D-057221E7142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549006A-7AB2-1B43-7A51-B707CE4C6204}"/>
              </a:ext>
            </a:extLst>
          </p:cNvPr>
          <p:cNvSpPr>
            <a:spLocks noGrp="1"/>
          </p:cNvSpPr>
          <p:nvPr>
            <p:ph type="title"/>
          </p:nvPr>
        </p:nvSpPr>
        <p:spPr/>
        <p:txBody>
          <a:bodyPr/>
          <a:lstStyle/>
          <a:p>
            <a:r>
              <a:rPr lang="ja-JP" altLang="en-US"/>
              <a:t>行った</a:t>
            </a:r>
            <a:r>
              <a:rPr lang="ja-JP" altLang="en-US" dirty="0"/>
              <a:t>こと</a:t>
            </a:r>
            <a:endParaRPr kumimoji="1" lang="ja-JP" altLang="en-US" dirty="0"/>
          </a:p>
        </p:txBody>
      </p:sp>
      <p:sp>
        <p:nvSpPr>
          <p:cNvPr id="3" name="コンテンツ プレースホルダー 2">
            <a:extLst>
              <a:ext uri="{FF2B5EF4-FFF2-40B4-BE49-F238E27FC236}">
                <a16:creationId xmlns:a16="http://schemas.microsoft.com/office/drawing/2014/main" id="{6A1B6159-40AA-2ABD-6BAE-345E448E50F6}"/>
              </a:ext>
            </a:extLst>
          </p:cNvPr>
          <p:cNvSpPr>
            <a:spLocks noGrp="1"/>
          </p:cNvSpPr>
          <p:nvPr>
            <p:ph idx="1"/>
          </p:nvPr>
        </p:nvSpPr>
        <p:spPr/>
        <p:txBody>
          <a:bodyPr/>
          <a:lstStyle/>
          <a:p>
            <a:r>
              <a:rPr lang="ja-JP" altLang="en-US" dirty="0"/>
              <a:t>同論文に従い、個体数</a:t>
            </a:r>
            <a:r>
              <a:rPr lang="en-US" altLang="ja-JP" dirty="0"/>
              <a:t>500</a:t>
            </a:r>
            <a:r>
              <a:rPr lang="ja-JP" altLang="en-US" dirty="0"/>
              <a:t>、世代数</a:t>
            </a:r>
            <a:r>
              <a:rPr lang="en-US" altLang="ja-JP" dirty="0"/>
              <a:t>300</a:t>
            </a:r>
            <a:r>
              <a:rPr lang="ja-JP" altLang="en-US" dirty="0"/>
              <a:t>でシミュレーション</a:t>
            </a:r>
            <a:endParaRPr lang="en-US" altLang="ja-JP" dirty="0"/>
          </a:p>
          <a:p>
            <a:endParaRPr lang="en-US" altLang="ja-JP" dirty="0"/>
          </a:p>
          <a:p>
            <a:r>
              <a:rPr lang="ja-JP" altLang="en-US" dirty="0"/>
              <a:t>パラメータは</a:t>
            </a:r>
            <a:r>
              <a:rPr lang="en-US" altLang="ja-JP" dirty="0"/>
              <a:t>TABLE Ⅱ</a:t>
            </a:r>
            <a:r>
              <a:rPr lang="ja-JP" altLang="en-US" dirty="0"/>
              <a:t>に記載のものをそのまま使用</a:t>
            </a:r>
            <a:endParaRPr lang="en-US" altLang="ja-JP" dirty="0"/>
          </a:p>
          <a:p>
            <a:endParaRPr lang="en-US" altLang="ja-JP" dirty="0"/>
          </a:p>
          <a:p>
            <a:endParaRPr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C568CAE3-06EC-4A23-6648-993BCABB2AE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pic>
        <p:nvPicPr>
          <p:cNvPr id="6" name="図 5">
            <a:extLst>
              <a:ext uri="{FF2B5EF4-FFF2-40B4-BE49-F238E27FC236}">
                <a16:creationId xmlns:a16="http://schemas.microsoft.com/office/drawing/2014/main" id="{66E09DEF-9365-E196-E72C-A858E47CEC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852853"/>
            <a:ext cx="12192000" cy="1851949"/>
          </a:xfrm>
          <a:prstGeom prst="rect">
            <a:avLst/>
          </a:prstGeom>
        </p:spPr>
      </p:pic>
    </p:spTree>
    <p:extLst>
      <p:ext uri="{BB962C8B-B14F-4D97-AF65-F5344CB8AC3E}">
        <p14:creationId xmlns:p14="http://schemas.microsoft.com/office/powerpoint/2010/main" val="11100802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9A2BA56D-B04B-672C-B881-87016F4B8ADC}"/>
              </a:ext>
            </a:extLst>
          </p:cNvPr>
          <p:cNvSpPr>
            <a:spLocks noGrp="1"/>
          </p:cNvSpPr>
          <p:nvPr>
            <p:ph type="title"/>
          </p:nvPr>
        </p:nvSpPr>
        <p:spPr/>
        <p:txBody>
          <a:bodyPr/>
          <a:lstStyle/>
          <a:p>
            <a:r>
              <a:rPr lang="en-US" altLang="ja-JP" dirty="0"/>
              <a:t>PLL</a:t>
            </a:r>
            <a:r>
              <a:rPr lang="ja-JP" altLang="en-US" dirty="0"/>
              <a:t>の比較</a:t>
            </a:r>
          </a:p>
        </p:txBody>
      </p:sp>
      <p:sp>
        <p:nvSpPr>
          <p:cNvPr id="6" name="テキスト プレースホルダー 5">
            <a:extLst>
              <a:ext uri="{FF2B5EF4-FFF2-40B4-BE49-F238E27FC236}">
                <a16:creationId xmlns:a16="http://schemas.microsoft.com/office/drawing/2014/main" id="{15A7039F-B105-AC7D-F72B-48CEFBC10B6F}"/>
              </a:ext>
            </a:extLst>
          </p:cNvPr>
          <p:cNvSpPr>
            <a:spLocks noGrp="1"/>
          </p:cNvSpPr>
          <p:nvPr>
            <p:ph type="body" idx="1"/>
          </p:nvPr>
        </p:nvSpPr>
        <p:spPr/>
        <p:txBody>
          <a:bodyPr/>
          <a:lstStyle/>
          <a:p>
            <a:r>
              <a:rPr lang="ja-JP" altLang="en-US" dirty="0"/>
              <a:t>論文　</a:t>
            </a:r>
            <a:r>
              <a:rPr lang="en-US" altLang="ja-JP" dirty="0"/>
              <a:t>Fig. 5.</a:t>
            </a:r>
            <a:endParaRPr lang="ja-JP" altLang="en-US" dirty="0"/>
          </a:p>
        </p:txBody>
      </p:sp>
      <p:sp>
        <p:nvSpPr>
          <p:cNvPr id="8" name="テキスト プレースホルダー 7">
            <a:extLst>
              <a:ext uri="{FF2B5EF4-FFF2-40B4-BE49-F238E27FC236}">
                <a16:creationId xmlns:a16="http://schemas.microsoft.com/office/drawing/2014/main" id="{B3D6371A-E1F6-2794-BE51-4E9E035EE26D}"/>
              </a:ext>
            </a:extLst>
          </p:cNvPr>
          <p:cNvSpPr>
            <a:spLocks noGrp="1"/>
          </p:cNvSpPr>
          <p:nvPr>
            <p:ph type="body" sz="quarter" idx="3"/>
          </p:nvPr>
        </p:nvSpPr>
        <p:spPr/>
        <p:txBody>
          <a:bodyPr/>
          <a:lstStyle/>
          <a:p>
            <a:r>
              <a:rPr lang="ja-JP" altLang="en-US" dirty="0"/>
              <a:t>今回作成したもの</a:t>
            </a:r>
          </a:p>
        </p:txBody>
      </p:sp>
      <p:pic>
        <p:nvPicPr>
          <p:cNvPr id="12" name="コンテンツ プレースホルダー 11">
            <a:extLst>
              <a:ext uri="{FF2B5EF4-FFF2-40B4-BE49-F238E27FC236}">
                <a16:creationId xmlns:a16="http://schemas.microsoft.com/office/drawing/2014/main" id="{E4D7F41F-4C0E-84F5-92B3-818601153966}"/>
              </a:ext>
            </a:extLst>
          </p:cNvPr>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6096000" y="2528235"/>
            <a:ext cx="5590987" cy="4193240"/>
          </a:xfrm>
          <a:prstGeom prst="rect">
            <a:avLst/>
          </a:prstGeom>
        </p:spPr>
      </p:pic>
      <p:sp>
        <p:nvSpPr>
          <p:cNvPr id="4" name="スライド番号プレースホルダー 3">
            <a:extLst>
              <a:ext uri="{FF2B5EF4-FFF2-40B4-BE49-F238E27FC236}">
                <a16:creationId xmlns:a16="http://schemas.microsoft.com/office/drawing/2014/main" id="{07A2E615-11AD-C0E0-F293-F10E69A38AA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pic>
        <p:nvPicPr>
          <p:cNvPr id="10" name="コンテンツ プレースホルダー 9">
            <a:extLst>
              <a:ext uri="{FF2B5EF4-FFF2-40B4-BE49-F238E27FC236}">
                <a16:creationId xmlns:a16="http://schemas.microsoft.com/office/drawing/2014/main" id="{FB7DF95F-ED8C-B86A-A0A6-94DAF48EB741}"/>
              </a:ext>
            </a:extLst>
          </p:cNvPr>
          <p:cNvPicPr>
            <a:picLocks noGrp="1" noChangeAspect="1"/>
          </p:cNvPicPr>
          <p:nvPr>
            <p:ph sz="half" idx="2"/>
          </p:nvPr>
        </p:nvPicPr>
        <p:blipFill>
          <a:blip r:embed="rId3"/>
          <a:stretch>
            <a:fillRect/>
          </a:stretch>
        </p:blipFill>
        <p:spPr>
          <a:xfrm>
            <a:off x="836612" y="2505075"/>
            <a:ext cx="4617962" cy="4216400"/>
          </a:xfrm>
          <a:prstGeom prst="rect">
            <a:avLst/>
          </a:prstGeom>
        </p:spPr>
      </p:pic>
    </p:spTree>
    <p:extLst>
      <p:ext uri="{BB962C8B-B14F-4D97-AF65-F5344CB8AC3E}">
        <p14:creationId xmlns:p14="http://schemas.microsoft.com/office/powerpoint/2010/main" val="23701804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B8E783-287E-E429-B192-28C2F182BF35}"/>
              </a:ext>
            </a:extLst>
          </p:cNvPr>
          <p:cNvSpPr>
            <a:spLocks noGrp="1"/>
          </p:cNvSpPr>
          <p:nvPr>
            <p:ph type="title"/>
          </p:nvPr>
        </p:nvSpPr>
        <p:spPr/>
        <p:txBody>
          <a:bodyPr/>
          <a:lstStyle/>
          <a:p>
            <a:r>
              <a:rPr kumimoji="1" lang="en-US" altLang="ja-JP" dirty="0"/>
              <a:t>PLL</a:t>
            </a:r>
            <a:r>
              <a:rPr kumimoji="1" lang="ja-JP" altLang="en-US" dirty="0"/>
              <a:t>の比較</a:t>
            </a:r>
          </a:p>
        </p:txBody>
      </p:sp>
      <p:sp>
        <p:nvSpPr>
          <p:cNvPr id="3" name="コンテンツ プレースホルダー 2">
            <a:extLst>
              <a:ext uri="{FF2B5EF4-FFF2-40B4-BE49-F238E27FC236}">
                <a16:creationId xmlns:a16="http://schemas.microsoft.com/office/drawing/2014/main" id="{1C093C64-738A-AC59-8050-89F3A79D66B4}"/>
              </a:ext>
            </a:extLst>
          </p:cNvPr>
          <p:cNvSpPr>
            <a:spLocks noGrp="1"/>
          </p:cNvSpPr>
          <p:nvPr>
            <p:ph idx="1"/>
          </p:nvPr>
        </p:nvSpPr>
        <p:spPr/>
        <p:txBody>
          <a:bodyPr/>
          <a:lstStyle/>
          <a:p>
            <a:r>
              <a:rPr kumimoji="1" lang="en-US" altLang="ja-JP" dirty="0"/>
              <a:t>Fractional-N</a:t>
            </a:r>
            <a:r>
              <a:rPr kumimoji="1" lang="ja-JP" altLang="en-US" dirty="0"/>
              <a:t>型だけ、明らかに実行速度が遅い</a:t>
            </a:r>
            <a:endParaRPr kumimoji="1" lang="en-US" altLang="ja-JP" dirty="0"/>
          </a:p>
          <a:p>
            <a:endParaRPr lang="en-US" altLang="ja-JP" dirty="0"/>
          </a:p>
          <a:p>
            <a:r>
              <a:rPr kumimoji="1" lang="ja-JP" altLang="en-US" dirty="0"/>
              <a:t>他の</a:t>
            </a:r>
            <a:r>
              <a:rPr kumimoji="1" lang="en-US" altLang="ja-JP" dirty="0"/>
              <a:t>PLL</a:t>
            </a:r>
            <a:r>
              <a:rPr lang="ja-JP" altLang="en-US" dirty="0"/>
              <a:t>は実行時間</a:t>
            </a:r>
            <a:r>
              <a:rPr lang="en-US" altLang="ja-JP" dirty="0"/>
              <a:t>5</a:t>
            </a:r>
            <a:r>
              <a:rPr lang="ja-JP" altLang="en-US" dirty="0"/>
              <a:t>分前後、</a:t>
            </a:r>
            <a:r>
              <a:rPr lang="en-US" altLang="ja-JP" dirty="0"/>
              <a:t>Frac-N</a:t>
            </a:r>
            <a:r>
              <a:rPr lang="ja-JP" altLang="en-US" dirty="0"/>
              <a:t>は</a:t>
            </a:r>
            <a:r>
              <a:rPr lang="en-US" altLang="ja-JP" dirty="0"/>
              <a:t>1</a:t>
            </a:r>
            <a:r>
              <a:rPr lang="ja-JP" altLang="en-US" dirty="0"/>
              <a:t>時間強かかる</a:t>
            </a:r>
            <a:endParaRPr lang="en-US" altLang="ja-JP" dirty="0"/>
          </a:p>
          <a:p>
            <a:endParaRPr kumimoji="1" lang="en-US" altLang="ja-JP" dirty="0"/>
          </a:p>
          <a:p>
            <a:r>
              <a:rPr kumimoji="1" lang="ja-JP" altLang="en-US" dirty="0"/>
              <a:t>構造の複雑さなら、</a:t>
            </a:r>
            <a:r>
              <a:rPr kumimoji="1" lang="en-US" altLang="ja-JP" dirty="0"/>
              <a:t>DTC</a:t>
            </a:r>
            <a:r>
              <a:rPr kumimoji="1" lang="ja-JP" altLang="en-US" dirty="0"/>
              <a:t>型や</a:t>
            </a:r>
            <a:r>
              <a:rPr kumimoji="1" lang="en-US" altLang="ja-JP" dirty="0"/>
              <a:t>HM</a:t>
            </a:r>
            <a:r>
              <a:rPr kumimoji="1" lang="ja-JP" altLang="en-US" dirty="0"/>
              <a:t>型の方が遅くなるはず</a:t>
            </a:r>
            <a:endParaRPr kumimoji="1" lang="en-US" altLang="ja-JP" dirty="0"/>
          </a:p>
        </p:txBody>
      </p:sp>
      <p:sp>
        <p:nvSpPr>
          <p:cNvPr id="4" name="スライド番号プレースホルダー 3">
            <a:extLst>
              <a:ext uri="{FF2B5EF4-FFF2-40B4-BE49-F238E27FC236}">
                <a16:creationId xmlns:a16="http://schemas.microsoft.com/office/drawing/2014/main" id="{9DC370B7-D0BA-D680-40F7-2E0082277B1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13582614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D37F8-9F4C-11EE-2747-04689AAC58C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34C15F6-044C-149C-6CF9-8FECE87FA442}"/>
              </a:ext>
            </a:extLst>
          </p:cNvPr>
          <p:cNvSpPr>
            <a:spLocks noGrp="1"/>
          </p:cNvSpPr>
          <p:nvPr>
            <p:ph type="ctrTitle"/>
          </p:nvPr>
        </p:nvSpPr>
        <p:spPr/>
        <p:txBody>
          <a:bodyPr/>
          <a:lstStyle/>
          <a:p>
            <a:r>
              <a:rPr lang="ja-JP" altLang="en-US" dirty="0">
                <a:solidFill>
                  <a:schemeClr val="tx1"/>
                </a:solidFill>
              </a:rPr>
              <a:t>進捗報告 </a:t>
            </a:r>
            <a:r>
              <a:rPr lang="en-US" altLang="ja-JP" dirty="0">
                <a:solidFill>
                  <a:schemeClr val="tx1"/>
                </a:solidFill>
              </a:rPr>
              <a:t>05/28</a:t>
            </a:r>
            <a:endParaRPr kumimoji="1" lang="ja-JP" altLang="en-US" dirty="0">
              <a:solidFill>
                <a:schemeClr val="tx1"/>
              </a:solidFill>
            </a:endParaRPr>
          </a:p>
        </p:txBody>
      </p:sp>
      <p:sp>
        <p:nvSpPr>
          <p:cNvPr id="3" name="字幕 2">
            <a:extLst>
              <a:ext uri="{FF2B5EF4-FFF2-40B4-BE49-F238E27FC236}">
                <a16:creationId xmlns:a16="http://schemas.microsoft.com/office/drawing/2014/main" id="{71C1BDEB-2F11-80CA-D1FE-4D27C276BE31}"/>
              </a:ext>
            </a:extLst>
          </p:cNvPr>
          <p:cNvSpPr>
            <a:spLocks noGrp="1"/>
          </p:cNvSpPr>
          <p:nvPr>
            <p:ph type="subTitle" idx="1"/>
          </p:nvPr>
        </p:nvSpPr>
        <p:spPr/>
        <p:txBody>
          <a:bodyPr/>
          <a:lstStyle/>
          <a:p>
            <a:r>
              <a:rPr lang="en-US" altLang="ja-JP" dirty="0"/>
              <a:t>B4</a:t>
            </a:r>
            <a:r>
              <a:rPr lang="ja-JP" altLang="en-US" dirty="0"/>
              <a:t>　福島幸弥</a:t>
            </a:r>
            <a:endParaRPr kumimoji="1" lang="ja-JP" altLang="en-US" dirty="0"/>
          </a:p>
        </p:txBody>
      </p:sp>
    </p:spTree>
    <p:extLst>
      <p:ext uri="{BB962C8B-B14F-4D97-AF65-F5344CB8AC3E}">
        <p14:creationId xmlns:p14="http://schemas.microsoft.com/office/powerpoint/2010/main" val="403888587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96C78-47DA-A446-F001-29EFB9507EB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170463B-5D26-4BAE-4608-46244FBBA7A5}"/>
              </a:ext>
            </a:extLst>
          </p:cNvPr>
          <p:cNvSpPr>
            <a:spLocks noGrp="1"/>
          </p:cNvSpPr>
          <p:nvPr>
            <p:ph type="title"/>
          </p:nvPr>
        </p:nvSpPr>
        <p:spPr/>
        <p:txBody>
          <a:bodyPr/>
          <a:lstStyle/>
          <a:p>
            <a:r>
              <a:rPr lang="ja-JP" altLang="en-US" dirty="0"/>
              <a:t>行ったこと</a:t>
            </a:r>
            <a:endParaRPr kumimoji="1" lang="ja-JP" altLang="en-US" dirty="0"/>
          </a:p>
        </p:txBody>
      </p:sp>
      <p:sp>
        <p:nvSpPr>
          <p:cNvPr id="3" name="コンテンツ プレースホルダー 2">
            <a:extLst>
              <a:ext uri="{FF2B5EF4-FFF2-40B4-BE49-F238E27FC236}">
                <a16:creationId xmlns:a16="http://schemas.microsoft.com/office/drawing/2014/main" id="{54FF1897-2D24-8BD0-3D73-78A82F7DD947}"/>
              </a:ext>
            </a:extLst>
          </p:cNvPr>
          <p:cNvSpPr>
            <a:spLocks noGrp="1"/>
          </p:cNvSpPr>
          <p:nvPr>
            <p:ph idx="1"/>
          </p:nvPr>
        </p:nvSpPr>
        <p:spPr/>
        <p:txBody>
          <a:bodyPr/>
          <a:lstStyle/>
          <a:p>
            <a:r>
              <a:rPr lang="en-US" altLang="ja-JP" dirty="0"/>
              <a:t>A Harmonic-Mixer-Based Fractional-N PLL Employing Voltage-Domain Feed-Forward Noise Cancellation</a:t>
            </a:r>
            <a:br>
              <a:rPr lang="en-US" altLang="ja-JP" dirty="0"/>
            </a:br>
            <a:r>
              <a:rPr lang="en-US" altLang="ja-JP" dirty="0"/>
              <a:t>(Haoming Zhang et al. 2025)</a:t>
            </a:r>
            <a:r>
              <a:rPr lang="ja-JP" altLang="en-US" dirty="0"/>
              <a:t>のまとめ</a:t>
            </a:r>
            <a:endParaRPr lang="en-US" altLang="ja-JP" dirty="0"/>
          </a:p>
          <a:p>
            <a:endParaRPr lang="en-US" altLang="ja-JP" dirty="0"/>
          </a:p>
          <a:p>
            <a:r>
              <a:rPr lang="ja-JP" altLang="en-US" dirty="0"/>
              <a:t>画像は全て同論文からの引用</a:t>
            </a:r>
            <a:r>
              <a:rPr lang="en-US" altLang="ja-JP" dirty="0"/>
              <a:t>(</a:t>
            </a:r>
            <a:r>
              <a:rPr lang="ja-JP" altLang="en-US" dirty="0"/>
              <a:t>図表番号は画像内に記載</a:t>
            </a:r>
            <a:r>
              <a:rPr lang="en-US" altLang="ja-JP" dirty="0"/>
              <a:t>)</a:t>
            </a:r>
          </a:p>
          <a:p>
            <a:endParaRPr lang="en-US" altLang="ja-JP" dirty="0"/>
          </a:p>
          <a:p>
            <a:r>
              <a:rPr lang="en-US" altLang="ja-JP" dirty="0" err="1"/>
              <a:t>Matlab</a:t>
            </a:r>
            <a:r>
              <a:rPr lang="ja-JP" altLang="en-US" dirty="0"/>
              <a:t>は次週</a:t>
            </a:r>
            <a:endParaRPr lang="en-US" altLang="ja-JP" dirty="0"/>
          </a:p>
          <a:p>
            <a:endParaRPr lang="en-US" altLang="ja-JP" dirty="0"/>
          </a:p>
          <a:p>
            <a:endParaRPr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83A03A86-DA36-196A-2820-BB9D20F88E8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174928883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FB0D5-77FB-0FAE-07CA-8DBC6B256BC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39E16E8-8F65-ABA8-4055-49F6EC3D8601}"/>
              </a:ext>
            </a:extLst>
          </p:cNvPr>
          <p:cNvSpPr>
            <a:spLocks noGrp="1"/>
          </p:cNvSpPr>
          <p:nvPr>
            <p:ph type="title"/>
          </p:nvPr>
        </p:nvSpPr>
        <p:spPr/>
        <p:txBody>
          <a:bodyPr/>
          <a:lstStyle/>
          <a:p>
            <a:r>
              <a:rPr lang="en-US" altLang="ja-JP" dirty="0"/>
              <a:t>1. Introduction</a:t>
            </a:r>
            <a:endParaRPr kumimoji="1" lang="ja-JP" altLang="en-US" dirty="0"/>
          </a:p>
        </p:txBody>
      </p:sp>
      <p:sp>
        <p:nvSpPr>
          <p:cNvPr id="3" name="コンテンツ プレースホルダー 2">
            <a:extLst>
              <a:ext uri="{FF2B5EF4-FFF2-40B4-BE49-F238E27FC236}">
                <a16:creationId xmlns:a16="http://schemas.microsoft.com/office/drawing/2014/main" id="{FC213340-81C9-80B6-DD7C-C8C0AF4F2869}"/>
              </a:ext>
            </a:extLst>
          </p:cNvPr>
          <p:cNvSpPr>
            <a:spLocks noGrp="1"/>
          </p:cNvSpPr>
          <p:nvPr>
            <p:ph idx="1"/>
          </p:nvPr>
        </p:nvSpPr>
        <p:spPr/>
        <p:txBody>
          <a:bodyPr/>
          <a:lstStyle/>
          <a:p>
            <a:r>
              <a:rPr lang="ja-JP" altLang="en-US" dirty="0"/>
              <a:t>特に</a:t>
            </a:r>
            <a:r>
              <a:rPr lang="en-US" altLang="ja-JP" dirty="0"/>
              <a:t>Fractional-N PLL</a:t>
            </a:r>
            <a:r>
              <a:rPr lang="ja-JP" altLang="en-US" dirty="0"/>
              <a:t>は量子化雑音が課題となる</a:t>
            </a:r>
            <a:endParaRPr lang="en-US" altLang="ja-JP" dirty="0"/>
          </a:p>
          <a:p>
            <a:endParaRPr lang="en-US" altLang="ja-JP" dirty="0"/>
          </a:p>
          <a:p>
            <a:r>
              <a:rPr lang="ja-JP" altLang="en-US" dirty="0"/>
              <a:t>デジタル</a:t>
            </a:r>
            <a:r>
              <a:rPr lang="en-US" altLang="ja-JP" dirty="0"/>
              <a:t>-</a:t>
            </a:r>
            <a:r>
              <a:rPr lang="ja-JP" altLang="en-US" dirty="0"/>
              <a:t>時間変換器</a:t>
            </a:r>
            <a:r>
              <a:rPr lang="en-US" altLang="ja-JP" dirty="0"/>
              <a:t>(DTC)</a:t>
            </a:r>
            <a:r>
              <a:rPr lang="ja-JP" altLang="en-US" dirty="0"/>
              <a:t>でのキャンセルが用いられる</a:t>
            </a:r>
            <a:endParaRPr lang="en-US" altLang="ja-JP" dirty="0"/>
          </a:p>
          <a:p>
            <a:endParaRPr lang="en-US" altLang="ja-JP" dirty="0"/>
          </a:p>
          <a:p>
            <a:r>
              <a:rPr lang="en-US" altLang="ja-JP" dirty="0"/>
              <a:t>DTC</a:t>
            </a:r>
            <a:r>
              <a:rPr lang="ja-JP" altLang="en-US" dirty="0"/>
              <a:t>は温度などの変化に敏感で、都度キャリブレーションを行い校正しなければならない</a:t>
            </a:r>
            <a:endParaRPr lang="en-US" altLang="ja-JP" dirty="0"/>
          </a:p>
          <a:p>
            <a:endParaRPr lang="en-US" altLang="ja-JP" dirty="0"/>
          </a:p>
          <a:p>
            <a:r>
              <a:rPr lang="ja-JP" altLang="en-US" dirty="0"/>
              <a:t>この校正は</a:t>
            </a:r>
            <a:r>
              <a:rPr lang="en-US" altLang="ja-JP" dirty="0"/>
              <a:t>PLL</a:t>
            </a:r>
            <a:r>
              <a:rPr lang="ja-JP" altLang="en-US" dirty="0"/>
              <a:t>の目標値が変わる度に行う必要がある</a:t>
            </a:r>
            <a:endParaRPr lang="en-US" altLang="ja-JP" dirty="0"/>
          </a:p>
          <a:p>
            <a:endParaRPr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D1688065-C6E1-5ACA-C650-F584A966E28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392784829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44D0D-A3C4-F70A-6057-893D8E42F01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73BBAED-8F61-E18B-1B87-AA821C80AD20}"/>
              </a:ext>
            </a:extLst>
          </p:cNvPr>
          <p:cNvSpPr>
            <a:spLocks noGrp="1"/>
          </p:cNvSpPr>
          <p:nvPr>
            <p:ph type="title"/>
          </p:nvPr>
        </p:nvSpPr>
        <p:spPr/>
        <p:txBody>
          <a:bodyPr/>
          <a:lstStyle/>
          <a:p>
            <a:r>
              <a:rPr lang="en-US" altLang="ja-JP" dirty="0"/>
              <a:t>1. Introduction</a:t>
            </a:r>
            <a:endParaRPr kumimoji="1" lang="ja-JP" altLang="en-US" dirty="0"/>
          </a:p>
        </p:txBody>
      </p:sp>
      <p:sp>
        <p:nvSpPr>
          <p:cNvPr id="3" name="コンテンツ プレースホルダー 2">
            <a:extLst>
              <a:ext uri="{FF2B5EF4-FFF2-40B4-BE49-F238E27FC236}">
                <a16:creationId xmlns:a16="http://schemas.microsoft.com/office/drawing/2014/main" id="{7D982C07-CE14-363D-9DD5-ACCDC1A07E33}"/>
              </a:ext>
            </a:extLst>
          </p:cNvPr>
          <p:cNvSpPr>
            <a:spLocks noGrp="1"/>
          </p:cNvSpPr>
          <p:nvPr>
            <p:ph idx="1"/>
          </p:nvPr>
        </p:nvSpPr>
        <p:spPr/>
        <p:txBody>
          <a:bodyPr/>
          <a:lstStyle/>
          <a:p>
            <a:r>
              <a:rPr lang="ja-JP" altLang="en-US" dirty="0"/>
              <a:t>高調波ミキサ</a:t>
            </a:r>
            <a:r>
              <a:rPr lang="en-US" altLang="ja-JP" dirty="0"/>
              <a:t>(HM)</a:t>
            </a:r>
            <a:r>
              <a:rPr lang="ja-JP" altLang="en-US" dirty="0"/>
              <a:t>ベースのフィードバックならば、</a:t>
            </a:r>
            <a:br>
              <a:rPr lang="en-US" altLang="ja-JP" dirty="0"/>
            </a:br>
            <a:r>
              <a:rPr lang="en-US" altLang="ja-JP" dirty="0"/>
              <a:t>DTC</a:t>
            </a:r>
            <a:r>
              <a:rPr lang="ja-JP" altLang="en-US" dirty="0"/>
              <a:t>を用いずに済むためこの問題は発生しない</a:t>
            </a:r>
            <a:endParaRPr lang="en-US" altLang="ja-JP" dirty="0"/>
          </a:p>
          <a:p>
            <a:endParaRPr lang="en-US" altLang="ja-JP" dirty="0"/>
          </a:p>
          <a:p>
            <a:r>
              <a:rPr lang="en-US" altLang="ja-JP" dirty="0"/>
              <a:t>HM-PLL</a:t>
            </a:r>
            <a:r>
              <a:rPr lang="ja-JP" altLang="en-US" dirty="0"/>
              <a:t>は余分な</a:t>
            </a:r>
            <a:r>
              <a:rPr lang="en-US" altLang="ja-JP" dirty="0"/>
              <a:t>PLL</a:t>
            </a:r>
            <a:r>
              <a:rPr lang="ja-JP" altLang="en-US" dirty="0"/>
              <a:t>が必須であるため、消費電力が</a:t>
            </a:r>
            <a:br>
              <a:rPr lang="en-US" altLang="ja-JP" dirty="0"/>
            </a:br>
            <a:r>
              <a:rPr lang="ja-JP" altLang="en-US" dirty="0"/>
              <a:t>増大し、ノイズが増えるデメリットがある</a:t>
            </a:r>
            <a:endParaRPr lang="en-US" altLang="ja-JP" dirty="0"/>
          </a:p>
          <a:p>
            <a:endParaRPr kumimoji="1" lang="en-US" altLang="ja-JP" dirty="0"/>
          </a:p>
          <a:p>
            <a:r>
              <a:rPr lang="ja-JP" altLang="en-US" dirty="0"/>
              <a:t>補助</a:t>
            </a:r>
            <a:r>
              <a:rPr lang="en-US" altLang="ja-JP" dirty="0"/>
              <a:t>PLL</a:t>
            </a:r>
            <a:r>
              <a:rPr lang="ja-JP" altLang="en-US" dirty="0"/>
              <a:t>のノイズをフィードフォワードでキャンセルする</a:t>
            </a:r>
            <a:br>
              <a:rPr lang="en-US" altLang="ja-JP" dirty="0"/>
            </a:br>
            <a:r>
              <a:rPr lang="ja-JP" altLang="en-US" dirty="0"/>
              <a:t>というのがこの論文の提案手法</a:t>
            </a:r>
            <a:endParaRPr kumimoji="1" lang="en-US" altLang="ja-JP" dirty="0"/>
          </a:p>
        </p:txBody>
      </p:sp>
      <p:sp>
        <p:nvSpPr>
          <p:cNvPr id="4" name="スライド番号プレースホルダー 3">
            <a:extLst>
              <a:ext uri="{FF2B5EF4-FFF2-40B4-BE49-F238E27FC236}">
                <a16:creationId xmlns:a16="http://schemas.microsoft.com/office/drawing/2014/main" id="{1B2DCEA8-0A66-C765-277F-1148915EDF7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1186969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8041B4-C7C1-81F0-41DF-7025ABD12D40}"/>
              </a:ext>
            </a:extLst>
          </p:cNvPr>
          <p:cNvSpPr>
            <a:spLocks noGrp="1"/>
          </p:cNvSpPr>
          <p:nvPr>
            <p:ph type="title"/>
          </p:nvPr>
        </p:nvSpPr>
        <p:spPr/>
        <p:txBody>
          <a:bodyPr/>
          <a:lstStyle/>
          <a:p>
            <a:r>
              <a:rPr kumimoji="1" lang="en-US" altLang="ja-JP" dirty="0"/>
              <a:t>2. </a:t>
            </a:r>
            <a:r>
              <a:rPr kumimoji="1" lang="ja-JP" altLang="en-US" dirty="0"/>
              <a:t>ノイズの発生源</a:t>
            </a:r>
          </a:p>
        </p:txBody>
      </p:sp>
      <p:sp>
        <p:nvSpPr>
          <p:cNvPr id="3" name="コンテンツ プレースホルダー 2">
            <a:extLst>
              <a:ext uri="{FF2B5EF4-FFF2-40B4-BE49-F238E27FC236}">
                <a16:creationId xmlns:a16="http://schemas.microsoft.com/office/drawing/2014/main" id="{DAC591CB-8A2B-5FF5-32F4-90C20D4F530B}"/>
              </a:ext>
            </a:extLst>
          </p:cNvPr>
          <p:cNvSpPr>
            <a:spLocks noGrp="1"/>
          </p:cNvSpPr>
          <p:nvPr>
            <p:ph idx="1"/>
          </p:nvPr>
        </p:nvSpPr>
        <p:spPr/>
        <p:txBody>
          <a:bodyPr/>
          <a:lstStyle/>
          <a:p>
            <a:r>
              <a:rPr kumimoji="1" lang="en-US" altLang="ja-JP" dirty="0"/>
              <a:t>Integer-N</a:t>
            </a:r>
            <a:r>
              <a:rPr kumimoji="1" lang="ja-JP" altLang="en-US" dirty="0"/>
              <a:t>型のノイズは</a:t>
            </a:r>
            <a:r>
              <a:rPr kumimoji="1" lang="en-US" altLang="ja-JP" dirty="0"/>
              <a:t>VCO</a:t>
            </a:r>
            <a:r>
              <a:rPr lang="ja-JP" altLang="en-US" dirty="0"/>
              <a:t>、</a:t>
            </a:r>
            <a:r>
              <a:rPr lang="en-US" altLang="ja-JP" dirty="0"/>
              <a:t>PD</a:t>
            </a:r>
            <a:r>
              <a:rPr lang="ja-JP" altLang="en-US" dirty="0"/>
              <a:t>、分周器、</a:t>
            </a:r>
            <a:r>
              <a:rPr lang="en-US" altLang="ja-JP" dirty="0" err="1"/>
              <a:t>Xtal</a:t>
            </a:r>
            <a:r>
              <a:rPr lang="ja-JP" altLang="en-US" dirty="0"/>
              <a:t>から主に発生</a:t>
            </a:r>
            <a:endParaRPr lang="en-US" altLang="ja-JP" dirty="0"/>
          </a:p>
          <a:p>
            <a:endParaRPr kumimoji="1" lang="en-US" altLang="ja-JP" dirty="0"/>
          </a:p>
          <a:p>
            <a:r>
              <a:rPr lang="en-US" altLang="ja-JP" dirty="0"/>
              <a:t>Fractional-N</a:t>
            </a:r>
            <a:r>
              <a:rPr lang="ja-JP" altLang="en-US" dirty="0"/>
              <a:t>型は上記に加え量子化ノイズが乗る</a:t>
            </a:r>
            <a:endParaRPr lang="en-US" altLang="ja-JP" dirty="0"/>
          </a:p>
          <a:p>
            <a:endParaRPr kumimoji="1" lang="en-US" altLang="ja-JP" dirty="0"/>
          </a:p>
          <a:p>
            <a:r>
              <a:rPr lang="en-US" altLang="ja-JP" dirty="0"/>
              <a:t>HM</a:t>
            </a:r>
            <a:r>
              <a:rPr lang="ja-JP" altLang="en-US" dirty="0"/>
              <a:t>型は補助</a:t>
            </a:r>
            <a:r>
              <a:rPr lang="en-US" altLang="ja-JP" dirty="0"/>
              <a:t>PLL</a:t>
            </a:r>
            <a:r>
              <a:rPr lang="ja-JP" altLang="en-US" dirty="0"/>
              <a:t>のノイズのみ考慮すれば</a:t>
            </a:r>
            <a:r>
              <a:rPr lang="en-US" altLang="ja-JP" dirty="0"/>
              <a:t>OK</a:t>
            </a:r>
            <a:br>
              <a:rPr lang="en-US" altLang="ja-JP" dirty="0"/>
            </a:br>
            <a:r>
              <a:rPr lang="ja-JP" altLang="en-US" dirty="0"/>
              <a:t>→その中でも特に、補助</a:t>
            </a:r>
            <a:r>
              <a:rPr lang="en-US" altLang="ja-JP" dirty="0"/>
              <a:t>PLL</a:t>
            </a:r>
            <a:r>
              <a:rPr lang="ja-JP" altLang="en-US" dirty="0"/>
              <a:t>の</a:t>
            </a:r>
            <a:r>
              <a:rPr lang="en-US" altLang="ja-JP" dirty="0"/>
              <a:t>VCO</a:t>
            </a:r>
            <a:r>
              <a:rPr lang="ja-JP" altLang="en-US" dirty="0"/>
              <a:t>が主なノイズ発生源</a:t>
            </a:r>
            <a:endParaRPr kumimoji="1" lang="ja-JP" altLang="en-US" dirty="0"/>
          </a:p>
        </p:txBody>
      </p:sp>
      <p:sp>
        <p:nvSpPr>
          <p:cNvPr id="4" name="スライド番号プレースホルダー 3">
            <a:extLst>
              <a:ext uri="{FF2B5EF4-FFF2-40B4-BE49-F238E27FC236}">
                <a16:creationId xmlns:a16="http://schemas.microsoft.com/office/drawing/2014/main" id="{4BD8FD38-7ABD-00A1-CBD0-6D3FC31A5CF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19203621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51AD7-D71A-E0A8-724C-D079E28995A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B5B196B-5A92-EEDB-6CA1-FDC27BC1F9BC}"/>
              </a:ext>
            </a:extLst>
          </p:cNvPr>
          <p:cNvSpPr>
            <a:spLocks noGrp="1"/>
          </p:cNvSpPr>
          <p:nvPr>
            <p:ph type="title"/>
          </p:nvPr>
        </p:nvSpPr>
        <p:spPr/>
        <p:txBody>
          <a:bodyPr/>
          <a:lstStyle/>
          <a:p>
            <a:r>
              <a:rPr kumimoji="1" lang="en-US" altLang="ja-JP" dirty="0"/>
              <a:t>2. </a:t>
            </a:r>
            <a:r>
              <a:rPr kumimoji="1" lang="ja-JP" altLang="en-US" dirty="0"/>
              <a:t>ノイズの発生源</a:t>
            </a:r>
          </a:p>
        </p:txBody>
      </p:sp>
      <p:sp>
        <p:nvSpPr>
          <p:cNvPr id="3" name="コンテンツ プレースホルダー 2">
            <a:extLst>
              <a:ext uri="{FF2B5EF4-FFF2-40B4-BE49-F238E27FC236}">
                <a16:creationId xmlns:a16="http://schemas.microsoft.com/office/drawing/2014/main" id="{1B174C2B-45AF-4EBD-D0FE-0C35EEAB46DD}"/>
              </a:ext>
            </a:extLst>
          </p:cNvPr>
          <p:cNvSpPr>
            <a:spLocks noGrp="1"/>
          </p:cNvSpPr>
          <p:nvPr>
            <p:ph idx="1"/>
          </p:nvPr>
        </p:nvSpPr>
        <p:spPr/>
        <p:txBody>
          <a:bodyPr/>
          <a:lstStyle/>
          <a:p>
            <a:r>
              <a:rPr kumimoji="1" lang="ja-JP" altLang="en-US" dirty="0"/>
              <a:t>補助</a:t>
            </a:r>
            <a:r>
              <a:rPr kumimoji="1" lang="en-US" altLang="ja-JP" dirty="0"/>
              <a:t>VCO</a:t>
            </a:r>
            <a:r>
              <a:rPr kumimoji="1" lang="ja-JP" altLang="en-US" dirty="0"/>
              <a:t>から出るノイズは、</a:t>
            </a:r>
            <a:br>
              <a:rPr kumimoji="1" lang="en-US" altLang="ja-JP" dirty="0"/>
            </a:br>
            <a:r>
              <a:rPr kumimoji="1" lang="ja-JP" altLang="en-US" dirty="0"/>
              <a:t>まずそれ自体が</a:t>
            </a:r>
            <a:r>
              <a:rPr kumimoji="1" lang="en-US" altLang="ja-JP" dirty="0"/>
              <a:t>HPF</a:t>
            </a:r>
            <a:r>
              <a:rPr kumimoji="1" lang="ja-JP" altLang="en-US" dirty="0"/>
              <a:t>を通り、</a:t>
            </a:r>
            <a:br>
              <a:rPr kumimoji="1" lang="en-US" altLang="ja-JP" dirty="0"/>
            </a:br>
            <a:r>
              <a:rPr kumimoji="1" lang="ja-JP" altLang="en-US" dirty="0"/>
              <a:t>メイン</a:t>
            </a:r>
            <a:r>
              <a:rPr kumimoji="1" lang="en-US" altLang="ja-JP" dirty="0"/>
              <a:t>PLL</a:t>
            </a:r>
            <a:r>
              <a:rPr kumimoji="1" lang="ja-JP" altLang="en-US" dirty="0"/>
              <a:t>によって</a:t>
            </a:r>
            <a:r>
              <a:rPr kumimoji="1" lang="en-US" altLang="ja-JP" dirty="0"/>
              <a:t>LPF</a:t>
            </a:r>
            <a:r>
              <a:rPr kumimoji="1" lang="ja-JP" altLang="en-US" dirty="0"/>
              <a:t>を通る</a:t>
            </a:r>
            <a:br>
              <a:rPr kumimoji="1" lang="en-US" altLang="ja-JP" dirty="0"/>
            </a:br>
            <a:r>
              <a:rPr kumimoji="1" lang="ja-JP" altLang="en-US" dirty="0"/>
              <a:t>→補助</a:t>
            </a:r>
            <a:r>
              <a:rPr kumimoji="1" lang="en-US" altLang="ja-JP" dirty="0"/>
              <a:t>VCO</a:t>
            </a:r>
            <a:r>
              <a:rPr kumimoji="1" lang="ja-JP" altLang="en-US" dirty="0"/>
              <a:t>の帯域幅を広くすれば</a:t>
            </a:r>
            <a:br>
              <a:rPr kumimoji="1" lang="en-US" altLang="ja-JP" dirty="0"/>
            </a:br>
            <a:r>
              <a:rPr kumimoji="1" lang="ja-JP" altLang="en-US" dirty="0"/>
              <a:t>　ノイズを抑制可能</a:t>
            </a:r>
            <a:endParaRPr kumimoji="1" lang="en-US" altLang="ja-JP" dirty="0"/>
          </a:p>
          <a:p>
            <a:endParaRPr lang="en-US" altLang="ja-JP" dirty="0"/>
          </a:p>
          <a:p>
            <a:r>
              <a:rPr kumimoji="1" lang="ja-JP" altLang="en-US" dirty="0"/>
              <a:t>補助</a:t>
            </a:r>
            <a:r>
              <a:rPr kumimoji="1" lang="en-US" altLang="ja-JP" dirty="0"/>
              <a:t>PLL</a:t>
            </a:r>
            <a:r>
              <a:rPr kumimoji="1" lang="ja-JP" altLang="en-US" dirty="0"/>
              <a:t>の位相余裕により、</a:t>
            </a:r>
            <a:br>
              <a:rPr kumimoji="1" lang="en-US" altLang="ja-JP" dirty="0"/>
            </a:br>
            <a:r>
              <a:rPr kumimoji="1" lang="ja-JP" altLang="en-US" dirty="0"/>
              <a:t>帯域幅はかなり低く制限される</a:t>
            </a:r>
          </a:p>
        </p:txBody>
      </p:sp>
      <p:sp>
        <p:nvSpPr>
          <p:cNvPr id="4" name="スライド番号プレースホルダー 3">
            <a:extLst>
              <a:ext uri="{FF2B5EF4-FFF2-40B4-BE49-F238E27FC236}">
                <a16:creationId xmlns:a16="http://schemas.microsoft.com/office/drawing/2014/main" id="{A6D32832-55FA-79FE-393B-0C333F3A76D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pic>
        <p:nvPicPr>
          <p:cNvPr id="6" name="図 5">
            <a:extLst>
              <a:ext uri="{FF2B5EF4-FFF2-40B4-BE49-F238E27FC236}">
                <a16:creationId xmlns:a16="http://schemas.microsoft.com/office/drawing/2014/main" id="{0302B291-D70B-A063-BB14-FF6071D499ED}"/>
              </a:ext>
            </a:extLst>
          </p:cNvPr>
          <p:cNvPicPr>
            <a:picLocks noChangeAspect="1"/>
          </p:cNvPicPr>
          <p:nvPr/>
        </p:nvPicPr>
        <p:blipFill>
          <a:blip r:embed="rId2"/>
          <a:stretch>
            <a:fillRect/>
          </a:stretch>
        </p:blipFill>
        <p:spPr>
          <a:xfrm>
            <a:off x="6556586" y="1644025"/>
            <a:ext cx="5439832" cy="4212489"/>
          </a:xfrm>
          <a:prstGeom prst="rect">
            <a:avLst/>
          </a:prstGeom>
        </p:spPr>
      </p:pic>
    </p:spTree>
    <p:extLst>
      <p:ext uri="{BB962C8B-B14F-4D97-AF65-F5344CB8AC3E}">
        <p14:creationId xmlns:p14="http://schemas.microsoft.com/office/powerpoint/2010/main" val="36735897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06F0C-2B9A-6979-9FFF-A9CB4BD4A40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8EE26AE-1658-D447-1104-7178F16273FD}"/>
              </a:ext>
            </a:extLst>
          </p:cNvPr>
          <p:cNvSpPr>
            <a:spLocks noGrp="1"/>
          </p:cNvSpPr>
          <p:nvPr>
            <p:ph type="title"/>
          </p:nvPr>
        </p:nvSpPr>
        <p:spPr/>
        <p:txBody>
          <a:bodyPr/>
          <a:lstStyle/>
          <a:p>
            <a:r>
              <a:rPr kumimoji="1" lang="en-US" altLang="ja-JP" dirty="0"/>
              <a:t>2. </a:t>
            </a:r>
            <a:r>
              <a:rPr kumimoji="1" lang="ja-JP" altLang="en-US" dirty="0"/>
              <a:t>ノイズの発生源</a:t>
            </a:r>
          </a:p>
        </p:txBody>
      </p:sp>
      <p:sp>
        <p:nvSpPr>
          <p:cNvPr id="3" name="コンテンツ プレースホルダー 2">
            <a:extLst>
              <a:ext uri="{FF2B5EF4-FFF2-40B4-BE49-F238E27FC236}">
                <a16:creationId xmlns:a16="http://schemas.microsoft.com/office/drawing/2014/main" id="{70D8DA91-C442-D60D-CCBE-C0435A30DD0D}"/>
              </a:ext>
            </a:extLst>
          </p:cNvPr>
          <p:cNvSpPr>
            <a:spLocks noGrp="1"/>
          </p:cNvSpPr>
          <p:nvPr>
            <p:ph idx="1"/>
          </p:nvPr>
        </p:nvSpPr>
        <p:spPr/>
        <p:txBody>
          <a:bodyPr/>
          <a:lstStyle/>
          <a:p>
            <a:r>
              <a:rPr kumimoji="1" lang="ja-JP" altLang="en-US" dirty="0"/>
              <a:t>補助</a:t>
            </a:r>
            <a:r>
              <a:rPr kumimoji="1" lang="en-US" altLang="ja-JP" dirty="0"/>
              <a:t>PLL</a:t>
            </a:r>
            <a:r>
              <a:rPr kumimoji="1" lang="ja-JP" altLang="en-US" dirty="0"/>
              <a:t>の出力に電圧制御遅延線</a:t>
            </a:r>
            <a:r>
              <a:rPr kumimoji="1" lang="en-US" altLang="ja-JP" dirty="0"/>
              <a:t>(VCDL)</a:t>
            </a:r>
            <a:r>
              <a:rPr kumimoji="1" lang="ja-JP" altLang="en-US" dirty="0"/>
              <a:t>を接続し、フィードフォワード・ノイズキャンセル</a:t>
            </a:r>
            <a:r>
              <a:rPr kumimoji="1" lang="en-US" altLang="ja-JP" dirty="0"/>
              <a:t>(FFNC)</a:t>
            </a:r>
            <a:r>
              <a:rPr kumimoji="1" lang="ja-JP" altLang="en-US" dirty="0"/>
              <a:t>を行う手法もある</a:t>
            </a:r>
            <a:endParaRPr kumimoji="1" lang="en-US" altLang="ja-JP" dirty="0"/>
          </a:p>
          <a:p>
            <a:endParaRPr lang="en-US" altLang="ja-JP" dirty="0"/>
          </a:p>
          <a:p>
            <a:r>
              <a:rPr kumimoji="1" lang="en-US" altLang="ja-JP" dirty="0"/>
              <a:t>VCDL</a:t>
            </a:r>
            <a:r>
              <a:rPr kumimoji="1" lang="ja-JP" altLang="en-US" dirty="0"/>
              <a:t>は補助</a:t>
            </a:r>
            <a:r>
              <a:rPr kumimoji="1" lang="en-US" altLang="ja-JP" dirty="0"/>
              <a:t>PLL</a:t>
            </a:r>
            <a:r>
              <a:rPr kumimoji="1" lang="ja-JP" altLang="en-US" dirty="0"/>
              <a:t>の出力から</a:t>
            </a:r>
            <a:br>
              <a:rPr kumimoji="1" lang="en-US" altLang="ja-JP" dirty="0"/>
            </a:br>
            <a:r>
              <a:rPr kumimoji="1" lang="ja-JP" altLang="en-US" dirty="0"/>
              <a:t>ノイズを削減する部品</a:t>
            </a:r>
            <a:endParaRPr kumimoji="1" lang="en-US" altLang="ja-JP" dirty="0"/>
          </a:p>
          <a:p>
            <a:endParaRPr lang="en-US" altLang="ja-JP" dirty="0"/>
          </a:p>
          <a:p>
            <a:r>
              <a:rPr lang="en-US" altLang="ja-JP" dirty="0"/>
              <a:t>VCDL</a:t>
            </a:r>
            <a:r>
              <a:rPr lang="ja-JP" altLang="en-US" dirty="0"/>
              <a:t>は</a:t>
            </a:r>
            <a:r>
              <a:rPr lang="en-US" altLang="ja-JP" dirty="0"/>
              <a:t>PLL</a:t>
            </a:r>
            <a:r>
              <a:rPr lang="ja-JP" altLang="en-US" dirty="0"/>
              <a:t>の系から独立しているため</a:t>
            </a:r>
            <a:br>
              <a:rPr lang="en-US" altLang="ja-JP" dirty="0"/>
            </a:br>
            <a:r>
              <a:rPr lang="ja-JP" altLang="en-US" dirty="0"/>
              <a:t>位相余裕を考えなくて良い</a:t>
            </a:r>
            <a:br>
              <a:rPr lang="en-US" altLang="ja-JP" dirty="0"/>
            </a:br>
            <a:r>
              <a:rPr lang="ja-JP" altLang="en-US" dirty="0"/>
              <a:t>また、帯域幅も広く取れる</a:t>
            </a:r>
            <a:endParaRPr kumimoji="1" lang="ja-JP" altLang="en-US" dirty="0"/>
          </a:p>
        </p:txBody>
      </p:sp>
      <p:sp>
        <p:nvSpPr>
          <p:cNvPr id="4" name="スライド番号プレースホルダー 3">
            <a:extLst>
              <a:ext uri="{FF2B5EF4-FFF2-40B4-BE49-F238E27FC236}">
                <a16:creationId xmlns:a16="http://schemas.microsoft.com/office/drawing/2014/main" id="{A73F2383-8BB7-45B0-6FBD-AD788C8D5CF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pic>
        <p:nvPicPr>
          <p:cNvPr id="6" name="図 5">
            <a:extLst>
              <a:ext uri="{FF2B5EF4-FFF2-40B4-BE49-F238E27FC236}">
                <a16:creationId xmlns:a16="http://schemas.microsoft.com/office/drawing/2014/main" id="{1D052A59-D6C2-91A7-4106-4E024D4791E3}"/>
              </a:ext>
            </a:extLst>
          </p:cNvPr>
          <p:cNvPicPr>
            <a:picLocks noChangeAspect="1"/>
          </p:cNvPicPr>
          <p:nvPr/>
        </p:nvPicPr>
        <p:blipFill>
          <a:blip r:embed="rId2"/>
          <a:stretch>
            <a:fillRect/>
          </a:stretch>
        </p:blipFill>
        <p:spPr>
          <a:xfrm>
            <a:off x="7326148" y="2732314"/>
            <a:ext cx="4330264" cy="3805636"/>
          </a:xfrm>
          <a:prstGeom prst="rect">
            <a:avLst/>
          </a:prstGeom>
        </p:spPr>
      </p:pic>
    </p:spTree>
    <p:extLst>
      <p:ext uri="{BB962C8B-B14F-4D97-AF65-F5344CB8AC3E}">
        <p14:creationId xmlns:p14="http://schemas.microsoft.com/office/powerpoint/2010/main" val="70121530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8B4CB-12CF-9D3D-9962-7B498032FD1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10FD7A0-27DC-DB43-6775-05B426BF9C86}"/>
              </a:ext>
            </a:extLst>
          </p:cNvPr>
          <p:cNvSpPr>
            <a:spLocks noGrp="1"/>
          </p:cNvSpPr>
          <p:nvPr>
            <p:ph type="title"/>
          </p:nvPr>
        </p:nvSpPr>
        <p:spPr/>
        <p:txBody>
          <a:bodyPr/>
          <a:lstStyle/>
          <a:p>
            <a:r>
              <a:rPr kumimoji="1" lang="en-US" altLang="ja-JP" dirty="0"/>
              <a:t>2. </a:t>
            </a:r>
            <a:r>
              <a:rPr kumimoji="1" lang="ja-JP" altLang="en-US" dirty="0"/>
              <a:t>ノイズの発生源</a:t>
            </a:r>
          </a:p>
        </p:txBody>
      </p:sp>
      <p:sp>
        <p:nvSpPr>
          <p:cNvPr id="3" name="コンテンツ プレースホルダー 2">
            <a:extLst>
              <a:ext uri="{FF2B5EF4-FFF2-40B4-BE49-F238E27FC236}">
                <a16:creationId xmlns:a16="http://schemas.microsoft.com/office/drawing/2014/main" id="{251CF0D4-841F-10B7-7A12-215B319EC648}"/>
              </a:ext>
            </a:extLst>
          </p:cNvPr>
          <p:cNvSpPr>
            <a:spLocks noGrp="1"/>
          </p:cNvSpPr>
          <p:nvPr>
            <p:ph idx="1"/>
          </p:nvPr>
        </p:nvSpPr>
        <p:spPr/>
        <p:txBody>
          <a:bodyPr/>
          <a:lstStyle/>
          <a:p>
            <a:r>
              <a:rPr kumimoji="1" lang="ja-JP" altLang="en-US" dirty="0"/>
              <a:t>この場合、</a:t>
            </a:r>
            <a:r>
              <a:rPr kumimoji="1" lang="en-US" altLang="ja-JP" dirty="0"/>
              <a:t>VCDL</a:t>
            </a:r>
            <a:r>
              <a:rPr kumimoji="1" lang="ja-JP" altLang="en-US" dirty="0"/>
              <a:t>の高速な動作が課題</a:t>
            </a:r>
            <a:endParaRPr kumimoji="1" lang="en-US" altLang="ja-JP" dirty="0"/>
          </a:p>
          <a:p>
            <a:endParaRPr lang="en-US" altLang="ja-JP" dirty="0"/>
          </a:p>
          <a:p>
            <a:r>
              <a:rPr kumimoji="1" lang="en-US" altLang="ja-JP" dirty="0"/>
              <a:t>VCDL</a:t>
            </a:r>
            <a:r>
              <a:rPr kumimoji="1" lang="ja-JP" altLang="en-US" dirty="0"/>
              <a:t>は</a:t>
            </a:r>
            <a:r>
              <a:rPr kumimoji="1" lang="en-US" altLang="ja-JP" dirty="0"/>
              <a:t>PLL</a:t>
            </a:r>
            <a:r>
              <a:rPr kumimoji="1" lang="ja-JP" altLang="en-US" dirty="0"/>
              <a:t>の出力に直接出力されるため、数</a:t>
            </a:r>
            <a:r>
              <a:rPr kumimoji="1" lang="en-US" altLang="ja-JP" dirty="0"/>
              <a:t>GHz</a:t>
            </a:r>
            <a:r>
              <a:rPr lang="ja-JP" altLang="en-US" dirty="0"/>
              <a:t>での</a:t>
            </a:r>
            <a:r>
              <a:rPr kumimoji="1" lang="ja-JP" altLang="en-US" dirty="0"/>
              <a:t>動作を</a:t>
            </a:r>
            <a:br>
              <a:rPr kumimoji="1" lang="en-US" altLang="ja-JP" dirty="0"/>
            </a:br>
            <a:r>
              <a:rPr kumimoji="1" lang="ja-JP" altLang="en-US" dirty="0"/>
              <a:t>必要とし、消費電力も増えてしまう</a:t>
            </a:r>
            <a:endParaRPr kumimoji="1" lang="en-US" altLang="ja-JP" dirty="0"/>
          </a:p>
          <a:p>
            <a:endParaRPr lang="en-US" altLang="ja-JP" dirty="0"/>
          </a:p>
          <a:p>
            <a:r>
              <a:rPr kumimoji="1" lang="en-US" altLang="ja-JP" dirty="0"/>
              <a:t>VCDL</a:t>
            </a:r>
            <a:r>
              <a:rPr lang="ja-JP" altLang="en-US" dirty="0"/>
              <a:t>のゲインは製造誤差にも影響されるため、</a:t>
            </a:r>
            <a:r>
              <a:rPr lang="en-US" altLang="ja-JP" dirty="0"/>
              <a:t>VCDL</a:t>
            </a:r>
            <a:r>
              <a:rPr lang="ja-JP" altLang="en-US" dirty="0"/>
              <a:t>自体が</a:t>
            </a:r>
            <a:br>
              <a:rPr lang="en-US" altLang="ja-JP" dirty="0"/>
            </a:br>
            <a:r>
              <a:rPr lang="ja-JP" altLang="en-US" dirty="0"/>
              <a:t>新たなノイズを生み出す本末転倒になりかねない</a:t>
            </a:r>
            <a:endParaRPr kumimoji="1" lang="ja-JP" altLang="en-US" dirty="0"/>
          </a:p>
        </p:txBody>
      </p:sp>
      <p:sp>
        <p:nvSpPr>
          <p:cNvPr id="4" name="スライド番号プレースホルダー 3">
            <a:extLst>
              <a:ext uri="{FF2B5EF4-FFF2-40B4-BE49-F238E27FC236}">
                <a16:creationId xmlns:a16="http://schemas.microsoft.com/office/drawing/2014/main" id="{E1D95330-9C4F-46D8-51DF-DE3FF95165D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403949628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97D14D-A800-249D-F095-DE9CB4CA336A}"/>
              </a:ext>
            </a:extLst>
          </p:cNvPr>
          <p:cNvSpPr>
            <a:spLocks noGrp="1"/>
          </p:cNvSpPr>
          <p:nvPr>
            <p:ph type="title"/>
          </p:nvPr>
        </p:nvSpPr>
        <p:spPr/>
        <p:txBody>
          <a:bodyPr/>
          <a:lstStyle/>
          <a:p>
            <a:r>
              <a:rPr kumimoji="1" lang="en-US" altLang="ja-JP" dirty="0"/>
              <a:t>3. </a:t>
            </a:r>
            <a:r>
              <a:rPr kumimoji="1" lang="ja-JP" altLang="en-US" dirty="0"/>
              <a:t>提案手法</a:t>
            </a:r>
          </a:p>
        </p:txBody>
      </p:sp>
      <p:sp>
        <p:nvSpPr>
          <p:cNvPr id="3" name="コンテンツ プレースホルダー 2">
            <a:extLst>
              <a:ext uri="{FF2B5EF4-FFF2-40B4-BE49-F238E27FC236}">
                <a16:creationId xmlns:a16="http://schemas.microsoft.com/office/drawing/2014/main" id="{3BB55413-5253-5DB7-0430-7C91376624AC}"/>
              </a:ext>
            </a:extLst>
          </p:cNvPr>
          <p:cNvSpPr>
            <a:spLocks noGrp="1"/>
          </p:cNvSpPr>
          <p:nvPr>
            <p:ph idx="1"/>
          </p:nvPr>
        </p:nvSpPr>
        <p:spPr/>
        <p:txBody>
          <a:bodyPr/>
          <a:lstStyle/>
          <a:p>
            <a:r>
              <a:rPr kumimoji="1" lang="en-US" altLang="ja-JP" dirty="0"/>
              <a:t>VCDL</a:t>
            </a:r>
            <a:r>
              <a:rPr kumimoji="1" lang="ja-JP" altLang="en-US" dirty="0"/>
              <a:t>を使わずに</a:t>
            </a:r>
            <a:r>
              <a:rPr kumimoji="1" lang="en-US" altLang="ja-JP" dirty="0"/>
              <a:t>FFNC</a:t>
            </a:r>
            <a:r>
              <a:rPr kumimoji="1" lang="ja-JP" altLang="en-US" dirty="0"/>
              <a:t>を実現</a:t>
            </a:r>
            <a:endParaRPr kumimoji="1" lang="en-US" altLang="ja-JP" dirty="0"/>
          </a:p>
          <a:p>
            <a:endParaRPr lang="en-US" altLang="ja-JP" dirty="0"/>
          </a:p>
          <a:p>
            <a:r>
              <a:rPr kumimoji="1" lang="ja-JP" altLang="en-US" dirty="0"/>
              <a:t>補助</a:t>
            </a:r>
            <a:r>
              <a:rPr kumimoji="1" lang="en-US" altLang="ja-JP" dirty="0"/>
              <a:t>SPD</a:t>
            </a:r>
            <a:r>
              <a:rPr kumimoji="1" lang="ja-JP" altLang="en-US" dirty="0"/>
              <a:t>の出力を、メイン</a:t>
            </a:r>
            <a:r>
              <a:rPr kumimoji="1" lang="en-US" altLang="ja-JP" dirty="0"/>
              <a:t>PD</a:t>
            </a:r>
            <a:r>
              <a:rPr kumimoji="1" lang="ja-JP" altLang="en-US" dirty="0"/>
              <a:t>の出力</a:t>
            </a:r>
            <a:br>
              <a:rPr kumimoji="1" lang="en-US" altLang="ja-JP" dirty="0"/>
            </a:br>
            <a:r>
              <a:rPr kumimoji="1" lang="ja-JP" altLang="en-US" dirty="0"/>
              <a:t>にそのまま加算</a:t>
            </a:r>
            <a:br>
              <a:rPr kumimoji="1" lang="en-US" altLang="ja-JP" dirty="0"/>
            </a:br>
            <a:r>
              <a:rPr kumimoji="1" lang="ja-JP" altLang="en-US" dirty="0"/>
              <a:t>→補助</a:t>
            </a:r>
            <a:r>
              <a:rPr kumimoji="1" lang="en-US" altLang="ja-JP" dirty="0"/>
              <a:t>VCO</a:t>
            </a:r>
            <a:r>
              <a:rPr kumimoji="1" lang="ja-JP" altLang="en-US" dirty="0"/>
              <a:t>のノイズに</a:t>
            </a:r>
            <a:r>
              <a:rPr kumimoji="1" lang="en-US" altLang="ja-JP" dirty="0"/>
              <a:t>HPF</a:t>
            </a:r>
            <a:r>
              <a:rPr kumimoji="1" lang="ja-JP" altLang="en-US" dirty="0"/>
              <a:t>がかかる</a:t>
            </a:r>
            <a:br>
              <a:rPr kumimoji="1" lang="en-US" altLang="ja-JP" dirty="0"/>
            </a:br>
            <a:r>
              <a:rPr kumimoji="1" lang="ja-JP" altLang="en-US" dirty="0"/>
              <a:t>　</a:t>
            </a:r>
            <a:r>
              <a:rPr kumimoji="1" lang="en-US" altLang="ja-JP" dirty="0"/>
              <a:t>(</a:t>
            </a:r>
            <a:r>
              <a:rPr kumimoji="1" lang="ja-JP" altLang="en-US" dirty="0"/>
              <a:t>後述</a:t>
            </a:r>
            <a:r>
              <a:rPr kumimoji="1" lang="en-US" altLang="ja-JP" dirty="0"/>
              <a:t>)</a:t>
            </a:r>
          </a:p>
          <a:p>
            <a:endParaRPr lang="en-US" altLang="ja-JP" dirty="0"/>
          </a:p>
          <a:p>
            <a:r>
              <a:rPr kumimoji="1" lang="ja-JP" altLang="en-US" dirty="0"/>
              <a:t>このパスは</a:t>
            </a:r>
            <a:r>
              <a:rPr kumimoji="1" lang="en-US" altLang="ja-JP" dirty="0"/>
              <a:t>PLL</a:t>
            </a:r>
            <a:r>
              <a:rPr kumimoji="1" lang="ja-JP" altLang="en-US" dirty="0"/>
              <a:t>と独立しているため</a:t>
            </a:r>
            <a:br>
              <a:rPr kumimoji="1" lang="en-US" altLang="ja-JP" dirty="0"/>
            </a:br>
            <a:r>
              <a:rPr kumimoji="1" lang="ja-JP" altLang="en-US" dirty="0"/>
              <a:t>位相余裕は考えなくて</a:t>
            </a:r>
            <a:r>
              <a:rPr kumimoji="1" lang="en-US" altLang="ja-JP" dirty="0"/>
              <a:t>OK</a:t>
            </a:r>
            <a:endParaRPr kumimoji="1" lang="ja-JP" altLang="en-US" dirty="0"/>
          </a:p>
        </p:txBody>
      </p:sp>
      <p:sp>
        <p:nvSpPr>
          <p:cNvPr id="4" name="スライド番号プレースホルダー 3">
            <a:extLst>
              <a:ext uri="{FF2B5EF4-FFF2-40B4-BE49-F238E27FC236}">
                <a16:creationId xmlns:a16="http://schemas.microsoft.com/office/drawing/2014/main" id="{8C8591A8-AB0E-44AE-1489-E8847BE4A98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pic>
        <p:nvPicPr>
          <p:cNvPr id="6" name="図 5">
            <a:extLst>
              <a:ext uri="{FF2B5EF4-FFF2-40B4-BE49-F238E27FC236}">
                <a16:creationId xmlns:a16="http://schemas.microsoft.com/office/drawing/2014/main" id="{1072B61D-4C32-F96F-718B-5C7419433CE4}"/>
              </a:ext>
            </a:extLst>
          </p:cNvPr>
          <p:cNvPicPr>
            <a:picLocks noChangeAspect="1"/>
          </p:cNvPicPr>
          <p:nvPr/>
        </p:nvPicPr>
        <p:blipFill>
          <a:blip r:embed="rId2"/>
          <a:stretch>
            <a:fillRect/>
          </a:stretch>
        </p:blipFill>
        <p:spPr>
          <a:xfrm>
            <a:off x="7033875" y="1986176"/>
            <a:ext cx="4829849" cy="3848637"/>
          </a:xfrm>
          <a:prstGeom prst="rect">
            <a:avLst/>
          </a:prstGeom>
        </p:spPr>
      </p:pic>
    </p:spTree>
    <p:extLst>
      <p:ext uri="{BB962C8B-B14F-4D97-AF65-F5344CB8AC3E}">
        <p14:creationId xmlns:p14="http://schemas.microsoft.com/office/powerpoint/2010/main" val="390647068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207E8BB-4202-5E57-89B0-9971AE4CB27E}"/>
              </a:ext>
            </a:extLst>
          </p:cNvPr>
          <p:cNvSpPr>
            <a:spLocks noGrp="1"/>
          </p:cNvSpPr>
          <p:nvPr>
            <p:ph type="title"/>
          </p:nvPr>
        </p:nvSpPr>
        <p:spPr/>
        <p:txBody>
          <a:bodyPr/>
          <a:lstStyle/>
          <a:p>
            <a:r>
              <a:rPr kumimoji="1" lang="en-US" altLang="ja-JP" dirty="0"/>
              <a:t>3. </a:t>
            </a:r>
            <a:r>
              <a:rPr kumimoji="1" lang="ja-JP" altLang="en-US" dirty="0"/>
              <a:t>提案手法</a:t>
            </a:r>
          </a:p>
        </p:txBody>
      </p:sp>
      <p:sp>
        <p:nvSpPr>
          <p:cNvPr id="3" name="コンテンツ プレースホルダー 2">
            <a:extLst>
              <a:ext uri="{FF2B5EF4-FFF2-40B4-BE49-F238E27FC236}">
                <a16:creationId xmlns:a16="http://schemas.microsoft.com/office/drawing/2014/main" id="{B3EB1FC0-95A8-3CA6-B8A8-E7EA42A85EBF}"/>
              </a:ext>
            </a:extLst>
          </p:cNvPr>
          <p:cNvSpPr>
            <a:spLocks noGrp="1"/>
          </p:cNvSpPr>
          <p:nvPr>
            <p:ph idx="1"/>
          </p:nvPr>
        </p:nvSpPr>
        <p:spPr/>
        <p:txBody>
          <a:bodyPr/>
          <a:lstStyle/>
          <a:p>
            <a:r>
              <a:rPr kumimoji="1" lang="ja-JP" altLang="en-US" dirty="0"/>
              <a:t>メイン</a:t>
            </a:r>
            <a:r>
              <a:rPr kumimoji="1" lang="en-US" altLang="ja-JP" dirty="0"/>
              <a:t>PLL</a:t>
            </a:r>
            <a:r>
              <a:rPr kumimoji="1" lang="ja-JP" altLang="en-US" dirty="0"/>
              <a:t>について</a:t>
            </a:r>
            <a:endParaRPr kumimoji="1" lang="en-US" altLang="ja-JP" dirty="0"/>
          </a:p>
          <a:p>
            <a:endParaRPr lang="en-US" altLang="ja-JP" dirty="0"/>
          </a:p>
          <a:p>
            <a:r>
              <a:rPr kumimoji="1" lang="ja-JP" altLang="en-US" dirty="0"/>
              <a:t>開ループはローパス</a:t>
            </a:r>
            <a:endParaRPr kumimoji="1" lang="en-US" altLang="ja-JP" dirty="0"/>
          </a:p>
          <a:p>
            <a:endParaRPr lang="en-US" altLang="ja-JP" dirty="0"/>
          </a:p>
          <a:p>
            <a:r>
              <a:rPr kumimoji="1" lang="ja-JP" altLang="en-US" dirty="0"/>
              <a:t>ゲインは最大でも</a:t>
            </a:r>
            <a:r>
              <a:rPr kumimoji="1" lang="en-US" altLang="ja-JP" dirty="0"/>
              <a:t>1</a:t>
            </a:r>
          </a:p>
          <a:p>
            <a:endParaRPr lang="en-US" altLang="ja-JP" dirty="0"/>
          </a:p>
          <a:p>
            <a:r>
              <a:rPr kumimoji="1" lang="ja-JP" altLang="en-US" dirty="0"/>
              <a:t>ノイズを増幅させない</a:t>
            </a:r>
          </a:p>
        </p:txBody>
      </p:sp>
      <p:sp>
        <p:nvSpPr>
          <p:cNvPr id="4" name="スライド番号プレースホルダー 3">
            <a:extLst>
              <a:ext uri="{FF2B5EF4-FFF2-40B4-BE49-F238E27FC236}">
                <a16:creationId xmlns:a16="http://schemas.microsoft.com/office/drawing/2014/main" id="{70395F19-00FA-7EA0-6C6B-621E729E113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pic>
        <p:nvPicPr>
          <p:cNvPr id="6" name="図 5">
            <a:extLst>
              <a:ext uri="{FF2B5EF4-FFF2-40B4-BE49-F238E27FC236}">
                <a16:creationId xmlns:a16="http://schemas.microsoft.com/office/drawing/2014/main" id="{1FFB03E9-89D8-8C28-8CCD-E18BCAA54FA7}"/>
              </a:ext>
            </a:extLst>
          </p:cNvPr>
          <p:cNvPicPr>
            <a:picLocks noChangeAspect="1"/>
          </p:cNvPicPr>
          <p:nvPr/>
        </p:nvPicPr>
        <p:blipFill>
          <a:blip r:embed="rId2"/>
          <a:stretch>
            <a:fillRect/>
          </a:stretch>
        </p:blipFill>
        <p:spPr>
          <a:xfrm>
            <a:off x="5644383" y="1644025"/>
            <a:ext cx="6199275" cy="4128861"/>
          </a:xfrm>
          <a:prstGeom prst="rect">
            <a:avLst/>
          </a:prstGeom>
        </p:spPr>
      </p:pic>
    </p:spTree>
    <p:extLst>
      <p:ext uri="{BB962C8B-B14F-4D97-AF65-F5344CB8AC3E}">
        <p14:creationId xmlns:p14="http://schemas.microsoft.com/office/powerpoint/2010/main" val="421750665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1845315-C5F5-D907-5977-5A8E9E5ECF6E}"/>
              </a:ext>
            </a:extLst>
          </p:cNvPr>
          <p:cNvSpPr>
            <a:spLocks noGrp="1"/>
          </p:cNvSpPr>
          <p:nvPr>
            <p:ph type="title"/>
          </p:nvPr>
        </p:nvSpPr>
        <p:spPr/>
        <p:txBody>
          <a:bodyPr/>
          <a:lstStyle/>
          <a:p>
            <a:r>
              <a:rPr kumimoji="1" lang="en-US" altLang="ja-JP" dirty="0"/>
              <a:t>3. </a:t>
            </a:r>
            <a:r>
              <a:rPr kumimoji="1" lang="ja-JP" altLang="en-US" dirty="0"/>
              <a:t>提案手法</a:t>
            </a:r>
          </a:p>
        </p:txBody>
      </p:sp>
      <p:sp>
        <p:nvSpPr>
          <p:cNvPr id="3" name="コンテンツ プレースホルダー 2">
            <a:extLst>
              <a:ext uri="{FF2B5EF4-FFF2-40B4-BE49-F238E27FC236}">
                <a16:creationId xmlns:a16="http://schemas.microsoft.com/office/drawing/2014/main" id="{A814B49A-6E3A-30FC-4B83-15B92BEC294C}"/>
              </a:ext>
            </a:extLst>
          </p:cNvPr>
          <p:cNvSpPr>
            <a:spLocks noGrp="1"/>
          </p:cNvSpPr>
          <p:nvPr>
            <p:ph idx="1"/>
          </p:nvPr>
        </p:nvSpPr>
        <p:spPr/>
        <p:txBody>
          <a:bodyPr/>
          <a:lstStyle/>
          <a:p>
            <a:r>
              <a:rPr kumimoji="1" lang="ja-JP" altLang="en-US" dirty="0"/>
              <a:t>補助</a:t>
            </a:r>
            <a:r>
              <a:rPr kumimoji="1" lang="en-US" altLang="ja-JP" dirty="0"/>
              <a:t>PLL</a:t>
            </a:r>
            <a:r>
              <a:rPr kumimoji="1" lang="ja-JP" altLang="en-US" dirty="0"/>
              <a:t>について</a:t>
            </a:r>
            <a:endParaRPr kumimoji="1" lang="en-US" altLang="ja-JP" dirty="0"/>
          </a:p>
          <a:p>
            <a:endParaRPr lang="en-US" altLang="ja-JP" dirty="0"/>
          </a:p>
          <a:p>
            <a:r>
              <a:rPr kumimoji="1" lang="ja-JP" altLang="en-US" dirty="0"/>
              <a:t>内容が難解すぎてよくわからなかった</a:t>
            </a:r>
            <a:endParaRPr kumimoji="1" lang="en-US" altLang="ja-JP" dirty="0"/>
          </a:p>
          <a:p>
            <a:endParaRPr lang="en-US" altLang="ja-JP" dirty="0"/>
          </a:p>
          <a:p>
            <a:r>
              <a:rPr kumimoji="1" lang="ja-JP" altLang="en-US" dirty="0"/>
              <a:t>式</a:t>
            </a:r>
            <a:r>
              <a:rPr kumimoji="1" lang="en-US" altLang="ja-JP" dirty="0"/>
              <a:t>(8)</a:t>
            </a:r>
            <a:r>
              <a:rPr kumimoji="1" lang="ja-JP" altLang="en-US" dirty="0"/>
              <a:t>以降、なぜその式になるのかが不明</a:t>
            </a:r>
          </a:p>
        </p:txBody>
      </p:sp>
      <p:sp>
        <p:nvSpPr>
          <p:cNvPr id="4" name="スライド番号プレースホルダー 3">
            <a:extLst>
              <a:ext uri="{FF2B5EF4-FFF2-40B4-BE49-F238E27FC236}">
                <a16:creationId xmlns:a16="http://schemas.microsoft.com/office/drawing/2014/main" id="{02D8DDC1-F0B3-F9C6-C601-60D8260358B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40450091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7EDB12-B685-DF54-FC8C-A4C1BCA52C18}"/>
              </a:ext>
            </a:extLst>
          </p:cNvPr>
          <p:cNvSpPr>
            <a:spLocks noGrp="1"/>
          </p:cNvSpPr>
          <p:nvPr>
            <p:ph type="title"/>
          </p:nvPr>
        </p:nvSpPr>
        <p:spPr/>
        <p:txBody>
          <a:bodyPr/>
          <a:lstStyle/>
          <a:p>
            <a:r>
              <a:rPr kumimoji="1" lang="en-US" altLang="ja-JP" dirty="0"/>
              <a:t>3. </a:t>
            </a:r>
            <a:r>
              <a:rPr kumimoji="1" lang="ja-JP" altLang="en-US" dirty="0"/>
              <a:t>提案手法</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FFBB261B-7ABE-6E5C-1D89-5C72C60D41D4}"/>
                  </a:ext>
                </a:extLst>
              </p:cNvPr>
              <p:cNvSpPr>
                <a:spLocks noGrp="1"/>
              </p:cNvSpPr>
              <p:nvPr>
                <p:ph idx="1"/>
              </p:nvPr>
            </p:nvSpPr>
            <p:spPr/>
            <p:txBody>
              <a:bodyPr/>
              <a:lstStyle/>
              <a:p>
                <a:r>
                  <a:rPr kumimoji="1" lang="ja-JP" altLang="en-US" dirty="0"/>
                  <a:t>式</a:t>
                </a:r>
                <a:r>
                  <a:rPr kumimoji="1" lang="en-US" altLang="ja-JP" dirty="0"/>
                  <a:t>(6)</a:t>
                </a:r>
                <a:r>
                  <a:rPr kumimoji="1" lang="ja-JP" altLang="en-US" dirty="0"/>
                  <a:t>について</a:t>
                </a:r>
                <a:endParaRPr lang="en-US" altLang="ja-JP" dirty="0"/>
              </a:p>
              <a:p>
                <a:r>
                  <a:rPr kumimoji="1" lang="ja-JP" altLang="en-US" dirty="0"/>
                  <a:t>位相比較器のゲインは</a:t>
                </a:r>
                <a:r>
                  <a:rPr kumimoji="1" lang="en-US" altLang="ja-JP" dirty="0"/>
                  <a:t>1</a:t>
                </a:r>
                <a:r>
                  <a:rPr kumimoji="1" lang="ja-JP" altLang="en-US" dirty="0"/>
                  <a:t>ラジアン毎の電圧のずれ</a:t>
                </a:r>
                <a:r>
                  <a:rPr kumimoji="1" lang="en-US" altLang="ja-JP" dirty="0"/>
                  <a:t>[V/rad]</a:t>
                </a:r>
                <a:r>
                  <a:rPr kumimoji="1" lang="ja-JP" altLang="en-US" dirty="0"/>
                  <a:t>で定義</a:t>
                </a:r>
                <a:endParaRPr kumimoji="1" lang="en-US" altLang="ja-JP" dirty="0"/>
              </a:p>
              <a:p>
                <a:endParaRPr kumimoji="1" lang="en-US" altLang="ja-JP" dirty="0"/>
              </a:p>
              <a:p>
                <a14:m>
                  <m:oMath xmlns:m="http://schemas.openxmlformats.org/officeDocument/2006/math">
                    <m:r>
                      <a:rPr kumimoji="1" lang="ja-JP" altLang="en-US" i="1" smtClean="0">
                        <a:latin typeface="Cambria Math" panose="02040503050406030204" pitchFamily="18" charset="0"/>
                      </a:rPr>
                      <m:t>∆</m:t>
                    </m:r>
                    <m:r>
                      <a:rPr kumimoji="1" lang="en-US" altLang="ja-JP" b="0" i="1" smtClean="0">
                        <a:latin typeface="Cambria Math" panose="02040503050406030204" pitchFamily="18" charset="0"/>
                      </a:rPr>
                      <m:t>𝑡</m:t>
                    </m:r>
                  </m:oMath>
                </a14:m>
                <a:r>
                  <a:rPr kumimoji="1" lang="ja-JP" altLang="en-US" dirty="0"/>
                  <a:t>だけタイミングがずれたとき、電圧は</a:t>
                </a:r>
                <a14:m>
                  <m:oMath xmlns:m="http://schemas.openxmlformats.org/officeDocument/2006/math">
                    <m:r>
                      <a:rPr kumimoji="1" lang="ja-JP" altLang="en-US" i="1" smtClean="0">
                        <a:latin typeface="Cambria Math" panose="02040503050406030204" pitchFamily="18" charset="0"/>
                      </a:rPr>
                      <m:t>∆</m:t>
                    </m:r>
                    <m:r>
                      <a:rPr kumimoji="1" lang="en-US" altLang="ja-JP" b="0" i="1" smtClean="0">
                        <a:latin typeface="Cambria Math" panose="02040503050406030204" pitchFamily="18" charset="0"/>
                      </a:rPr>
                      <m:t>𝑉</m:t>
                    </m:r>
                    <m:r>
                      <a:rPr kumimoji="1" lang="en-US" altLang="ja-JP" b="0" i="1" smtClean="0">
                        <a:latin typeface="Cambria Math" panose="02040503050406030204" pitchFamily="18" charset="0"/>
                      </a:rPr>
                      <m:t>= </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𝑆</m:t>
                        </m:r>
                      </m:e>
                      <m:sub>
                        <m:r>
                          <a:rPr kumimoji="1" lang="en-US" altLang="ja-JP" b="0" i="1" smtClean="0">
                            <a:latin typeface="Cambria Math" panose="02040503050406030204" pitchFamily="18" charset="0"/>
                          </a:rPr>
                          <m:t>𝑅</m:t>
                        </m:r>
                      </m:sub>
                    </m:sSub>
                    <m:r>
                      <a:rPr kumimoji="1" lang="en-US" altLang="ja-JP" b="0" i="1" smtClean="0">
                        <a:latin typeface="Cambria Math" panose="02040503050406030204" pitchFamily="18" charset="0"/>
                        <a:ea typeface="Cambria Math" panose="02040503050406030204" pitchFamily="18" charset="0"/>
                      </a:rPr>
                      <m:t>∆</m:t>
                    </m:r>
                    <m:r>
                      <a:rPr kumimoji="1" lang="en-US" altLang="ja-JP" b="0" i="1" smtClean="0">
                        <a:latin typeface="Cambria Math" panose="02040503050406030204" pitchFamily="18" charset="0"/>
                        <a:ea typeface="Cambria Math" panose="02040503050406030204" pitchFamily="18" charset="0"/>
                      </a:rPr>
                      <m:t>𝑡</m:t>
                    </m:r>
                  </m:oMath>
                </a14:m>
                <a:r>
                  <a:rPr kumimoji="1" lang="ja-JP" altLang="en-US" dirty="0"/>
                  <a:t>ずれる</a:t>
                </a:r>
                <a:endParaRPr kumimoji="1" lang="en-US" altLang="ja-JP" dirty="0"/>
              </a:p>
              <a:p>
                <a:r>
                  <a:rPr lang="ja-JP" altLang="en-US" dirty="0"/>
                  <a:t>位相は</a:t>
                </a:r>
                <a14:m>
                  <m:oMath xmlns:m="http://schemas.openxmlformats.org/officeDocument/2006/math">
                    <m:r>
                      <a:rPr lang="en-US" altLang="ja-JP" b="0" i="1" smtClean="0">
                        <a:latin typeface="Cambria Math" panose="02040503050406030204" pitchFamily="18" charset="0"/>
                      </a:rPr>
                      <m:t>2</m:t>
                    </m:r>
                    <m:r>
                      <a:rPr lang="ja-JP" altLang="en-US" b="0" i="1" smtClean="0">
                        <a:latin typeface="Cambria Math" panose="02040503050406030204" pitchFamily="18" charset="0"/>
                      </a:rPr>
                      <m:t>𝜋</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𝑓</m:t>
                        </m:r>
                      </m:e>
                      <m:sub>
                        <m:r>
                          <m:rPr>
                            <m:sty m:val="p"/>
                          </m:rPr>
                          <a:rPr lang="en-US" altLang="ja-JP" b="0" i="0" smtClean="0">
                            <a:latin typeface="Cambria Math" panose="02040503050406030204" pitchFamily="18" charset="0"/>
                          </a:rPr>
                          <m:t>REF</m:t>
                        </m:r>
                      </m:sub>
                    </m:sSub>
                    <m:r>
                      <m:rPr>
                        <m:sty m:val="p"/>
                      </m:rPr>
                      <a:rPr lang="el-GR" altLang="ja-JP" b="0" i="1" smtClean="0">
                        <a:latin typeface="Cambria Math" panose="02040503050406030204" pitchFamily="18" charset="0"/>
                        <a:ea typeface="Cambria Math" panose="02040503050406030204" pitchFamily="18" charset="0"/>
                      </a:rPr>
                      <m:t>Δ</m:t>
                    </m:r>
                    <m:r>
                      <a:rPr lang="en-US" altLang="ja-JP" b="0" i="1" smtClean="0">
                        <a:latin typeface="Cambria Math" panose="02040503050406030204" pitchFamily="18" charset="0"/>
                        <a:ea typeface="Cambria Math" panose="02040503050406030204" pitchFamily="18" charset="0"/>
                      </a:rPr>
                      <m:t>𝑡</m:t>
                    </m:r>
                  </m:oMath>
                </a14:m>
                <a:r>
                  <a:rPr kumimoji="1" lang="ja-JP" altLang="en-US" dirty="0"/>
                  <a:t>ずれるので</a:t>
                </a: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𝐾</m:t>
                        </m:r>
                      </m:e>
                      <m:sub>
                        <m:r>
                          <a:rPr kumimoji="1" lang="en-US" altLang="ja-JP" b="0" i="1" smtClean="0">
                            <a:latin typeface="Cambria Math" panose="02040503050406030204" pitchFamily="18" charset="0"/>
                          </a:rPr>
                          <m:t>𝑃𝐷𝐴</m:t>
                        </m:r>
                      </m:sub>
                    </m:sSub>
                    <m:r>
                      <a:rPr kumimoji="1" lang="en-US" altLang="ja-JP" b="0" i="1" smtClean="0">
                        <a:latin typeface="Cambria Math" panose="02040503050406030204" pitchFamily="18" charset="0"/>
                      </a:rPr>
                      <m:t>= </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𝑆</m:t>
                        </m:r>
                      </m:e>
                      <m:sub>
                        <m:r>
                          <a:rPr kumimoji="1" lang="en-US" altLang="ja-JP" b="0" i="1" smtClean="0">
                            <a:latin typeface="Cambria Math" panose="02040503050406030204" pitchFamily="18" charset="0"/>
                          </a:rPr>
                          <m:t>𝑅</m:t>
                        </m:r>
                      </m:sub>
                    </m:sSub>
                    <m:r>
                      <a:rPr kumimoji="1" lang="en-US" altLang="ja-JP" b="0" i="1" smtClean="0">
                        <a:latin typeface="Cambria Math" panose="02040503050406030204" pitchFamily="18" charset="0"/>
                      </a:rPr>
                      <m:t>/</m:t>
                    </m:r>
                    <m:r>
                      <a:rPr lang="en-US" altLang="ja-JP" i="1">
                        <a:latin typeface="Cambria Math" panose="02040503050406030204" pitchFamily="18" charset="0"/>
                      </a:rPr>
                      <m:t>2</m:t>
                    </m:r>
                    <m:r>
                      <a:rPr lang="ja-JP" altLang="en-US" i="1">
                        <a:latin typeface="Cambria Math" panose="02040503050406030204" pitchFamily="18" charset="0"/>
                      </a:rPr>
                      <m:t>𝜋</m:t>
                    </m:r>
                    <m:sSub>
                      <m:sSubPr>
                        <m:ctrlPr>
                          <a:rPr lang="en-US" altLang="ja-JP" i="1">
                            <a:latin typeface="Cambria Math" panose="02040503050406030204" pitchFamily="18" charset="0"/>
                          </a:rPr>
                        </m:ctrlPr>
                      </m:sSubPr>
                      <m:e>
                        <m:r>
                          <a:rPr lang="en-US" altLang="ja-JP" i="1">
                            <a:latin typeface="Cambria Math" panose="02040503050406030204" pitchFamily="18" charset="0"/>
                          </a:rPr>
                          <m:t>𝑓</m:t>
                        </m:r>
                      </m:e>
                      <m:sub>
                        <m:r>
                          <m:rPr>
                            <m:sty m:val="p"/>
                          </m:rPr>
                          <a:rPr lang="en-US" altLang="ja-JP">
                            <a:latin typeface="Cambria Math" panose="02040503050406030204" pitchFamily="18" charset="0"/>
                          </a:rPr>
                          <m:t>REF</m:t>
                        </m:r>
                      </m:sub>
                    </m:sSub>
                  </m:oMath>
                </a14:m>
                <a:endParaRPr kumimoji="1" lang="en-US" altLang="ja-JP" dirty="0"/>
              </a:p>
              <a:p>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𝑆</m:t>
                        </m:r>
                      </m:e>
                      <m:sub>
                        <m:r>
                          <a:rPr lang="en-US" altLang="ja-JP" i="1">
                            <a:latin typeface="Cambria Math" panose="02040503050406030204" pitchFamily="18" charset="0"/>
                          </a:rPr>
                          <m:t>𝑅</m:t>
                        </m:r>
                      </m:sub>
                    </m:sSub>
                  </m:oMath>
                </a14:m>
                <a:r>
                  <a:rPr kumimoji="1" lang="ja-JP" altLang="en-US" dirty="0"/>
                  <a:t>がどういう定数なのかはよくわからなかった</a:t>
                </a:r>
              </a:p>
            </p:txBody>
          </p:sp>
        </mc:Choice>
        <mc:Fallback xmlns="">
          <p:sp>
            <p:nvSpPr>
              <p:cNvPr id="3" name="コンテンツ プレースホルダー 2">
                <a:extLst>
                  <a:ext uri="{FF2B5EF4-FFF2-40B4-BE49-F238E27FC236}">
                    <a16:creationId xmlns:a16="http://schemas.microsoft.com/office/drawing/2014/main" id="{FFBB261B-7ABE-6E5C-1D89-5C72C60D41D4}"/>
                  </a:ext>
                </a:extLst>
              </p:cNvPr>
              <p:cNvSpPr>
                <a:spLocks noGrp="1" noRot="1" noChangeAspect="1" noMove="1" noResize="1" noEditPoints="1" noAdjustHandles="1" noChangeArrowheads="1" noChangeShapeType="1" noTextEdit="1"/>
              </p:cNvSpPr>
              <p:nvPr>
                <p:ph idx="1"/>
              </p:nvPr>
            </p:nvSpPr>
            <p:spPr>
              <a:blipFill>
                <a:blip r:embed="rId3"/>
                <a:stretch>
                  <a:fillRect l="-1043" t="-2521"/>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D5411DA2-32FD-DC06-85D4-3585965F691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pic>
        <p:nvPicPr>
          <p:cNvPr id="6" name="図 5">
            <a:extLst>
              <a:ext uri="{FF2B5EF4-FFF2-40B4-BE49-F238E27FC236}">
                <a16:creationId xmlns:a16="http://schemas.microsoft.com/office/drawing/2014/main" id="{4F0CA3FD-842E-F005-4792-4048AD6F8A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37042" y="4921384"/>
            <a:ext cx="8717915" cy="1616566"/>
          </a:xfrm>
          <a:prstGeom prst="rect">
            <a:avLst/>
          </a:prstGeom>
        </p:spPr>
      </p:pic>
    </p:spTree>
    <p:extLst>
      <p:ext uri="{BB962C8B-B14F-4D97-AF65-F5344CB8AC3E}">
        <p14:creationId xmlns:p14="http://schemas.microsoft.com/office/powerpoint/2010/main" val="89849482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B056098-6E27-3021-F496-BF782879C8A9}"/>
              </a:ext>
            </a:extLst>
          </p:cNvPr>
          <p:cNvSpPr>
            <a:spLocks noGrp="1"/>
          </p:cNvSpPr>
          <p:nvPr>
            <p:ph type="title"/>
          </p:nvPr>
        </p:nvSpPr>
        <p:spPr/>
        <p:txBody>
          <a:bodyPr/>
          <a:lstStyle/>
          <a:p>
            <a:r>
              <a:rPr kumimoji="1" lang="en-US" altLang="ja-JP" dirty="0"/>
              <a:t>3. </a:t>
            </a:r>
            <a:r>
              <a:rPr kumimoji="1" lang="ja-JP" altLang="en-US" dirty="0"/>
              <a:t>提案手法</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8B7E193B-6299-8D15-8CA3-2E9D5EE8BD3B}"/>
                  </a:ext>
                </a:extLst>
              </p:cNvPr>
              <p:cNvSpPr>
                <a:spLocks noGrp="1"/>
              </p:cNvSpPr>
              <p:nvPr>
                <p:ph idx="1"/>
              </p:nvPr>
            </p:nvSpPr>
            <p:spPr/>
            <p:txBody>
              <a:bodyPr/>
              <a:lstStyle/>
              <a:p>
                <a:r>
                  <a:rPr kumimoji="1" lang="ja-JP" altLang="en-US" dirty="0"/>
                  <a:t>式</a:t>
                </a:r>
                <a:r>
                  <a:rPr kumimoji="1" lang="en-US" altLang="ja-JP" dirty="0"/>
                  <a:t>(7)</a:t>
                </a:r>
                <a:r>
                  <a:rPr kumimoji="1" lang="ja-JP" altLang="en-US" dirty="0"/>
                  <a:t>について</a:t>
                </a:r>
                <a:endParaRPr kumimoji="1" lang="en-US" altLang="ja-JP" dirty="0"/>
              </a:p>
              <a:p>
                <a:r>
                  <a:rPr lang="ja-JP" altLang="en-US" dirty="0"/>
                  <a:t>第</a:t>
                </a:r>
                <a:r>
                  <a:rPr lang="en-US" altLang="ja-JP" dirty="0"/>
                  <a:t>1</a:t>
                </a:r>
                <a:r>
                  <a:rPr lang="ja-JP" altLang="en-US" dirty="0"/>
                  <a:t>項は矩形波のラプラス変換</a:t>
                </a:r>
                <a:endParaRPr lang="en-US" altLang="ja-JP" dirty="0"/>
              </a:p>
              <a:p>
                <a:r>
                  <a:rPr kumimoji="1" lang="ja-JP" altLang="en-US" dirty="0"/>
                  <a:t>第</a:t>
                </a:r>
                <a:r>
                  <a:rPr kumimoji="1" lang="en-US" altLang="ja-JP" dirty="0"/>
                  <a:t>2</a:t>
                </a:r>
                <a:r>
                  <a:rPr kumimoji="1" lang="ja-JP" altLang="en-US" dirty="0"/>
                  <a:t>項は、矩形波</a:t>
                </a:r>
                <a:r>
                  <a:rPr kumimoji="1" lang="en-US" altLang="ja-JP" dirty="0"/>
                  <a:t>1</a:t>
                </a:r>
                <a:r>
                  <a:rPr kumimoji="1" lang="ja-JP" altLang="en-US" dirty="0"/>
                  <a:t>つが</a:t>
                </a:r>
                <a14:m>
                  <m:oMath xmlns:m="http://schemas.openxmlformats.org/officeDocument/2006/math">
                    <m:r>
                      <a:rPr kumimoji="1" lang="en-US" altLang="ja-JP" b="0" i="1" smtClean="0">
                        <a:latin typeface="Cambria Math" panose="02040503050406030204" pitchFamily="18" charset="0"/>
                      </a:rPr>
                      <m:t>1/</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𝑓</m:t>
                        </m:r>
                      </m:e>
                      <m:sub>
                        <m:r>
                          <m:rPr>
                            <m:sty m:val="p"/>
                          </m:rPr>
                          <a:rPr kumimoji="1" lang="en-US" altLang="ja-JP" b="0" i="0" smtClean="0">
                            <a:latin typeface="Cambria Math" panose="02040503050406030204" pitchFamily="18" charset="0"/>
                          </a:rPr>
                          <m:t>REF</m:t>
                        </m:r>
                      </m:sub>
                    </m:sSub>
                  </m:oMath>
                </a14:m>
                <a:r>
                  <a:rPr kumimoji="1" lang="ja-JP" altLang="en-US" dirty="0"/>
                  <a:t>ホールドされるため、その中心である</a:t>
                </a:r>
                <a14:m>
                  <m:oMath xmlns:m="http://schemas.openxmlformats.org/officeDocument/2006/math">
                    <m:r>
                      <a:rPr lang="en-US" altLang="ja-JP" i="1">
                        <a:latin typeface="Cambria Math" panose="02040503050406030204" pitchFamily="18" charset="0"/>
                      </a:rPr>
                      <m:t>1/</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2</m:t>
                        </m:r>
                        <m:r>
                          <a:rPr lang="en-US" altLang="ja-JP" i="1">
                            <a:latin typeface="Cambria Math" panose="02040503050406030204" pitchFamily="18" charset="0"/>
                          </a:rPr>
                          <m:t>𝑓</m:t>
                        </m:r>
                      </m:e>
                      <m:sub>
                        <m:r>
                          <m:rPr>
                            <m:sty m:val="p"/>
                          </m:rPr>
                          <a:rPr lang="en-US" altLang="ja-JP">
                            <a:latin typeface="Cambria Math" panose="02040503050406030204" pitchFamily="18" charset="0"/>
                          </a:rPr>
                          <m:t>REF</m:t>
                        </m:r>
                      </m:sub>
                    </m:sSub>
                  </m:oMath>
                </a14:m>
                <a:r>
                  <a:rPr kumimoji="1" lang="ja-JP" altLang="en-US" dirty="0"/>
                  <a:t>だけ平均して遅延される</a:t>
                </a:r>
                <a:endParaRPr kumimoji="1" lang="en-US" altLang="ja-JP" dirty="0"/>
              </a:p>
              <a:p>
                <a:r>
                  <a:rPr lang="ja-JP" altLang="en-US" dirty="0"/>
                  <a:t>第</a:t>
                </a:r>
                <a:r>
                  <a:rPr lang="en-US" altLang="ja-JP" dirty="0"/>
                  <a:t>3</a:t>
                </a:r>
                <a:r>
                  <a:rPr lang="ja-JP" altLang="en-US" dirty="0"/>
                  <a:t>項は、フィルタがスイッチトキャパシタになっているため</a:t>
                </a:r>
                <a:br>
                  <a:rPr lang="en-US" altLang="ja-JP" dirty="0"/>
                </a:b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𝐶</m:t>
                        </m:r>
                      </m:e>
                      <m:sub>
                        <m:r>
                          <a:rPr lang="en-US" altLang="ja-JP" b="0" i="1" smtClean="0">
                            <a:latin typeface="Cambria Math" panose="02040503050406030204" pitchFamily="18" charset="0"/>
                          </a:rPr>
                          <m:t>1</m:t>
                        </m:r>
                      </m:sub>
                    </m:sSub>
                    <m:r>
                      <a:rPr lang="ja-JP" altLang="en-US" i="1">
                        <a:latin typeface="Cambria Math" panose="02040503050406030204" pitchFamily="18" charset="0"/>
                      </a:rPr>
                      <m:t>の</m:t>
                    </m:r>
                  </m:oMath>
                </a14:m>
                <a:r>
                  <a:rPr kumimoji="1" lang="ja-JP" altLang="en-US" dirty="0"/>
                  <a:t>等価抵抗が</a:t>
                </a:r>
                <a14:m>
                  <m:oMath xmlns:m="http://schemas.openxmlformats.org/officeDocument/2006/math">
                    <m:r>
                      <a:rPr lang="en-US" altLang="ja-JP" b="0" i="0" smtClean="0">
                        <a:latin typeface="Cambria Math" panose="02040503050406030204" pitchFamily="18" charset="0"/>
                      </a:rPr>
                      <m:t>1/</m:t>
                    </m:r>
                    <m:sSub>
                      <m:sSubPr>
                        <m:ctrlPr>
                          <a:rPr lang="en-US" altLang="ja-JP" i="1">
                            <a:latin typeface="Cambria Math" panose="02040503050406030204" pitchFamily="18" charset="0"/>
                          </a:rPr>
                        </m:ctrlPr>
                      </m:sSubPr>
                      <m:e>
                        <m:r>
                          <a:rPr lang="en-US" altLang="ja-JP" i="1">
                            <a:latin typeface="Cambria Math" panose="02040503050406030204" pitchFamily="18" charset="0"/>
                          </a:rPr>
                          <m:t>𝐶</m:t>
                        </m:r>
                      </m:e>
                      <m:sub>
                        <m:r>
                          <a:rPr lang="en-US" altLang="ja-JP" i="1">
                            <a:latin typeface="Cambria Math" panose="02040503050406030204" pitchFamily="18" charset="0"/>
                          </a:rPr>
                          <m:t>1</m:t>
                        </m:r>
                      </m:sub>
                    </m:sSub>
                    <m:sSub>
                      <m:sSubPr>
                        <m:ctrlPr>
                          <a:rPr lang="en-US" altLang="ja-JP" i="1">
                            <a:latin typeface="Cambria Math" panose="02040503050406030204" pitchFamily="18" charset="0"/>
                          </a:rPr>
                        </m:ctrlPr>
                      </m:sSubPr>
                      <m:e>
                        <m:r>
                          <a:rPr lang="en-US" altLang="ja-JP" i="1">
                            <a:latin typeface="Cambria Math" panose="02040503050406030204" pitchFamily="18" charset="0"/>
                          </a:rPr>
                          <m:t>𝑓</m:t>
                        </m:r>
                      </m:e>
                      <m:sub>
                        <m:r>
                          <m:rPr>
                            <m:sty m:val="p"/>
                          </m:rPr>
                          <a:rPr lang="en-US" altLang="ja-JP">
                            <a:latin typeface="Cambria Math" panose="02040503050406030204" pitchFamily="18" charset="0"/>
                          </a:rPr>
                          <m:t>REF</m:t>
                        </m:r>
                      </m:sub>
                    </m:sSub>
                  </m:oMath>
                </a14:m>
                <a:endParaRPr kumimoji="1" lang="en-US" altLang="ja-JP" dirty="0"/>
              </a:p>
              <a:p>
                <a14:m>
                  <m:oMath xmlns:m="http://schemas.openxmlformats.org/officeDocument/2006/math">
                    <m:f>
                      <m:fPr>
                        <m:type m:val="lin"/>
                        <m:ctrlPr>
                          <a:rPr kumimoji="1" lang="en-US" altLang="ja-JP" i="1" smtClean="0">
                            <a:latin typeface="Cambria Math" panose="02040503050406030204" pitchFamily="18" charset="0"/>
                          </a:rPr>
                        </m:ctrlPr>
                      </m:fPr>
                      <m:num>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𝐶</m:t>
                            </m:r>
                          </m:e>
                          <m:sub>
                            <m:r>
                              <a:rPr kumimoji="1" lang="en-US" altLang="ja-JP" b="0" i="1" smtClean="0">
                                <a:latin typeface="Cambria Math" panose="02040503050406030204" pitchFamily="18" charset="0"/>
                              </a:rPr>
                              <m:t>2</m:t>
                            </m:r>
                          </m:sub>
                        </m:sSub>
                      </m:num>
                      <m:den>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𝐶</m:t>
                            </m:r>
                          </m:e>
                          <m:sub>
                            <m:r>
                              <a:rPr kumimoji="1" lang="en-US" altLang="ja-JP" b="0" i="1" smtClean="0">
                                <a:latin typeface="Cambria Math" panose="02040503050406030204" pitchFamily="18" charset="0"/>
                              </a:rPr>
                              <m:t>1</m:t>
                            </m:r>
                          </m:sub>
                        </m:sSub>
                      </m:den>
                    </m:f>
                  </m:oMath>
                </a14:m>
                <a:r>
                  <a:rPr kumimoji="1" lang="ja-JP" altLang="en-US" dirty="0"/>
                  <a:t>の比率は高精度で揃えられる</a:t>
                </a:r>
                <a:r>
                  <a:rPr kumimoji="1" lang="en-US" altLang="ja-JP" dirty="0"/>
                  <a:t>(</a:t>
                </a:r>
                <a:r>
                  <a:rPr kumimoji="1" lang="ja-JP" altLang="en-US" dirty="0"/>
                  <a:t>式</a:t>
                </a:r>
                <a:r>
                  <a:rPr kumimoji="1" lang="en-US" altLang="ja-JP" dirty="0"/>
                  <a:t>(9)</a:t>
                </a:r>
                <a:r>
                  <a:rPr kumimoji="1" lang="ja-JP" altLang="en-US" dirty="0"/>
                  <a:t>の伏線</a:t>
                </a:r>
                <a:r>
                  <a:rPr kumimoji="1" lang="en-US" altLang="ja-JP" dirty="0"/>
                  <a:t>)</a:t>
                </a:r>
              </a:p>
              <a:p>
                <a:endParaRPr kumimoji="1" lang="ja-JP" altLang="en-US" dirty="0"/>
              </a:p>
            </p:txBody>
          </p:sp>
        </mc:Choice>
        <mc:Fallback xmlns="">
          <p:sp>
            <p:nvSpPr>
              <p:cNvPr id="3" name="コンテンツ プレースホルダー 2">
                <a:extLst>
                  <a:ext uri="{FF2B5EF4-FFF2-40B4-BE49-F238E27FC236}">
                    <a16:creationId xmlns:a16="http://schemas.microsoft.com/office/drawing/2014/main" id="{8B7E193B-6299-8D15-8CA3-2E9D5EE8BD3B}"/>
                  </a:ext>
                </a:extLst>
              </p:cNvPr>
              <p:cNvSpPr>
                <a:spLocks noGrp="1" noRot="1" noChangeAspect="1" noMove="1" noResize="1" noEditPoints="1" noAdjustHandles="1" noChangeArrowheads="1" noChangeShapeType="1" noTextEdit="1"/>
              </p:cNvSpPr>
              <p:nvPr>
                <p:ph idx="1"/>
              </p:nvPr>
            </p:nvSpPr>
            <p:spPr>
              <a:blipFill>
                <a:blip r:embed="rId3"/>
                <a:stretch>
                  <a:fillRect l="-1043" t="-2521"/>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5473478D-C96C-0807-50F2-C968A472AD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pic>
        <p:nvPicPr>
          <p:cNvPr id="6" name="図 5">
            <a:extLst>
              <a:ext uri="{FF2B5EF4-FFF2-40B4-BE49-F238E27FC236}">
                <a16:creationId xmlns:a16="http://schemas.microsoft.com/office/drawing/2014/main" id="{0B17E529-77F1-2E26-0AB6-9FB47871FC10}"/>
              </a:ext>
            </a:extLst>
          </p:cNvPr>
          <p:cNvPicPr>
            <a:picLocks noChangeAspect="1"/>
          </p:cNvPicPr>
          <p:nvPr/>
        </p:nvPicPr>
        <p:blipFill>
          <a:blip r:embed="rId4"/>
          <a:stretch>
            <a:fillRect/>
          </a:stretch>
        </p:blipFill>
        <p:spPr>
          <a:xfrm>
            <a:off x="1993659" y="5272446"/>
            <a:ext cx="8204681" cy="1265504"/>
          </a:xfrm>
          <a:prstGeom prst="rect">
            <a:avLst/>
          </a:prstGeom>
        </p:spPr>
      </p:pic>
    </p:spTree>
    <p:extLst>
      <p:ext uri="{BB962C8B-B14F-4D97-AF65-F5344CB8AC3E}">
        <p14:creationId xmlns:p14="http://schemas.microsoft.com/office/powerpoint/2010/main" val="321972204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EE941-8647-4646-B187-721431514B5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039907F-64C9-44F1-EA61-9EFC0D1521B6}"/>
              </a:ext>
            </a:extLst>
          </p:cNvPr>
          <p:cNvSpPr>
            <a:spLocks noGrp="1"/>
          </p:cNvSpPr>
          <p:nvPr>
            <p:ph type="title"/>
          </p:nvPr>
        </p:nvSpPr>
        <p:spPr/>
        <p:txBody>
          <a:bodyPr/>
          <a:lstStyle/>
          <a:p>
            <a:r>
              <a:rPr kumimoji="1" lang="en-US" altLang="ja-JP" dirty="0"/>
              <a:t>3. </a:t>
            </a:r>
            <a:r>
              <a:rPr kumimoji="1" lang="ja-JP" altLang="en-US" dirty="0"/>
              <a:t>提案手法</a:t>
            </a:r>
          </a:p>
        </p:txBody>
      </p:sp>
      <p:sp>
        <p:nvSpPr>
          <p:cNvPr id="3" name="コンテンツ プレースホルダー 2">
            <a:extLst>
              <a:ext uri="{FF2B5EF4-FFF2-40B4-BE49-F238E27FC236}">
                <a16:creationId xmlns:a16="http://schemas.microsoft.com/office/drawing/2014/main" id="{9E0F9EE8-5D5C-D3BC-1516-507741C6FE24}"/>
              </a:ext>
            </a:extLst>
          </p:cNvPr>
          <p:cNvSpPr>
            <a:spLocks noGrp="1"/>
          </p:cNvSpPr>
          <p:nvPr>
            <p:ph idx="1"/>
          </p:nvPr>
        </p:nvSpPr>
        <p:spPr/>
        <p:txBody>
          <a:bodyPr/>
          <a:lstStyle/>
          <a:p>
            <a:r>
              <a:rPr kumimoji="1" lang="ja-JP" altLang="en-US" dirty="0"/>
              <a:t>補助</a:t>
            </a:r>
            <a:r>
              <a:rPr kumimoji="1" lang="en-US" altLang="ja-JP" dirty="0"/>
              <a:t>PLL</a:t>
            </a:r>
            <a:r>
              <a:rPr kumimoji="1" lang="ja-JP" altLang="en-US" dirty="0"/>
              <a:t>について</a:t>
            </a:r>
            <a:endParaRPr kumimoji="1" lang="en-US" altLang="ja-JP" dirty="0"/>
          </a:p>
          <a:p>
            <a:endParaRPr lang="en-US" altLang="ja-JP" dirty="0"/>
          </a:p>
          <a:p>
            <a:r>
              <a:rPr kumimoji="1" lang="ja-JP" altLang="en-US" dirty="0"/>
              <a:t>補助</a:t>
            </a:r>
            <a:r>
              <a:rPr kumimoji="1" lang="en-US" altLang="ja-JP" dirty="0"/>
              <a:t>VCO</a:t>
            </a:r>
            <a:r>
              <a:rPr kumimoji="1" lang="ja-JP" altLang="en-US" dirty="0"/>
              <a:t>から出力への伝達関数は式</a:t>
            </a:r>
            <a:r>
              <a:rPr kumimoji="1" lang="en-US" altLang="ja-JP" dirty="0"/>
              <a:t>(8)</a:t>
            </a:r>
            <a:r>
              <a:rPr kumimoji="1" lang="ja-JP" altLang="en-US" dirty="0"/>
              <a:t>で与えられる</a:t>
            </a:r>
            <a:br>
              <a:rPr kumimoji="1" lang="en-US" altLang="ja-JP" dirty="0"/>
            </a:br>
            <a:r>
              <a:rPr kumimoji="1" lang="ja-JP" altLang="en-US" dirty="0"/>
              <a:t>→これが、ハイパス、ローパス、</a:t>
            </a:r>
            <a:r>
              <a:rPr lang="ja-JP" altLang="en-US" dirty="0"/>
              <a:t>引き算の項で構成</a:t>
            </a:r>
            <a:endParaRPr lang="en-US" altLang="ja-JP" dirty="0"/>
          </a:p>
          <a:p>
            <a:endParaRPr kumimoji="1" lang="en-US" altLang="ja-JP" dirty="0"/>
          </a:p>
          <a:p>
            <a:r>
              <a:rPr lang="ja-JP" altLang="en-US" dirty="0"/>
              <a:t>引き算の項が</a:t>
            </a:r>
            <a:r>
              <a:rPr lang="en-US" altLang="ja-JP" dirty="0"/>
              <a:t>0</a:t>
            </a:r>
            <a:r>
              <a:rPr lang="ja-JP" altLang="en-US" dirty="0"/>
              <a:t>になれば良いが、</a:t>
            </a:r>
            <a:r>
              <a:rPr lang="en-US" altLang="ja-JP" dirty="0"/>
              <a:t>s</a:t>
            </a:r>
            <a:r>
              <a:rPr lang="ja-JP" altLang="en-US" dirty="0"/>
              <a:t>の関数を含むため不可能</a:t>
            </a:r>
            <a:endParaRPr kumimoji="1" lang="ja-JP" altLang="en-US" dirty="0"/>
          </a:p>
        </p:txBody>
      </p:sp>
      <p:sp>
        <p:nvSpPr>
          <p:cNvPr id="4" name="スライド番号プレースホルダー 3">
            <a:extLst>
              <a:ext uri="{FF2B5EF4-FFF2-40B4-BE49-F238E27FC236}">
                <a16:creationId xmlns:a16="http://schemas.microsoft.com/office/drawing/2014/main" id="{8DCEEA9B-00CE-2B39-EDC2-1B2C359F5CC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pic>
        <p:nvPicPr>
          <p:cNvPr id="6" name="図 5">
            <a:extLst>
              <a:ext uri="{FF2B5EF4-FFF2-40B4-BE49-F238E27FC236}">
                <a16:creationId xmlns:a16="http://schemas.microsoft.com/office/drawing/2014/main" id="{1FFE7729-C0B4-6D02-326D-A1C027151E39}"/>
              </a:ext>
            </a:extLst>
          </p:cNvPr>
          <p:cNvPicPr>
            <a:picLocks noChangeAspect="1"/>
          </p:cNvPicPr>
          <p:nvPr/>
        </p:nvPicPr>
        <p:blipFill>
          <a:blip r:embed="rId2"/>
          <a:stretch>
            <a:fillRect/>
          </a:stretch>
        </p:blipFill>
        <p:spPr>
          <a:xfrm>
            <a:off x="3638207" y="4737474"/>
            <a:ext cx="4915586" cy="1800476"/>
          </a:xfrm>
          <a:prstGeom prst="rect">
            <a:avLst/>
          </a:prstGeom>
        </p:spPr>
      </p:pic>
    </p:spTree>
    <p:extLst>
      <p:ext uri="{BB962C8B-B14F-4D97-AF65-F5344CB8AC3E}">
        <p14:creationId xmlns:p14="http://schemas.microsoft.com/office/powerpoint/2010/main" val="74410845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5152643-B62B-4944-D8C4-8C5401D36D85}"/>
              </a:ext>
            </a:extLst>
          </p:cNvPr>
          <p:cNvSpPr>
            <a:spLocks noGrp="1"/>
          </p:cNvSpPr>
          <p:nvPr>
            <p:ph type="title"/>
          </p:nvPr>
        </p:nvSpPr>
        <p:spPr/>
        <p:txBody>
          <a:bodyPr/>
          <a:lstStyle/>
          <a:p>
            <a:r>
              <a:rPr kumimoji="1" lang="en-US" altLang="ja-JP" dirty="0"/>
              <a:t>3.</a:t>
            </a:r>
            <a:r>
              <a:rPr kumimoji="1" lang="ja-JP" altLang="en-US" dirty="0"/>
              <a:t>提案手法</a:t>
            </a:r>
          </a:p>
        </p:txBody>
      </p:sp>
      <p:sp>
        <p:nvSpPr>
          <p:cNvPr id="3" name="コンテンツ プレースホルダー 2">
            <a:extLst>
              <a:ext uri="{FF2B5EF4-FFF2-40B4-BE49-F238E27FC236}">
                <a16:creationId xmlns:a16="http://schemas.microsoft.com/office/drawing/2014/main" id="{16E8326E-392C-B20C-F49D-8F19E762E5E5}"/>
              </a:ext>
            </a:extLst>
          </p:cNvPr>
          <p:cNvSpPr>
            <a:spLocks noGrp="1"/>
          </p:cNvSpPr>
          <p:nvPr>
            <p:ph idx="1"/>
          </p:nvPr>
        </p:nvSpPr>
        <p:spPr/>
        <p:txBody>
          <a:bodyPr/>
          <a:lstStyle/>
          <a:p>
            <a:r>
              <a:rPr kumimoji="1" lang="ja-JP" altLang="en-US" dirty="0"/>
              <a:t>定数を調整し式</a:t>
            </a:r>
            <a:r>
              <a:rPr lang="en-US" altLang="ja-JP" dirty="0"/>
              <a:t>(10)</a:t>
            </a:r>
            <a:r>
              <a:rPr lang="ja-JP" altLang="en-US" dirty="0"/>
              <a:t>とするのが望ましい</a:t>
            </a:r>
            <a:endParaRPr lang="en-US" altLang="ja-JP" dirty="0"/>
          </a:p>
          <a:p>
            <a:endParaRPr kumimoji="1" lang="en-US" altLang="ja-JP" dirty="0"/>
          </a:p>
          <a:p>
            <a:r>
              <a:rPr lang="ja-JP" altLang="en-US" dirty="0"/>
              <a:t>この調整から</a:t>
            </a:r>
            <a:r>
              <a:rPr lang="en-US" altLang="ja-JP" dirty="0"/>
              <a:t>+-20%</a:t>
            </a:r>
            <a:r>
              <a:rPr lang="ja-JP" altLang="en-US" dirty="0"/>
              <a:t>以内であれば</a:t>
            </a:r>
            <a:br>
              <a:rPr lang="en-US" altLang="ja-JP" dirty="0"/>
            </a:br>
            <a:r>
              <a:rPr lang="ja-JP" altLang="en-US" dirty="0"/>
              <a:t>性能の劣化はほぼ無視できる</a:t>
            </a:r>
            <a:endParaRPr kumimoji="1" lang="ja-JP" altLang="en-US" dirty="0"/>
          </a:p>
        </p:txBody>
      </p:sp>
      <p:sp>
        <p:nvSpPr>
          <p:cNvPr id="4" name="スライド番号プレースホルダー 3">
            <a:extLst>
              <a:ext uri="{FF2B5EF4-FFF2-40B4-BE49-F238E27FC236}">
                <a16:creationId xmlns:a16="http://schemas.microsoft.com/office/drawing/2014/main" id="{9DB607C3-ADA0-7DCD-1416-5AE860167CA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pic>
        <p:nvPicPr>
          <p:cNvPr id="6" name="図 5">
            <a:extLst>
              <a:ext uri="{FF2B5EF4-FFF2-40B4-BE49-F238E27FC236}">
                <a16:creationId xmlns:a16="http://schemas.microsoft.com/office/drawing/2014/main" id="{C59538B8-1573-D42C-D600-B386DB00D85D}"/>
              </a:ext>
            </a:extLst>
          </p:cNvPr>
          <p:cNvPicPr>
            <a:picLocks noChangeAspect="1"/>
          </p:cNvPicPr>
          <p:nvPr/>
        </p:nvPicPr>
        <p:blipFill>
          <a:blip r:embed="rId2"/>
          <a:stretch>
            <a:fillRect/>
          </a:stretch>
        </p:blipFill>
        <p:spPr>
          <a:xfrm>
            <a:off x="7614981" y="813640"/>
            <a:ext cx="3667637" cy="5363323"/>
          </a:xfrm>
          <a:prstGeom prst="rect">
            <a:avLst/>
          </a:prstGeom>
        </p:spPr>
      </p:pic>
      <p:pic>
        <p:nvPicPr>
          <p:cNvPr id="8" name="図 7">
            <a:extLst>
              <a:ext uri="{FF2B5EF4-FFF2-40B4-BE49-F238E27FC236}">
                <a16:creationId xmlns:a16="http://schemas.microsoft.com/office/drawing/2014/main" id="{C95D6D7B-0802-BEA5-57DE-125899A57548}"/>
              </a:ext>
            </a:extLst>
          </p:cNvPr>
          <p:cNvPicPr>
            <a:picLocks noChangeAspect="1"/>
          </p:cNvPicPr>
          <p:nvPr/>
        </p:nvPicPr>
        <p:blipFill>
          <a:blip r:embed="rId3"/>
          <a:stretch>
            <a:fillRect/>
          </a:stretch>
        </p:blipFill>
        <p:spPr>
          <a:xfrm>
            <a:off x="1342829" y="5159797"/>
            <a:ext cx="6102998" cy="1017166"/>
          </a:xfrm>
          <a:prstGeom prst="rect">
            <a:avLst/>
          </a:prstGeom>
        </p:spPr>
      </p:pic>
    </p:spTree>
    <p:extLst>
      <p:ext uri="{BB962C8B-B14F-4D97-AF65-F5344CB8AC3E}">
        <p14:creationId xmlns:p14="http://schemas.microsoft.com/office/powerpoint/2010/main" val="406671163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11BC22-A3EA-0DAD-DDEB-CA824D1D1862}"/>
              </a:ext>
            </a:extLst>
          </p:cNvPr>
          <p:cNvSpPr>
            <a:spLocks noGrp="1"/>
          </p:cNvSpPr>
          <p:nvPr>
            <p:ph type="title"/>
          </p:nvPr>
        </p:nvSpPr>
        <p:spPr/>
        <p:txBody>
          <a:bodyPr/>
          <a:lstStyle/>
          <a:p>
            <a:r>
              <a:rPr kumimoji="1" lang="ja-JP" altLang="en-US" dirty="0"/>
              <a:t>行ったこと</a:t>
            </a:r>
          </a:p>
        </p:txBody>
      </p:sp>
      <p:sp>
        <p:nvSpPr>
          <p:cNvPr id="3" name="コンテンツ プレースホルダー 2">
            <a:extLst>
              <a:ext uri="{FF2B5EF4-FFF2-40B4-BE49-F238E27FC236}">
                <a16:creationId xmlns:a16="http://schemas.microsoft.com/office/drawing/2014/main" id="{13B4EEC6-4C15-7745-0998-4B45D72B99EE}"/>
              </a:ext>
            </a:extLst>
          </p:cNvPr>
          <p:cNvSpPr>
            <a:spLocks noGrp="1"/>
          </p:cNvSpPr>
          <p:nvPr>
            <p:ph idx="1"/>
          </p:nvPr>
        </p:nvSpPr>
        <p:spPr/>
        <p:txBody>
          <a:bodyPr/>
          <a:lstStyle/>
          <a:p>
            <a:r>
              <a:rPr kumimoji="1" lang="ja-JP" altLang="en-US" dirty="0"/>
              <a:t>以上で、シミュレーションに必要な部分はさらった</a:t>
            </a:r>
            <a:endParaRPr kumimoji="1" lang="en-US" altLang="ja-JP" dirty="0"/>
          </a:p>
          <a:p>
            <a:endParaRPr lang="en-US" altLang="ja-JP" dirty="0"/>
          </a:p>
          <a:p>
            <a:r>
              <a:rPr lang="ja-JP" altLang="en-US" dirty="0"/>
              <a:t>一部パラメータが書かれていないこと、今の理解でコードが書けるか不安なことが懸念点</a:t>
            </a:r>
            <a:endParaRPr kumimoji="1" lang="ja-JP" altLang="en-US" dirty="0"/>
          </a:p>
        </p:txBody>
      </p:sp>
      <p:sp>
        <p:nvSpPr>
          <p:cNvPr id="4" name="スライド番号プレースホルダー 3">
            <a:extLst>
              <a:ext uri="{FF2B5EF4-FFF2-40B4-BE49-F238E27FC236}">
                <a16:creationId xmlns:a16="http://schemas.microsoft.com/office/drawing/2014/main" id="{F1845288-417B-7246-695A-85BBCF12116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393EC-507C-4088-8076-A9D25D19556B}" type="slidenum">
              <a:rPr kumimoji="1" lang="ja-JP" altLang="en-US" sz="2000" b="0" i="0" u="none" strike="noStrike" kern="1200" cap="none" spc="0" normalizeH="0" baseline="0" noProof="0" smtClean="0">
                <a:ln>
                  <a:noFill/>
                </a:ln>
                <a:solidFill>
                  <a:srgbClr val="303F43">
                    <a:tint val="82000"/>
                  </a:srgbClr>
                </a:solidFill>
                <a:effectLst/>
                <a:uLnTx/>
                <a:uFillTx/>
                <a:latin typeface="Roboto Medium"/>
                <a:ea typeface="源真ゴシック Medium"/>
                <a:cs typeface="+mn-cs"/>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1" lang="ja-JP" altLang="en-US" sz="2000" b="0" i="0" u="none" strike="noStrike" kern="1200" cap="none" spc="0" normalizeH="0" baseline="0" noProof="0">
              <a:ln>
                <a:noFill/>
              </a:ln>
              <a:solidFill>
                <a:srgbClr val="303F43">
                  <a:tint val="82000"/>
                </a:srgbClr>
              </a:solidFill>
              <a:effectLst/>
              <a:uLnTx/>
              <a:uFillTx/>
              <a:latin typeface="Roboto Medium"/>
              <a:ea typeface="源真ゴシック Medium"/>
              <a:cs typeface="+mn-cs"/>
            </a:endParaRPr>
          </a:p>
        </p:txBody>
      </p:sp>
    </p:spTree>
    <p:extLst>
      <p:ext uri="{BB962C8B-B14F-4D97-AF65-F5344CB8AC3E}">
        <p14:creationId xmlns:p14="http://schemas.microsoft.com/office/powerpoint/2010/main" val="3435408025"/>
      </p:ext>
    </p:extLst>
  </p:cSld>
  <p:clrMapOvr>
    <a:masterClrMapping/>
  </p:clrMapOvr>
</p:sld>
</file>

<file path=ppt/theme/theme1.xml><?xml version="1.0" encoding="utf-8"?>
<a:theme xmlns:a="http://schemas.openxmlformats.org/drawingml/2006/main" name="1_Office テーマ">
  <a:themeElements>
    <a:clrScheme name="lambda">
      <a:dk1>
        <a:srgbClr val="303F43"/>
      </a:dk1>
      <a:lt1>
        <a:srgbClr val="EDEFF1"/>
      </a:lt1>
      <a:dk2>
        <a:srgbClr val="303F43"/>
      </a:dk2>
      <a:lt2>
        <a:srgbClr val="EDEFF1"/>
      </a:lt2>
      <a:accent1>
        <a:srgbClr val="26A79A"/>
      </a:accent1>
      <a:accent2>
        <a:srgbClr val="EC4079"/>
      </a:accent2>
      <a:accent3>
        <a:srgbClr val="3F51B5"/>
      </a:accent3>
      <a:accent4>
        <a:srgbClr val="FFCA29"/>
      </a:accent4>
      <a:accent5>
        <a:srgbClr val="FFDF7E"/>
      </a:accent5>
      <a:accent6>
        <a:srgbClr val="26A79A"/>
      </a:accent6>
      <a:hlink>
        <a:srgbClr val="467886"/>
      </a:hlink>
      <a:folHlink>
        <a:srgbClr val="96607D"/>
      </a:folHlink>
    </a:clrScheme>
    <a:fontScheme name="見やすいフォント">
      <a:majorFont>
        <a:latin typeface="Roboto"/>
        <a:ea typeface="源真ゴシックP Bold"/>
        <a:cs typeface=""/>
      </a:majorFont>
      <a:minorFont>
        <a:latin typeface="Roboto Medium"/>
        <a:ea typeface="源真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28115</TotalTime>
  <Words>3413</Words>
  <Application>Microsoft Office PowerPoint</Application>
  <PresentationFormat>ワイド画面</PresentationFormat>
  <Paragraphs>484</Paragraphs>
  <Slides>81</Slides>
  <Notes>6</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81</vt:i4>
      </vt:variant>
    </vt:vector>
  </HeadingPairs>
  <TitlesOfParts>
    <vt:vector size="87" baseType="lpstr">
      <vt:lpstr>游ゴシック</vt:lpstr>
      <vt:lpstr>Arial</vt:lpstr>
      <vt:lpstr>Cambria Math</vt:lpstr>
      <vt:lpstr>Roboto</vt:lpstr>
      <vt:lpstr>Roboto Medium</vt:lpstr>
      <vt:lpstr>1_Office テーマ</vt:lpstr>
      <vt:lpstr>進捗報告 04/09</vt:lpstr>
      <vt:lpstr>やったこと</vt:lpstr>
      <vt:lpstr>従来型</vt:lpstr>
      <vt:lpstr>Dual-Feedback型①</vt:lpstr>
      <vt:lpstr>Dual-Feedback型②</vt:lpstr>
      <vt:lpstr>Dual-Feedback型③</vt:lpstr>
      <vt:lpstr>Dual-Feedback型④</vt:lpstr>
      <vt:lpstr>Dual-Feedback型⑤</vt:lpstr>
      <vt:lpstr>比較</vt:lpstr>
      <vt:lpstr>進捗報告 04/16</vt:lpstr>
      <vt:lpstr>やったこと</vt:lpstr>
      <vt:lpstr>PLL(位相同期回路)の役割</vt:lpstr>
      <vt:lpstr>2.1 PLLの基本構成</vt:lpstr>
      <vt:lpstr>2.1 PLLの基本構成</vt:lpstr>
      <vt:lpstr>2.1 PLLの基本構成</vt:lpstr>
      <vt:lpstr>2.1 PLLの基本構成</vt:lpstr>
      <vt:lpstr>2.1 PLLの基本構成</vt:lpstr>
      <vt:lpstr>2.1 PLLの基本構成</vt:lpstr>
      <vt:lpstr>2.1 PLLの基本構成</vt:lpstr>
      <vt:lpstr>2.2 分周</vt:lpstr>
      <vt:lpstr>2.2 分周</vt:lpstr>
      <vt:lpstr>2.2 分周</vt:lpstr>
      <vt:lpstr>2.2 分周</vt:lpstr>
      <vt:lpstr>2.2 分周</vt:lpstr>
      <vt:lpstr>2.2 分周</vt:lpstr>
      <vt:lpstr>2.2 分周</vt:lpstr>
      <vt:lpstr>3.1 Harmonic Mixer(HM)について</vt:lpstr>
      <vt:lpstr>3.1 Harmonic Mixer(HM)について</vt:lpstr>
      <vt:lpstr>3.1 Harmonic Mixer(HM)について</vt:lpstr>
      <vt:lpstr>3.1 Harmonic Mixer(HM)について</vt:lpstr>
      <vt:lpstr>3.1 Harmonic Mixer(HM)について</vt:lpstr>
      <vt:lpstr>3.2 Triple-Loop PLL</vt:lpstr>
      <vt:lpstr>3.2 Triple-Loop PLL</vt:lpstr>
      <vt:lpstr>3.2 Triple-Loop PLL</vt:lpstr>
      <vt:lpstr>Dual-Feedback PLL</vt:lpstr>
      <vt:lpstr>進捗報告 05/07</vt:lpstr>
      <vt:lpstr>やったこと</vt:lpstr>
      <vt:lpstr>やったこと</vt:lpstr>
      <vt:lpstr>実行の様子 30世代目</vt:lpstr>
      <vt:lpstr>実行の様子 60世代目</vt:lpstr>
      <vt:lpstr>実行の様子 90世代目</vt:lpstr>
      <vt:lpstr>実行の様子 100世代目(終了)</vt:lpstr>
      <vt:lpstr>やったこと</vt:lpstr>
      <vt:lpstr>別の回の様子 100世代目(終了)</vt:lpstr>
      <vt:lpstr>個体数500の結果 100世代目(終了)</vt:lpstr>
      <vt:lpstr>進捗報告 05/14</vt:lpstr>
      <vt:lpstr>やったこと</vt:lpstr>
      <vt:lpstr>出力したグラフ</vt:lpstr>
      <vt:lpstr>出力したグラフ</vt:lpstr>
      <vt:lpstr>やったこと</vt:lpstr>
      <vt:lpstr>1.Introduction</vt:lpstr>
      <vt:lpstr>1.Introduction</vt:lpstr>
      <vt:lpstr>1.Introduction</vt:lpstr>
      <vt:lpstr>2.多目的最適化アルゴリズム</vt:lpstr>
      <vt:lpstr>2.多目的最適化アルゴリズム</vt:lpstr>
      <vt:lpstr>2.多目的最適化アルゴリズム</vt:lpstr>
      <vt:lpstr>3.解析</vt:lpstr>
      <vt:lpstr>3.解析</vt:lpstr>
      <vt:lpstr>3.解析</vt:lpstr>
      <vt:lpstr>3.解析</vt:lpstr>
      <vt:lpstr>進捗報告 05/20</vt:lpstr>
      <vt:lpstr>行ったこと</vt:lpstr>
      <vt:lpstr>行ったこと</vt:lpstr>
      <vt:lpstr>PLLの比較</vt:lpstr>
      <vt:lpstr>PLLの比較</vt:lpstr>
      <vt:lpstr>進捗報告 05/28</vt:lpstr>
      <vt:lpstr>行ったこと</vt:lpstr>
      <vt:lpstr>1. Introduction</vt:lpstr>
      <vt:lpstr>1. Introduction</vt:lpstr>
      <vt:lpstr>2. ノイズの発生源</vt:lpstr>
      <vt:lpstr>2. ノイズの発生源</vt:lpstr>
      <vt:lpstr>2. ノイズの発生源</vt:lpstr>
      <vt:lpstr>2. ノイズの発生源</vt:lpstr>
      <vt:lpstr>3. 提案手法</vt:lpstr>
      <vt:lpstr>3. 提案手法</vt:lpstr>
      <vt:lpstr>3. 提案手法</vt:lpstr>
      <vt:lpstr>3. 提案手法</vt:lpstr>
      <vt:lpstr>3. 提案手法</vt:lpstr>
      <vt:lpstr>3. 提案手法</vt:lpstr>
      <vt:lpstr>3.提案手法</vt:lpstr>
      <vt:lpstr>行ったこと</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福島　幸弥</dc:creator>
  <cp:lastModifiedBy>福島　幸弥</cp:lastModifiedBy>
  <cp:revision>1</cp:revision>
  <dcterms:created xsi:type="dcterms:W3CDTF">2025-04-14T02:34:04Z</dcterms:created>
  <dcterms:modified xsi:type="dcterms:W3CDTF">2026-09-11T07:26:02Z</dcterms:modified>
</cp:coreProperties>
</file>